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EC20E35-A176-4012-BC5E-935CFFF8708E}" styleName="Style moyen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Style clair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Style léger 3 - Accentuation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44" autoAdjust="0"/>
    <p:restoredTop sz="86957" autoAdjust="0"/>
  </p:normalViewPr>
  <p:slideViewPr>
    <p:cSldViewPr snapToGrid="0">
      <p:cViewPr varScale="1">
        <p:scale>
          <a:sx n="99" d="100"/>
          <a:sy n="99" d="100"/>
        </p:scale>
        <p:origin x="104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88AB8-1C01-41DC-AFCA-28305AC61B27}" type="datetimeFigureOut">
              <a:rPr lang="fr-CA" smtClean="0"/>
              <a:t>2021-10-13</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9F1DE7-72A5-40DE-843D-98ED1D33E9CB}" type="slidenum">
              <a:rPr lang="fr-CA" smtClean="0"/>
              <a:t>‹N°›</a:t>
            </a:fld>
            <a:endParaRPr lang="fr-CA"/>
          </a:p>
        </p:txBody>
      </p:sp>
    </p:spTree>
    <p:extLst>
      <p:ext uri="{BB962C8B-B14F-4D97-AF65-F5344CB8AC3E}">
        <p14:creationId xmlns:p14="http://schemas.microsoft.com/office/powerpoint/2010/main" val="711788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B59F1DE7-72A5-40DE-843D-98ED1D33E9CB}" type="slidenum">
              <a:rPr lang="fr-CA" smtClean="0"/>
              <a:t>9</a:t>
            </a:fld>
            <a:endParaRPr lang="fr-CA"/>
          </a:p>
        </p:txBody>
      </p:sp>
    </p:spTree>
    <p:extLst>
      <p:ext uri="{BB962C8B-B14F-4D97-AF65-F5344CB8AC3E}">
        <p14:creationId xmlns:p14="http://schemas.microsoft.com/office/powerpoint/2010/main" val="12491274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DEBCAADC-90C4-42A0-92DD-A3EB1E3F99BC}" type="datetime1">
              <a:rPr lang="fr-CA" smtClean="0"/>
              <a:t>2021-10-13</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97135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2FE81BE-FF7C-4713-86B5-98B3635F7575}" type="datetime1">
              <a:rPr lang="fr-CA" smtClean="0"/>
              <a:t>2021-10-13</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425666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5307F1A6-A103-49CB-B28A-B5B8CE7CCF08}" type="datetime1">
              <a:rPr lang="fr-CA" smtClean="0"/>
              <a:t>2021-10-13</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818711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67FE57F-B680-462B-BBFD-7518F74AF714}" type="datetime1">
              <a:rPr lang="fr-CA" smtClean="0"/>
              <a:t>2021-10-13</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046219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91B3B4F-1CE8-448C-951A-2E287C7816DA}" type="datetime1">
              <a:rPr lang="fr-CA" smtClean="0"/>
              <a:t>2021-10-13</a:t>
            </a:fld>
            <a:endParaRPr lang="fr-CA"/>
          </a:p>
        </p:txBody>
      </p:sp>
      <p:sp>
        <p:nvSpPr>
          <p:cNvPr id="8" name="Footer Placeholder 7"/>
          <p:cNvSpPr>
            <a:spLocks noGrp="1"/>
          </p:cNvSpPr>
          <p:nvPr>
            <p:ph type="ftr" sz="quarter" idx="11"/>
          </p:nvPr>
        </p:nvSpPr>
        <p:spPr/>
        <p:txBody>
          <a:bodyPr/>
          <a:lstStyle/>
          <a:p>
            <a:endParaRPr lang="fr-CA"/>
          </a:p>
        </p:txBody>
      </p:sp>
      <p:sp>
        <p:nvSpPr>
          <p:cNvPr id="9" name="Slide Number Placeholder 8"/>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474818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1F763F50-9144-44F9-A37F-D55A19808CF4}" type="datetime1">
              <a:rPr lang="fr-CA" smtClean="0"/>
              <a:t>2021-10-13</a:t>
            </a:fld>
            <a:endParaRPr lang="fr-CA"/>
          </a:p>
        </p:txBody>
      </p:sp>
      <p:sp>
        <p:nvSpPr>
          <p:cNvPr id="4" name="Footer Placeholder 3"/>
          <p:cNvSpPr>
            <a:spLocks noGrp="1"/>
          </p:cNvSpPr>
          <p:nvPr>
            <p:ph type="ftr" sz="quarter" idx="11"/>
          </p:nvPr>
        </p:nvSpPr>
        <p:spPr/>
        <p:txBody>
          <a:bodyPr/>
          <a:lstStyle/>
          <a:p>
            <a:endParaRPr lang="fr-CA"/>
          </a:p>
        </p:txBody>
      </p:sp>
      <p:sp>
        <p:nvSpPr>
          <p:cNvPr id="5" name="Slide Number Placeholder 4"/>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937437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AB2447-19AC-45D2-83F5-5B12576F084D}" type="datetime1">
              <a:rPr lang="fr-CA" smtClean="0"/>
              <a:t>2021-10-13</a:t>
            </a:fld>
            <a:endParaRPr lang="fr-CA"/>
          </a:p>
        </p:txBody>
      </p:sp>
      <p:sp>
        <p:nvSpPr>
          <p:cNvPr id="3" name="Footer Placeholder 2"/>
          <p:cNvSpPr>
            <a:spLocks noGrp="1"/>
          </p:cNvSpPr>
          <p:nvPr>
            <p:ph type="ftr" sz="quarter" idx="11"/>
          </p:nvPr>
        </p:nvSpPr>
        <p:spPr/>
        <p:txBody>
          <a:bodyPr/>
          <a:lstStyle/>
          <a:p>
            <a:endParaRPr lang="fr-CA"/>
          </a:p>
        </p:txBody>
      </p:sp>
      <p:sp>
        <p:nvSpPr>
          <p:cNvPr id="4" name="Slide Number Placeholder 3"/>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0599487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B17A9AF-12D3-47FA-A0D6-97746BB8E776}" type="datetime1">
              <a:rPr lang="fr-CA" smtClean="0"/>
              <a:t>2021-10-13</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333165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CF19D18-3682-4189-B23C-B8B496B3307C}" type="datetime1">
              <a:rPr lang="fr-CA" smtClean="0"/>
              <a:t>2021-10-13</a:t>
            </a:fld>
            <a:endParaRPr lang="fr-CA"/>
          </a:p>
        </p:txBody>
      </p:sp>
      <p:sp>
        <p:nvSpPr>
          <p:cNvPr id="6" name="Footer Placeholder 5"/>
          <p:cNvSpPr>
            <a:spLocks noGrp="1"/>
          </p:cNvSpPr>
          <p:nvPr>
            <p:ph type="ftr" sz="quarter" idx="11"/>
          </p:nvPr>
        </p:nvSpPr>
        <p:spPr/>
        <p:txBody>
          <a:bodyPr/>
          <a:lstStyle/>
          <a:p>
            <a:endParaRPr lang="fr-CA"/>
          </a:p>
        </p:txBody>
      </p:sp>
      <p:sp>
        <p:nvSpPr>
          <p:cNvPr id="7" name="Slide Number Placeholder 6"/>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1309409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D6BEAFDA-2171-49C0-B449-3733417EA82F}" type="datetime1">
              <a:rPr lang="fr-CA" smtClean="0"/>
              <a:t>2021-10-13</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371225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9EBD924-29A3-4FF2-B149-61A5377F8882}" type="datetime1">
              <a:rPr lang="fr-CA" smtClean="0"/>
              <a:t>2021-10-13</a:t>
            </a:fld>
            <a:endParaRPr lang="fr-CA"/>
          </a:p>
        </p:txBody>
      </p:sp>
      <p:sp>
        <p:nvSpPr>
          <p:cNvPr id="5" name="Footer Placeholder 4"/>
          <p:cNvSpPr>
            <a:spLocks noGrp="1"/>
          </p:cNvSpPr>
          <p:nvPr>
            <p:ph type="ftr" sz="quarter" idx="11"/>
          </p:nvPr>
        </p:nvSpPr>
        <p:spPr/>
        <p:txBody>
          <a:bodyPr/>
          <a:lstStyle/>
          <a:p>
            <a:endParaRPr lang="fr-CA"/>
          </a:p>
        </p:txBody>
      </p:sp>
      <p:sp>
        <p:nvSpPr>
          <p:cNvPr id="6" name="Slide Number Placeholder 5"/>
          <p:cNvSpPr>
            <a:spLocks noGrp="1"/>
          </p:cNvSpPr>
          <p:nvPr>
            <p:ph type="sldNum" sz="quarter" idx="12"/>
          </p:nvPr>
        </p:nvSpPr>
        <p:spPr/>
        <p:txBody>
          <a:bodyPr/>
          <a:lstStyle/>
          <a:p>
            <a:fld id="{26377AD9-CE17-438C-A638-C64D2D42D7CF}" type="slidenum">
              <a:rPr lang="fr-CA" smtClean="0"/>
              <a:t>‹N°›</a:t>
            </a:fld>
            <a:endParaRPr lang="fr-CA"/>
          </a:p>
        </p:txBody>
      </p:sp>
    </p:spTree>
    <p:extLst>
      <p:ext uri="{BB962C8B-B14F-4D97-AF65-F5344CB8AC3E}">
        <p14:creationId xmlns:p14="http://schemas.microsoft.com/office/powerpoint/2010/main" val="24023872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418466-3607-4A57-8167-9FAB5784D41C}" type="datetime1">
              <a:rPr lang="fr-CA" smtClean="0"/>
              <a:t>2021-10-13</a:t>
            </a:fld>
            <a:endParaRPr lang="fr-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377AD9-CE17-438C-A638-C64D2D42D7CF}" type="slidenum">
              <a:rPr lang="fr-CA" smtClean="0"/>
              <a:t>‹N°›</a:t>
            </a:fld>
            <a:endParaRPr lang="fr-CA"/>
          </a:p>
        </p:txBody>
      </p:sp>
    </p:spTree>
    <p:extLst>
      <p:ext uri="{BB962C8B-B14F-4D97-AF65-F5344CB8AC3E}">
        <p14:creationId xmlns:p14="http://schemas.microsoft.com/office/powerpoint/2010/main" val="153374137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1574C06-F7FC-4ED9-8F7A-BB3B2768D274}"/>
              </a:ext>
            </a:extLst>
          </p:cNvPr>
          <p:cNvSpPr>
            <a:spLocks noGrp="1"/>
          </p:cNvSpPr>
          <p:nvPr>
            <p:ph type="title"/>
          </p:nvPr>
        </p:nvSpPr>
        <p:spPr/>
        <p:txBody>
          <a:bodyPr/>
          <a:lstStyle/>
          <a:p>
            <a:r>
              <a:rPr lang="fr-CA" dirty="0"/>
              <a:t>Méthodes d’estimation</a:t>
            </a:r>
          </a:p>
        </p:txBody>
      </p:sp>
      <p:sp>
        <p:nvSpPr>
          <p:cNvPr id="3" name="Espace réservé du pied de page 2">
            <a:extLst>
              <a:ext uri="{FF2B5EF4-FFF2-40B4-BE49-F238E27FC236}">
                <a16:creationId xmlns:a16="http://schemas.microsoft.com/office/drawing/2014/main" id="{028AFA01-AD38-45CA-9D2B-C1F5293230F3}"/>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2172ECA1-F18E-463C-B81D-A25EAC90460C}"/>
              </a:ext>
            </a:extLst>
          </p:cNvPr>
          <p:cNvSpPr>
            <a:spLocks noGrp="1"/>
          </p:cNvSpPr>
          <p:nvPr>
            <p:ph type="sldNum" sz="quarter" idx="12"/>
          </p:nvPr>
        </p:nvSpPr>
        <p:spPr/>
        <p:txBody>
          <a:bodyPr/>
          <a:lstStyle/>
          <a:p>
            <a:fld id="{26377AD9-CE17-438C-A638-C64D2D42D7CF}" type="slidenum">
              <a:rPr lang="fr-CA" smtClean="0"/>
              <a:t>1</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B7551822-D237-4630-8FE6-686AF41901C7}"/>
                  </a:ext>
                </a:extLst>
              </p:cNvPr>
              <p:cNvSpPr txBox="1"/>
              <p:nvPr/>
            </p:nvSpPr>
            <p:spPr>
              <a:xfrm>
                <a:off x="1210235" y="1690688"/>
                <a:ext cx="10143565" cy="2608791"/>
              </a:xfrm>
              <a:prstGeom prst="rect">
                <a:avLst/>
              </a:prstGeom>
              <a:noFill/>
            </p:spPr>
            <p:txBody>
              <a:bodyPr wrap="square" rtlCol="0">
                <a:spAutoFit/>
              </a:bodyPr>
              <a:lstStyle/>
              <a:p>
                <a:r>
                  <a:rPr lang="fr-CA" dirty="0"/>
                  <a:t>Soit X, une variable aléatoire et </a:t>
                </a:r>
                <a14:m>
                  <m:oMath xmlns:m="http://schemas.openxmlformats.org/officeDocument/2006/math">
                    <m:r>
                      <a:rPr lang="fr-CA" i="1" smtClean="0">
                        <a:latin typeface="Cambria Math" panose="02040503050406030204" pitchFamily="18" charset="0"/>
                        <a:ea typeface="Cambria Math" panose="02040503050406030204" pitchFamily="18" charset="0"/>
                      </a:rPr>
                      <m:t>𝜃</m:t>
                    </m:r>
                  </m:oMath>
                </a14:m>
                <a:r>
                  <a:rPr lang="fr-CA" dirty="0"/>
                  <a:t> un paramètre inconnu relatif à cette variable. Pour estimer ce paramètre, on prend un échantillon aléatoire de X de taille n (n valeurs de X indépendantes et identiquement distribuées (</a:t>
                </a:r>
                <a:r>
                  <a:rPr lang="fr-CA" dirty="0" err="1"/>
                  <a:t>i.i.d</a:t>
                </a:r>
                <a:r>
                  <a:rPr lang="fr-CA" dirty="0"/>
                  <a:t>)):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1</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2</m:t>
                        </m:r>
                      </m:sub>
                    </m:sSub>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𝑛</m:t>
                        </m:r>
                      </m:sub>
                    </m:sSub>
                  </m:oMath>
                </a14:m>
                <a:r>
                  <a:rPr lang="fr-CA" dirty="0"/>
                  <a:t> et on construit un estimateur de </a:t>
                </a:r>
                <a14:m>
                  <m:oMath xmlns:m="http://schemas.openxmlformats.org/officeDocument/2006/math">
                    <m:r>
                      <a:rPr lang="fr-CA" i="1">
                        <a:latin typeface="Cambria Math" panose="02040503050406030204" pitchFamily="18" charset="0"/>
                        <a:ea typeface="Cambria Math" panose="02040503050406030204" pitchFamily="18" charset="0"/>
                      </a:rPr>
                      <m:t>𝜃</m:t>
                    </m:r>
                  </m:oMath>
                </a14:m>
                <a:r>
                  <a:rPr lang="fr-CA" dirty="0"/>
                  <a:t>, qu’on va noter:</a:t>
                </a:r>
              </a:p>
              <a:p>
                <a:endParaRPr lang="fr-CA" dirty="0"/>
              </a:p>
              <a:p>
                <a14:m>
                  <m:oMath xmlns:m="http://schemas.openxmlformats.org/officeDocument/2006/math">
                    <m:acc>
                      <m:accPr>
                        <m:chr m:val="̂"/>
                        <m:ctrlPr>
                          <a:rPr lang="fr-CA" i="1" smtClean="0">
                            <a:latin typeface="Cambria Math" panose="02040503050406030204" pitchFamily="18" charset="0"/>
                          </a:rPr>
                        </m:ctrlPr>
                      </m:accPr>
                      <m:e>
                        <m:r>
                          <a:rPr lang="fr-CA" i="1">
                            <a:latin typeface="Cambria Math" panose="02040503050406030204" pitchFamily="18" charset="0"/>
                            <a:ea typeface="Cambria Math" panose="02040503050406030204" pitchFamily="18" charset="0"/>
                          </a:rPr>
                          <m:t>𝜃</m:t>
                        </m:r>
                      </m:e>
                    </m:acc>
                    <m:r>
                      <a:rPr lang="fr-CA" b="0" i="1" smtClean="0">
                        <a:latin typeface="Cambria Math" panose="02040503050406030204" pitchFamily="18" charset="0"/>
                      </a:rPr>
                      <m:t>=</m:t>
                    </m:r>
                    <m:r>
                      <a:rPr lang="fr-CA" b="0" i="1" smtClean="0">
                        <a:latin typeface="Cambria Math" panose="02040503050406030204" pitchFamily="18" charset="0"/>
                      </a:rPr>
                      <m:t>𝑓</m:t>
                    </m:r>
                    <m:r>
                      <a:rPr lang="fr-CA" b="0" i="1" smtClean="0">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𝑋</m:t>
                        </m:r>
                      </m:e>
                      <m:sub>
                        <m:r>
                          <a:rPr lang="fr-CA" i="1">
                            <a:latin typeface="Cambria Math" panose="02040503050406030204" pitchFamily="18" charset="0"/>
                          </a:rPr>
                          <m:t>1</m:t>
                        </m:r>
                      </m:sub>
                    </m:sSub>
                    <m:r>
                      <a:rPr lang="fr-CA" i="1">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𝑋</m:t>
                        </m:r>
                      </m:e>
                      <m:sub>
                        <m:r>
                          <a:rPr lang="fr-CA" i="1">
                            <a:latin typeface="Cambria Math" panose="02040503050406030204" pitchFamily="18" charset="0"/>
                          </a:rPr>
                          <m:t>2</m:t>
                        </m:r>
                      </m:sub>
                    </m:sSub>
                    <m:r>
                      <a:rPr lang="fr-CA" i="1">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𝑋</m:t>
                        </m:r>
                      </m:e>
                      <m:sub>
                        <m:r>
                          <a:rPr lang="fr-CA" i="1">
                            <a:latin typeface="Cambria Math" panose="02040503050406030204" pitchFamily="18" charset="0"/>
                          </a:rPr>
                          <m:t>𝑛</m:t>
                        </m:r>
                      </m:sub>
                    </m:sSub>
                  </m:oMath>
                </a14:m>
                <a:r>
                  <a:rPr lang="fr-CA" dirty="0"/>
                  <a:t> )= estimateur ponctuel de </a:t>
                </a:r>
                <a14:m>
                  <m:oMath xmlns:m="http://schemas.openxmlformats.org/officeDocument/2006/math">
                    <m:r>
                      <a:rPr lang="fr-CA" i="1">
                        <a:latin typeface="Cambria Math" panose="02040503050406030204" pitchFamily="18" charset="0"/>
                        <a:ea typeface="Cambria Math" panose="02040503050406030204" pitchFamily="18" charset="0"/>
                      </a:rPr>
                      <m:t>𝜃</m:t>
                    </m:r>
                  </m:oMath>
                </a14:m>
                <a:r>
                  <a:rPr lang="fr-CA" dirty="0"/>
                  <a:t>.</a:t>
                </a:r>
              </a:p>
              <a:p>
                <a:endParaRPr lang="fr-CA" dirty="0"/>
              </a:p>
              <a:p>
                <a:r>
                  <a:rPr lang="fr-CA" dirty="0"/>
                  <a:t>Cet estimateur doit être :</a:t>
                </a:r>
              </a:p>
              <a:p>
                <a:pPr marL="285750" indent="-285750">
                  <a:buFont typeface="Arial" panose="020B0604020202020204" pitchFamily="34" charset="0"/>
                  <a:buChar char="•"/>
                </a:pPr>
                <a:r>
                  <a:rPr lang="fr-CA" dirty="0"/>
                  <a:t>Sans biais, c’est-à-dire </a:t>
                </a:r>
                <a14:m>
                  <m:oMath xmlns:m="http://schemas.openxmlformats.org/officeDocument/2006/math">
                    <m:r>
                      <a:rPr lang="fr-CA" b="0" i="1" smtClean="0">
                        <a:latin typeface="Cambria Math" panose="02040503050406030204" pitchFamily="18" charset="0"/>
                      </a:rPr>
                      <m:t>𝐸</m:t>
                    </m:r>
                    <m:r>
                      <a:rPr lang="fr-CA" b="0" i="1" smtClean="0">
                        <a:latin typeface="Cambria Math" panose="02040503050406030204" pitchFamily="18" charset="0"/>
                      </a:rPr>
                      <m:t>(</m:t>
                    </m:r>
                    <m:acc>
                      <m:accPr>
                        <m:chr m:val="̂"/>
                        <m:ctrlPr>
                          <a:rPr lang="fr-CA" i="1">
                            <a:latin typeface="Cambria Math" panose="02040503050406030204" pitchFamily="18" charset="0"/>
                          </a:rPr>
                        </m:ctrlPr>
                      </m:accPr>
                      <m:e>
                        <m:r>
                          <a:rPr lang="fr-CA" i="1">
                            <a:latin typeface="Cambria Math" panose="02040503050406030204" pitchFamily="18" charset="0"/>
                            <a:ea typeface="Cambria Math" panose="02040503050406030204" pitchFamily="18" charset="0"/>
                          </a:rPr>
                          <m:t>𝜃</m:t>
                        </m:r>
                      </m:e>
                    </m:acc>
                  </m:oMath>
                </a14:m>
                <a:r>
                  <a:rPr lang="fr-CA" dirty="0"/>
                  <a:t>)=</a:t>
                </a:r>
                <a:r>
                  <a:rPr lang="fr-CA" dirty="0">
                    <a:ea typeface="Cambria Math" panose="02040503050406030204" pitchFamily="18" charset="0"/>
                  </a:rPr>
                  <a:t> </a:t>
                </a:r>
                <a14:m>
                  <m:oMath xmlns:m="http://schemas.openxmlformats.org/officeDocument/2006/math">
                    <m:r>
                      <a:rPr lang="fr-CA" i="1">
                        <a:latin typeface="Cambria Math" panose="02040503050406030204" pitchFamily="18" charset="0"/>
                        <a:ea typeface="Cambria Math" panose="02040503050406030204" pitchFamily="18" charset="0"/>
                      </a:rPr>
                      <m:t>𝜃</m:t>
                    </m:r>
                  </m:oMath>
                </a14:m>
                <a:r>
                  <a:rPr lang="fr-CA" dirty="0"/>
                  <a:t>.</a:t>
                </a:r>
              </a:p>
              <a:p>
                <a:pPr marL="285750" indent="-285750">
                  <a:buFont typeface="Arial" panose="020B0604020202020204" pitchFamily="34" charset="0"/>
                  <a:buChar char="•"/>
                </a:pPr>
                <a:r>
                  <a:rPr lang="fr-CA" dirty="0"/>
                  <a:t>Convergent c’est-à-dire que </a:t>
                </a:r>
                <a14:m>
                  <m:oMath xmlns:m="http://schemas.openxmlformats.org/officeDocument/2006/math">
                    <m:func>
                      <m:funcPr>
                        <m:ctrlPr>
                          <a:rPr lang="pt-BR" i="1" smtClean="0">
                            <a:latin typeface="Cambria Math" panose="02040503050406030204" pitchFamily="18" charset="0"/>
                          </a:rPr>
                        </m:ctrlPr>
                      </m:funcPr>
                      <m:fName>
                        <m:limLow>
                          <m:limLowPr>
                            <m:ctrlPr>
                              <a:rPr lang="pt-BR" i="1" smtClean="0">
                                <a:latin typeface="Cambria Math" panose="02040503050406030204" pitchFamily="18" charset="0"/>
                              </a:rPr>
                            </m:ctrlPr>
                          </m:limLowPr>
                          <m:e>
                            <m:r>
                              <m:rPr>
                                <m:sty m:val="p"/>
                              </m:rPr>
                              <a:rPr lang="pt-BR" i="0" smtClean="0">
                                <a:latin typeface="Cambria Math" panose="02040503050406030204" pitchFamily="18" charset="0"/>
                              </a:rPr>
                              <m:t>lim</m:t>
                            </m:r>
                          </m:e>
                          <m:lim>
                            <m:r>
                              <a:rPr lang="pt-BR" i="1" smtClean="0">
                                <a:latin typeface="Cambria Math" panose="02040503050406030204" pitchFamily="18" charset="0"/>
                              </a:rPr>
                              <m:t>𝑛</m:t>
                            </m:r>
                            <m:r>
                              <a:rPr lang="pt-BR" i="1" smtClean="0">
                                <a:latin typeface="Cambria Math" panose="02040503050406030204" pitchFamily="18" charset="0"/>
                              </a:rPr>
                              <m:t>→∞</m:t>
                            </m:r>
                          </m:lim>
                        </m:limLow>
                        <m:r>
                          <a:rPr lang="fr-CA" b="0" i="1" smtClean="0">
                            <a:latin typeface="Cambria Math" panose="02040503050406030204" pitchFamily="18" charset="0"/>
                          </a:rPr>
                          <m:t>𝑣𝑎𝑟</m:t>
                        </m:r>
                        <m:r>
                          <a:rPr lang="fr-CA" b="0" i="1" smtClean="0">
                            <a:latin typeface="Cambria Math" panose="02040503050406030204" pitchFamily="18" charset="0"/>
                          </a:rPr>
                          <m:t>(</m:t>
                        </m:r>
                      </m:fName>
                      <m:e>
                        <m:acc>
                          <m:accPr>
                            <m:chr m:val="̂"/>
                            <m:ctrlPr>
                              <a:rPr lang="fr-CA" i="1">
                                <a:latin typeface="Cambria Math" panose="02040503050406030204" pitchFamily="18" charset="0"/>
                              </a:rPr>
                            </m:ctrlPr>
                          </m:accPr>
                          <m:e>
                            <m:r>
                              <a:rPr lang="fr-CA" i="1">
                                <a:latin typeface="Cambria Math" panose="02040503050406030204" pitchFamily="18" charset="0"/>
                                <a:ea typeface="Cambria Math" panose="02040503050406030204" pitchFamily="18" charset="0"/>
                              </a:rPr>
                              <m:t>𝜃</m:t>
                            </m:r>
                            <m:r>
                              <a:rPr lang="fr-CA" b="0" i="1" smtClean="0">
                                <a:latin typeface="Cambria Math" panose="02040503050406030204" pitchFamily="18" charset="0"/>
                                <a:ea typeface="Cambria Math" panose="02040503050406030204" pitchFamily="18" charset="0"/>
                              </a:rPr>
                              <m:t>)</m:t>
                            </m:r>
                          </m:e>
                        </m:acc>
                        <m:r>
                          <a:rPr lang="fr-CA" i="1">
                            <a:latin typeface="Cambria Math" panose="02040503050406030204" pitchFamily="18" charset="0"/>
                          </a:rPr>
                          <m:t>=</m:t>
                        </m:r>
                        <m:r>
                          <a:rPr lang="fr-CA" b="0" i="1" smtClean="0">
                            <a:latin typeface="Cambria Math" panose="02040503050406030204" pitchFamily="18" charset="0"/>
                          </a:rPr>
                          <m:t>0</m:t>
                        </m:r>
                      </m:e>
                    </m:func>
                  </m:oMath>
                </a14:m>
                <a:endParaRPr lang="fr-CA" dirty="0"/>
              </a:p>
            </p:txBody>
          </p:sp>
        </mc:Choice>
        <mc:Fallback xmlns="">
          <p:sp>
            <p:nvSpPr>
              <p:cNvPr id="5" name="ZoneTexte 4">
                <a:extLst>
                  <a:ext uri="{FF2B5EF4-FFF2-40B4-BE49-F238E27FC236}">
                    <a16:creationId xmlns:a16="http://schemas.microsoft.com/office/drawing/2014/main" id="{B7551822-D237-4630-8FE6-686AF41901C7}"/>
                  </a:ext>
                </a:extLst>
              </p:cNvPr>
              <p:cNvSpPr txBox="1">
                <a:spLocks noRot="1" noChangeAspect="1" noMove="1" noResize="1" noEditPoints="1" noAdjustHandles="1" noChangeArrowheads="1" noChangeShapeType="1" noTextEdit="1"/>
              </p:cNvSpPr>
              <p:nvPr/>
            </p:nvSpPr>
            <p:spPr>
              <a:xfrm>
                <a:off x="1210235" y="1690688"/>
                <a:ext cx="10143565" cy="2608791"/>
              </a:xfrm>
              <a:prstGeom prst="rect">
                <a:avLst/>
              </a:prstGeom>
              <a:blipFill>
                <a:blip r:embed="rId2"/>
                <a:stretch>
                  <a:fillRect l="-541" t="-1168" r="-781" b="-3505"/>
                </a:stretch>
              </a:blipFill>
            </p:spPr>
            <p:txBody>
              <a:bodyPr/>
              <a:lstStyle/>
              <a:p>
                <a:r>
                  <a:rPr lang="fr-CA">
                    <a:noFill/>
                  </a:rPr>
                  <a:t> </a:t>
                </a:r>
              </a:p>
            </p:txBody>
          </p:sp>
        </mc:Fallback>
      </mc:AlternateContent>
    </p:spTree>
    <p:extLst>
      <p:ext uri="{BB962C8B-B14F-4D97-AF65-F5344CB8AC3E}">
        <p14:creationId xmlns:p14="http://schemas.microsoft.com/office/powerpoint/2010/main" val="25969479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E91D19E-CF2A-4654-919B-7D72B8985190}"/>
              </a:ext>
            </a:extLst>
          </p:cNvPr>
          <p:cNvSpPr>
            <a:spLocks noGrp="1"/>
          </p:cNvSpPr>
          <p:nvPr>
            <p:ph type="title"/>
          </p:nvPr>
        </p:nvSpPr>
        <p:spPr>
          <a:xfrm>
            <a:off x="869576" y="67468"/>
            <a:ext cx="10515600" cy="1325563"/>
          </a:xfrm>
        </p:spPr>
        <p:txBody>
          <a:bodyPr/>
          <a:lstStyle/>
          <a:p>
            <a:r>
              <a:rPr lang="fr-CA" b="1" dirty="0"/>
              <a:t>Exemples</a:t>
            </a:r>
          </a:p>
        </p:txBody>
      </p:sp>
      <p:sp>
        <p:nvSpPr>
          <p:cNvPr id="3" name="Espace réservé du pied de page 2">
            <a:extLst>
              <a:ext uri="{FF2B5EF4-FFF2-40B4-BE49-F238E27FC236}">
                <a16:creationId xmlns:a16="http://schemas.microsoft.com/office/drawing/2014/main" id="{99260514-F105-402A-8D72-8F6C68F3038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DAB8BC0E-B2EA-432A-9881-6BEC4B79A045}"/>
              </a:ext>
            </a:extLst>
          </p:cNvPr>
          <p:cNvSpPr>
            <a:spLocks noGrp="1"/>
          </p:cNvSpPr>
          <p:nvPr>
            <p:ph type="sldNum" sz="quarter" idx="12"/>
          </p:nvPr>
        </p:nvSpPr>
        <p:spPr/>
        <p:txBody>
          <a:bodyPr/>
          <a:lstStyle/>
          <a:p>
            <a:fld id="{26377AD9-CE17-438C-A638-C64D2D42D7CF}" type="slidenum">
              <a:rPr lang="fr-CA" smtClean="0"/>
              <a:t>2</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C86770AB-D0F3-4130-A0BF-D24B94A4BA98}"/>
                  </a:ext>
                </a:extLst>
              </p:cNvPr>
              <p:cNvSpPr txBox="1"/>
              <p:nvPr/>
            </p:nvSpPr>
            <p:spPr>
              <a:xfrm>
                <a:off x="1021976" y="1169894"/>
                <a:ext cx="10331824" cy="5379165"/>
              </a:xfrm>
              <a:prstGeom prst="rect">
                <a:avLst/>
              </a:prstGeom>
              <a:noFill/>
            </p:spPr>
            <p:txBody>
              <a:bodyPr wrap="square" rtlCol="0">
                <a:spAutoFit/>
              </a:bodyPr>
              <a:lstStyle/>
              <a:p>
                <a:pPr marL="342900" indent="-342900">
                  <a:buFont typeface="+mj-lt"/>
                  <a:buAutoNum type="arabicPeriod"/>
                </a:pPr>
                <a:r>
                  <a:rPr lang="fr-CA" dirty="0"/>
                  <a:t>Si X est une variable de moyenne </a:t>
                </a:r>
                <a14:m>
                  <m:oMath xmlns:m="http://schemas.openxmlformats.org/officeDocument/2006/math">
                    <m:sSub>
                      <m:sSubPr>
                        <m:ctrlPr>
                          <a:rPr lang="fr-CA" i="1" smtClean="0">
                            <a:latin typeface="Cambria Math" panose="02040503050406030204" pitchFamily="18" charset="0"/>
                          </a:rPr>
                        </m:ctrlPr>
                      </m:sSubPr>
                      <m:e>
                        <m:r>
                          <a:rPr lang="fr-CA"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𝑑</m:t>
                        </m:r>
                      </m:e>
                      <m:sup>
                        <m:r>
                          <a:rPr lang="fr-CA" b="0" i="1" smtClean="0">
                            <a:latin typeface="Cambria Math" panose="02040503050406030204" pitchFamily="18" charset="0"/>
                          </a:rPr>
                          <m:t>′</m:t>
                        </m:r>
                      </m:sup>
                    </m:sSup>
                    <m:r>
                      <a:rPr lang="fr-CA" b="0" i="1" smtClean="0">
                        <a:latin typeface="Cambria Math" panose="02040503050406030204" pitchFamily="18" charset="0"/>
                      </a:rPr>
                      <m:t>é</m:t>
                    </m:r>
                    <m:r>
                      <a:rPr lang="fr-CA" b="0" i="1" smtClean="0">
                        <a:latin typeface="Cambria Math" panose="02040503050406030204" pitchFamily="18" charset="0"/>
                      </a:rPr>
                      <m:t>𝑐𝑎𝑟𝑡</m:t>
                    </m:r>
                    <m:r>
                      <a:rPr lang="fr-CA" b="0" i="1" smtClean="0">
                        <a:latin typeface="Cambria Math" panose="02040503050406030204" pitchFamily="18" charset="0"/>
                      </a:rPr>
                      <m:t> </m:t>
                    </m:r>
                    <m:r>
                      <a:rPr lang="fr-CA" b="0" i="1" smtClean="0">
                        <a:latin typeface="Cambria Math" panose="02040503050406030204" pitchFamily="18" charset="0"/>
                      </a:rPr>
                      <m:t>𝑡𝑦𝑝𝑒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Sub>
                  </m:oMath>
                </a14:m>
                <a:r>
                  <a:rPr lang="fr-CA" dirty="0"/>
                  <a:t> on sait que:</a:t>
                </a:r>
              </a:p>
              <a:p>
                <a:r>
                  <a:rPr lang="fr-CA" dirty="0"/>
                  <a:t>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𝑛</m:t>
                        </m:r>
                      </m:den>
                    </m:f>
                    <m:nary>
                      <m:naryPr>
                        <m:chr m:val="∑"/>
                        <m:ctrlPr>
                          <a:rPr lang="fr-CA" b="0" i="1" smtClean="0">
                            <a:latin typeface="Cambria Math" panose="02040503050406030204" pitchFamily="18" charset="0"/>
                          </a:rPr>
                        </m:ctrlPr>
                      </m:naryPr>
                      <m:sub>
                        <m:r>
                          <m:rPr>
                            <m:brk m:alnAt="23"/>
                          </m:rPr>
                          <a:rPr lang="fr-CA" b="0" i="1" smtClean="0">
                            <a:latin typeface="Cambria Math" panose="02040503050406030204" pitchFamily="18" charset="0"/>
                          </a:rPr>
                          <m:t>𝑖</m:t>
                        </m:r>
                        <m:r>
                          <a:rPr lang="fr-CA" b="0" i="1" smtClean="0">
                            <a:latin typeface="Cambria Math" panose="02040503050406030204" pitchFamily="18" charset="0"/>
                          </a:rPr>
                          <m:t>=1</m:t>
                        </m:r>
                      </m:sub>
                      <m:sup>
                        <m:r>
                          <a:rPr lang="fr-CA" b="0" i="1" smtClean="0">
                            <a:latin typeface="Cambria Math" panose="02040503050406030204" pitchFamily="18" charset="0"/>
                          </a:rPr>
                          <m:t>𝑛</m:t>
                        </m:r>
                      </m:sup>
                      <m:e>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𝑖</m:t>
                            </m:r>
                          </m:sub>
                        </m:sSub>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b="0" i="1" smtClean="0">
                                <a:latin typeface="Cambria Math" panose="02040503050406030204" pitchFamily="18" charset="0"/>
                              </a:rPr>
                              <m:t> </m:t>
                            </m:r>
                          </m:e>
                        </m:acc>
                        <m:r>
                          <a:rPr lang="fr-CA" b="0" i="1" smtClean="0">
                            <a:latin typeface="Cambria Math" panose="02040503050406030204" pitchFamily="18" charset="0"/>
                          </a:rPr>
                          <m:t>   </m:t>
                        </m:r>
                        <m:r>
                          <a:rPr lang="fr-CA" b="0" i="1" smtClean="0">
                            <a:latin typeface="Cambria Math" panose="02040503050406030204" pitchFamily="18" charset="0"/>
                          </a:rPr>
                          <m:t>𝑒𝑠𝑡</m:t>
                        </m:r>
                        <m:r>
                          <a:rPr lang="fr-CA" b="0" i="1" smtClean="0">
                            <a:latin typeface="Cambria Math" panose="02040503050406030204" pitchFamily="18" charset="0"/>
                          </a:rPr>
                          <m:t> </m:t>
                        </m:r>
                        <m:r>
                          <a:rPr lang="fr-CA" b="0" i="1" smtClean="0">
                            <a:latin typeface="Cambria Math" panose="02040503050406030204" pitchFamily="18" charset="0"/>
                          </a:rPr>
                          <m:t>𝑢𝑛</m:t>
                        </m:r>
                        <m:r>
                          <a:rPr lang="fr-CA" b="0" i="1" smtClean="0">
                            <a:latin typeface="Cambria Math" panose="02040503050406030204" pitchFamily="18" charset="0"/>
                          </a:rPr>
                          <m:t> </m:t>
                        </m:r>
                        <m:r>
                          <a:rPr lang="fr-CA" b="0" i="1" smtClean="0">
                            <a:latin typeface="Cambria Math" panose="02040503050406030204" pitchFamily="18" charset="0"/>
                          </a:rPr>
                          <m:t>𝑒𝑠𝑡𝑖𝑚𝑎𝑡𝑒𝑢𝑟</m:t>
                        </m:r>
                        <m:r>
                          <a:rPr lang="fr-CA" b="0" i="1" smtClean="0">
                            <a:latin typeface="Cambria Math" panose="02040503050406030204" pitchFamily="18" charset="0"/>
                          </a:rPr>
                          <m:t> </m:t>
                        </m:r>
                        <m:r>
                          <a:rPr lang="fr-CA" b="0" i="1" smtClean="0">
                            <a:latin typeface="Cambria Math" panose="02040503050406030204" pitchFamily="18" charset="0"/>
                          </a:rPr>
                          <m:t>𝑑𝑒</m:t>
                        </m:r>
                        <m:r>
                          <a:rPr lang="fr-CA" b="0" i="1" smtClean="0">
                            <a:latin typeface="Cambria Math" panose="02040503050406030204" pitchFamily="18" charset="0"/>
                          </a:rPr>
                          <m:t> </m:t>
                        </m:r>
                      </m:e>
                    </m:nary>
                  </m:oMath>
                </a14:m>
                <a:r>
                  <a:rPr lang="fr-CA" dirty="0"/>
                  <a:t> </a:t>
                </a:r>
                <a14:m>
                  <m:oMath xmlns:m="http://schemas.openxmlformats.org/officeDocument/2006/math">
                    <m:sSub>
                      <m:sSubPr>
                        <m:ctrlPr>
                          <a:rPr lang="fr-CA" i="1">
                            <a:latin typeface="Cambria Math" panose="02040503050406030204" pitchFamily="18" charset="0"/>
                          </a:rPr>
                        </m:ctrlPr>
                      </m:sSubPr>
                      <m:e>
                        <m:r>
                          <a:rPr lang="fr-CA" i="1">
                            <a:latin typeface="Cambria Math" panose="02040503050406030204" pitchFamily="18" charset="0"/>
                            <a:ea typeface="Cambria Math" panose="02040503050406030204" pitchFamily="18" charset="0"/>
                          </a:rPr>
                          <m:t>𝜇</m:t>
                        </m:r>
                      </m:e>
                      <m:sub>
                        <m:r>
                          <a:rPr lang="fr-CA" i="1">
                            <a:latin typeface="Cambria Math" panose="02040503050406030204" pitchFamily="18" charset="0"/>
                          </a:rPr>
                          <m:t>𝑋</m:t>
                        </m:r>
                      </m:sub>
                    </m:sSub>
                  </m:oMath>
                </a14:m>
                <a:r>
                  <a:rPr lang="fr-CA" dirty="0"/>
                  <a:t> tel que:</a:t>
                </a:r>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𝐸</m:t>
                    </m:r>
                    <m:d>
                      <m:dPr>
                        <m:ctrlPr>
                          <a:rPr lang="fr-CA" b="0" i="1" smtClean="0">
                            <a:latin typeface="Cambria Math" panose="02040503050406030204" pitchFamily="18" charset="0"/>
                          </a:rPr>
                        </m:ctrlPr>
                      </m:dPr>
                      <m:e>
                        <m:acc>
                          <m:accPr>
                            <m:chr m:val="̅"/>
                            <m:ctrlPr>
                              <a:rPr lang="fr-CA" i="1">
                                <a:latin typeface="Cambria Math" panose="02040503050406030204" pitchFamily="18" charset="0"/>
                              </a:rPr>
                            </m:ctrlPr>
                          </m:accPr>
                          <m:e>
                            <m:r>
                              <a:rPr lang="fr-CA" i="1">
                                <a:latin typeface="Cambria Math" panose="02040503050406030204" pitchFamily="18" charset="0"/>
                              </a:rPr>
                              <m:t>𝑋</m:t>
                            </m:r>
                          </m:e>
                        </m:acc>
                      </m:e>
                    </m:d>
                    <m:r>
                      <a:rPr lang="fr-CA" b="0" i="0" smtClean="0">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ea typeface="Cambria Math" panose="02040503050406030204" pitchFamily="18" charset="0"/>
                          </a:rPr>
                          <m:t>𝜇</m:t>
                        </m:r>
                      </m:e>
                      <m:sub>
                        <m:r>
                          <a:rPr lang="fr-CA" i="1">
                            <a:latin typeface="Cambria Math" panose="02040503050406030204" pitchFamily="18" charset="0"/>
                          </a:rPr>
                          <m:t>𝑋</m:t>
                        </m:r>
                      </m:sub>
                    </m:sSub>
                  </m:oMath>
                </a14:m>
                <a:r>
                  <a:rPr lang="fr-CA" dirty="0"/>
                  <a:t> (donc sans biais (non biaisé)</a:t>
                </a:r>
              </a:p>
              <a:p>
                <a:pPr marL="285750" indent="-285750">
                  <a:buFont typeface="Arial" panose="020B0604020202020204" pitchFamily="34" charset="0"/>
                  <a:buChar char="•"/>
                </a:pPr>
                <a:r>
                  <a:rPr lang="fr-CA" dirty="0"/>
                  <a:t>Et que  </a:t>
                </a:r>
                <a14:m>
                  <m:oMath xmlns:m="http://schemas.openxmlformats.org/officeDocument/2006/math">
                    <m:r>
                      <a:rPr lang="fr-CA" b="0" i="1" smtClean="0">
                        <a:latin typeface="Cambria Math" panose="02040503050406030204" pitchFamily="18" charset="0"/>
                      </a:rPr>
                      <m:t>𝑣𝑎𝑟</m:t>
                    </m:r>
                    <m:d>
                      <m:dPr>
                        <m:ctrlPr>
                          <a:rPr lang="fr-CA" b="0" i="1" smtClean="0">
                            <a:latin typeface="Cambria Math" panose="02040503050406030204" pitchFamily="18" charset="0"/>
                          </a:rPr>
                        </m:ctrlPr>
                      </m:dPr>
                      <m:e>
                        <m:acc>
                          <m:accPr>
                            <m:chr m:val="̅"/>
                            <m:ctrlPr>
                              <a:rPr lang="fr-CA" i="1">
                                <a:latin typeface="Cambria Math" panose="02040503050406030204" pitchFamily="18" charset="0"/>
                              </a:rPr>
                            </m:ctrlPr>
                          </m:accPr>
                          <m:e>
                            <m:r>
                              <a:rPr lang="fr-CA" i="1">
                                <a:latin typeface="Cambria Math" panose="02040503050406030204" pitchFamily="18" charset="0"/>
                              </a:rPr>
                              <m:t>𝑋</m:t>
                            </m:r>
                          </m:e>
                        </m:acc>
                      </m:e>
                    </m:d>
                    <m:r>
                      <a:rPr lang="fr-CA" b="0" i="1" smtClean="0">
                        <a:latin typeface="Cambria Math" panose="02040503050406030204" pitchFamily="18" charset="0"/>
                      </a:rPr>
                      <m:t>=</m:t>
                    </m:r>
                    <m:f>
                      <m:fPr>
                        <m:ctrlPr>
                          <a:rPr lang="fr-CA" b="0" i="1" smtClean="0">
                            <a:latin typeface="Cambria Math" panose="02040503050406030204" pitchFamily="18" charset="0"/>
                          </a:rPr>
                        </m:ctrlPr>
                      </m:fPr>
                      <m:num>
                        <m:sSubSup>
                          <m:sSubSupPr>
                            <m:ctrlPr>
                              <a:rPr lang="fr-CA" b="0" i="1" smtClean="0">
                                <a:latin typeface="Cambria Math" panose="02040503050406030204" pitchFamily="18" charset="0"/>
                              </a:rPr>
                            </m:ctrlPr>
                          </m:sSubSup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up>
                            <m:r>
                              <a:rPr lang="fr-CA" b="0" i="1" smtClean="0">
                                <a:latin typeface="Cambria Math" panose="02040503050406030204" pitchFamily="18" charset="0"/>
                              </a:rPr>
                              <m:t>2</m:t>
                            </m:r>
                          </m:sup>
                        </m:sSubSup>
                      </m:num>
                      <m:den>
                        <m:r>
                          <a:rPr lang="fr-CA" b="0" i="1" smtClean="0">
                            <a:latin typeface="Cambria Math" panose="02040503050406030204" pitchFamily="18" charset="0"/>
                          </a:rPr>
                          <m:t>𝑛</m:t>
                        </m:r>
                      </m:den>
                    </m:f>
                    <m:r>
                      <a:rPr lang="fr-CA" b="0" i="1" smtClean="0">
                        <a:latin typeface="Cambria Math" panose="02040503050406030204" pitchFamily="18" charset="0"/>
                        <a:ea typeface="Cambria Math" panose="02040503050406030204" pitchFamily="18" charset="0"/>
                      </a:rPr>
                      <m:t>→0    </m:t>
                    </m:r>
                    <m:r>
                      <a:rPr lang="fr-CA" b="0" i="1" smtClean="0">
                        <a:latin typeface="Cambria Math" panose="02040503050406030204" pitchFamily="18" charset="0"/>
                        <a:ea typeface="Cambria Math" panose="02040503050406030204" pitchFamily="18" charset="0"/>
                      </a:rPr>
                      <m:t>𝑙𝑜𝑟𝑠𝑞𝑢𝑒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m:t>
                    </m:r>
                  </m:oMath>
                </a14:m>
                <a:r>
                  <a:rPr lang="fr-CA" dirty="0"/>
                  <a:t>  donc convergent.</a:t>
                </a:r>
              </a:p>
              <a:p>
                <a:pPr marL="285750" indent="-285750">
                  <a:buFont typeface="Arial" panose="020B0604020202020204" pitchFamily="34" charset="0"/>
                  <a:buChar char="•"/>
                </a:pPr>
                <a:endParaRPr lang="fr-CA" dirty="0"/>
              </a:p>
              <a:p>
                <a:r>
                  <a:rPr lang="fr-CA" dirty="0"/>
                  <a:t>2. Lorsqu’on s’intéresse à une proportion p  inconnue dans une population qui ont un certain caractère. On prend n individus au hasard dans cette population et on utilise la variable, X: le nombre d’individus dans cet échantillon qui ont ce caractère. On sait alors que la variable X va suivre une loi binomiale de paramètres </a:t>
                </a:r>
                <a14:m>
                  <m:oMath xmlns:m="http://schemas.openxmlformats.org/officeDocument/2006/math">
                    <m:r>
                      <a:rPr lang="fr-CA" b="0" i="1" smtClean="0">
                        <a:latin typeface="Cambria Math" panose="02040503050406030204" pitchFamily="18" charset="0"/>
                      </a:rPr>
                      <m:t>𝑛</m:t>
                    </m:r>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𝑝</m:t>
                    </m:r>
                    <m:r>
                      <a:rPr lang="fr-CA" b="0" i="1" smtClean="0">
                        <a:latin typeface="Cambria Math" panose="02040503050406030204" pitchFamily="18" charset="0"/>
                      </a:rPr>
                      <m:t>.</m:t>
                    </m:r>
                  </m:oMath>
                </a14:m>
                <a:endParaRPr lang="fr-CA" dirty="0"/>
              </a:p>
              <a:p>
                <a:r>
                  <a:rPr lang="fr-CA" dirty="0"/>
                  <a:t>Si on pose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𝑝</m:t>
                        </m:r>
                      </m:e>
                    </m:acc>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𝑋</m:t>
                        </m:r>
                      </m:num>
                      <m:den>
                        <m:r>
                          <a:rPr lang="fr-CA" b="0" i="1" smtClean="0">
                            <a:latin typeface="Cambria Math" panose="02040503050406030204" pitchFamily="18" charset="0"/>
                          </a:rPr>
                          <m:t>𝑛</m:t>
                        </m:r>
                      </m:den>
                    </m:f>
                    <m:r>
                      <a:rPr lang="fr-CA" b="0" i="1" smtClean="0">
                        <a:latin typeface="Cambria Math" panose="02040503050406030204" pitchFamily="18" charset="0"/>
                      </a:rPr>
                      <m:t>=</m:t>
                    </m:r>
                    <m:r>
                      <a:rPr lang="fr-CA" b="0" i="1" smtClean="0">
                        <a:latin typeface="Cambria Math" panose="02040503050406030204" pitchFamily="18" charset="0"/>
                      </a:rPr>
                      <m:t>𝑙𝑎</m:t>
                    </m:r>
                    <m:r>
                      <a:rPr lang="fr-CA" b="0" i="1" smtClean="0">
                        <a:latin typeface="Cambria Math" panose="02040503050406030204" pitchFamily="18" charset="0"/>
                      </a:rPr>
                      <m:t> </m:t>
                    </m:r>
                    <m:r>
                      <a:rPr lang="fr-CA" b="0" i="1" smtClean="0">
                        <a:latin typeface="Cambria Math" panose="02040503050406030204" pitchFamily="18" charset="0"/>
                      </a:rPr>
                      <m:t>𝑝𝑟𝑜𝑝𝑜𝑟𝑡𝑖𝑜𝑛</m:t>
                    </m:r>
                    <m:r>
                      <a:rPr lang="fr-CA" b="0" i="1" smtClean="0">
                        <a:latin typeface="Cambria Math" panose="02040503050406030204" pitchFamily="18" charset="0"/>
                      </a:rPr>
                      <m:t> </m:t>
                    </m:r>
                    <m:r>
                      <a:rPr lang="fr-CA" b="0" i="1" smtClean="0">
                        <a:latin typeface="Cambria Math" panose="02040503050406030204" pitchFamily="18" charset="0"/>
                      </a:rPr>
                      <m:t>𝑑𝑒</m:t>
                    </m:r>
                    <m:r>
                      <a:rPr lang="fr-CA" b="0" i="1" smtClean="0">
                        <a:latin typeface="Cambria Math" panose="02040503050406030204" pitchFamily="18" charset="0"/>
                      </a:rPr>
                      <m:t> </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𝑙</m:t>
                        </m:r>
                      </m:e>
                      <m:sup>
                        <m:r>
                          <a:rPr lang="fr-CA" b="0" i="1" smtClean="0">
                            <a:latin typeface="Cambria Math" panose="02040503050406030204" pitchFamily="18" charset="0"/>
                          </a:rPr>
                          <m:t>′</m:t>
                        </m:r>
                      </m:sup>
                    </m:sSup>
                    <m:r>
                      <a:rPr lang="fr-CA" b="0" i="1" smtClean="0">
                        <a:latin typeface="Cambria Math" panose="02040503050406030204" pitchFamily="18" charset="0"/>
                      </a:rPr>
                      <m:t>é</m:t>
                    </m:r>
                    <m:r>
                      <a:rPr lang="fr-CA" b="0" i="1" smtClean="0">
                        <a:latin typeface="Cambria Math" panose="02040503050406030204" pitchFamily="18" charset="0"/>
                      </a:rPr>
                      <m:t>𝑐h𝑎𝑛𝑡𝑖𝑙𝑙𝑜𝑛</m:t>
                    </m:r>
                    <m:r>
                      <a:rPr lang="fr-CA" b="0" i="1" smtClean="0">
                        <a:latin typeface="Cambria Math" panose="02040503050406030204" pitchFamily="18" charset="0"/>
                      </a:rPr>
                      <m:t> </m:t>
                    </m:r>
                    <m:r>
                      <a:rPr lang="fr-CA" b="0" i="1" smtClean="0">
                        <a:latin typeface="Cambria Math" panose="02040503050406030204" pitchFamily="18" charset="0"/>
                      </a:rPr>
                      <m:t>𝑞𝑢𝑖</m:t>
                    </m:r>
                    <m:r>
                      <a:rPr lang="fr-CA" b="0" i="1" smtClean="0">
                        <a:latin typeface="Cambria Math" panose="02040503050406030204" pitchFamily="18" charset="0"/>
                      </a:rPr>
                      <m:t> </m:t>
                    </m:r>
                    <m:r>
                      <a:rPr lang="fr-CA" b="0" i="1" smtClean="0">
                        <a:latin typeface="Cambria Math" panose="02040503050406030204" pitchFamily="18" charset="0"/>
                      </a:rPr>
                      <m:t>𝑜𝑛𝑡</m:t>
                    </m:r>
                    <m:r>
                      <a:rPr lang="fr-CA" b="0" i="1" smtClean="0">
                        <a:latin typeface="Cambria Math" panose="02040503050406030204" pitchFamily="18" charset="0"/>
                      </a:rPr>
                      <m:t> </m:t>
                    </m:r>
                    <m:r>
                      <a:rPr lang="fr-CA" b="0" i="1" smtClean="0">
                        <a:latin typeface="Cambria Math" panose="02040503050406030204" pitchFamily="18" charset="0"/>
                      </a:rPr>
                      <m:t>𝑐𝑒</m:t>
                    </m:r>
                    <m:r>
                      <a:rPr lang="fr-CA" b="0" i="1" smtClean="0">
                        <a:latin typeface="Cambria Math" panose="02040503050406030204" pitchFamily="18" charset="0"/>
                      </a:rPr>
                      <m:t> </m:t>
                    </m:r>
                    <m:r>
                      <a:rPr lang="fr-CA" b="0" i="1" smtClean="0">
                        <a:latin typeface="Cambria Math" panose="02040503050406030204" pitchFamily="18" charset="0"/>
                      </a:rPr>
                      <m:t>𝑐𝑎𝑟𝑎𝑐𝑡</m:t>
                    </m:r>
                    <m:r>
                      <a:rPr lang="fr-CA" b="0" i="1" smtClean="0">
                        <a:latin typeface="Cambria Math" panose="02040503050406030204" pitchFamily="18" charset="0"/>
                      </a:rPr>
                      <m:t>è</m:t>
                    </m:r>
                    <m:r>
                      <a:rPr lang="fr-CA" b="0" i="1" smtClean="0">
                        <a:latin typeface="Cambria Math" panose="02040503050406030204" pitchFamily="18" charset="0"/>
                      </a:rPr>
                      <m:t>𝑟𝑒</m:t>
                    </m:r>
                    <m:r>
                      <a:rPr lang="fr-CA" b="0" i="1" smtClean="0">
                        <a:latin typeface="Cambria Math" panose="02040503050406030204" pitchFamily="18" charset="0"/>
                      </a:rPr>
                      <m:t>. </m:t>
                    </m:r>
                    <m:r>
                      <a:rPr lang="fr-CA" b="0" i="1" smtClean="0">
                        <a:latin typeface="Cambria Math" panose="02040503050406030204" pitchFamily="18" charset="0"/>
                      </a:rPr>
                      <m:t>𝐴𝑙𝑜𝑟𝑠</m:t>
                    </m:r>
                    <m:r>
                      <a:rPr lang="fr-CA" b="0" i="1" smtClean="0">
                        <a:latin typeface="Cambria Math" panose="02040503050406030204" pitchFamily="18" charset="0"/>
                      </a:rPr>
                      <m:t> </m:t>
                    </m:r>
                    <m:r>
                      <a:rPr lang="fr-CA" b="0" i="1" smtClean="0">
                        <a:latin typeface="Cambria Math" panose="02040503050406030204" pitchFamily="18" charset="0"/>
                      </a:rPr>
                      <m:t>𝑒𝑙𝑙𝑒</m:t>
                    </m:r>
                    <m:r>
                      <a:rPr lang="fr-CA" b="0" i="1" smtClean="0">
                        <a:latin typeface="Cambria Math" panose="02040503050406030204" pitchFamily="18" charset="0"/>
                      </a:rPr>
                      <m:t> </m:t>
                    </m:r>
                    <m:r>
                      <a:rPr lang="fr-CA" b="0" i="1" smtClean="0">
                        <a:latin typeface="Cambria Math" panose="02040503050406030204" pitchFamily="18" charset="0"/>
                      </a:rPr>
                      <m:t>𝑣</m:t>
                    </m:r>
                    <m:r>
                      <a:rPr lang="fr-CA" b="0" i="1" smtClean="0">
                        <a:latin typeface="Cambria Math" panose="02040503050406030204" pitchFamily="18" charset="0"/>
                      </a:rPr>
                      <m:t>é</m:t>
                    </m:r>
                    <m:r>
                      <a:rPr lang="fr-CA" b="0" i="1" smtClean="0">
                        <a:latin typeface="Cambria Math" panose="02040503050406030204" pitchFamily="18" charset="0"/>
                      </a:rPr>
                      <m:t>𝑟𝑖𝑓𝑖𝑒</m:t>
                    </m:r>
                    <m:r>
                      <a:rPr lang="fr-CA" b="0" i="1" smtClean="0">
                        <a:latin typeface="Cambria Math" panose="02040503050406030204" pitchFamily="18" charset="0"/>
                      </a:rPr>
                      <m:t>:</m:t>
                    </m:r>
                  </m:oMath>
                </a14:m>
                <a:endParaRPr lang="fr-CA" b="0" dirty="0"/>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𝐸</m:t>
                    </m:r>
                    <m:d>
                      <m:dPr>
                        <m:ctrlPr>
                          <a:rPr lang="fr-CA" b="0" i="1" smtClean="0">
                            <a:latin typeface="Cambria Math" panose="02040503050406030204" pitchFamily="18" charset="0"/>
                          </a:rPr>
                        </m:ctrlPr>
                      </m:dPr>
                      <m:e>
                        <m:acc>
                          <m:accPr>
                            <m:chr m:val="̂"/>
                            <m:ctrlPr>
                              <a:rPr lang="fr-CA" i="1">
                                <a:latin typeface="Cambria Math" panose="02040503050406030204" pitchFamily="18" charset="0"/>
                              </a:rPr>
                            </m:ctrlPr>
                          </m:accPr>
                          <m:e>
                            <m:r>
                              <a:rPr lang="fr-CA" i="1">
                                <a:latin typeface="Cambria Math" panose="02040503050406030204" pitchFamily="18" charset="0"/>
                              </a:rPr>
                              <m:t>𝑝</m:t>
                            </m:r>
                          </m:e>
                        </m:acc>
                      </m:e>
                    </m:d>
                    <m:r>
                      <a:rPr lang="fr-CA" b="0" i="0" smtClean="0">
                        <a:latin typeface="Cambria Math" panose="02040503050406030204" pitchFamily="18" charset="0"/>
                      </a:rPr>
                      <m:t>=</m:t>
                    </m:r>
                    <m:r>
                      <m:rPr>
                        <m:sty m:val="p"/>
                      </m:rPr>
                      <a:rPr lang="fr-CA" b="0" i="0" smtClean="0">
                        <a:latin typeface="Cambria Math" panose="02040503050406030204" pitchFamily="18" charset="0"/>
                      </a:rPr>
                      <m:t>E</m:t>
                    </m:r>
                    <m:d>
                      <m:dPr>
                        <m:ctrlPr>
                          <a:rPr lang="fr-CA" b="0" i="1" smtClean="0">
                            <a:latin typeface="Cambria Math" panose="02040503050406030204" pitchFamily="18" charset="0"/>
                          </a:rPr>
                        </m:ctrlPr>
                      </m:dPr>
                      <m:e>
                        <m:f>
                          <m:fPr>
                            <m:ctrlPr>
                              <a:rPr lang="fr-CA" b="0" i="1" smtClean="0">
                                <a:latin typeface="Cambria Math" panose="02040503050406030204" pitchFamily="18" charset="0"/>
                              </a:rPr>
                            </m:ctrlPr>
                          </m:fPr>
                          <m:num>
                            <m:r>
                              <a:rPr lang="fr-CA" b="0" i="1" smtClean="0">
                                <a:latin typeface="Cambria Math" panose="02040503050406030204" pitchFamily="18" charset="0"/>
                              </a:rPr>
                              <m:t>𝑋</m:t>
                            </m:r>
                          </m:num>
                          <m:den>
                            <m:r>
                              <a:rPr lang="fr-CA" b="0" i="1" smtClean="0">
                                <a:latin typeface="Cambria Math" panose="02040503050406030204" pitchFamily="18" charset="0"/>
                              </a:rPr>
                              <m:t>𝑛</m:t>
                            </m:r>
                          </m:den>
                        </m:f>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𝑛</m:t>
                        </m:r>
                      </m:den>
                    </m:f>
                    <m:r>
                      <a:rPr lang="fr-CA" b="0" i="1" smtClean="0">
                        <a:latin typeface="Cambria Math" panose="02040503050406030204" pitchFamily="18" charset="0"/>
                      </a:rPr>
                      <m:t>𝐸</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𝑛𝑝</m:t>
                        </m:r>
                      </m:num>
                      <m:den>
                        <m:r>
                          <a:rPr lang="fr-CA" b="0" i="1" smtClean="0">
                            <a:latin typeface="Cambria Math" panose="02040503050406030204" pitchFamily="18" charset="0"/>
                          </a:rPr>
                          <m:t>𝑛</m:t>
                        </m:r>
                      </m:den>
                    </m:f>
                    <m:r>
                      <a:rPr lang="fr-CA" b="0" i="1" smtClean="0">
                        <a:latin typeface="Cambria Math" panose="02040503050406030204" pitchFamily="18" charset="0"/>
                      </a:rPr>
                      <m:t>=</m:t>
                    </m:r>
                    <m:r>
                      <a:rPr lang="fr-CA" b="0" i="1" smtClean="0">
                        <a:latin typeface="Cambria Math" panose="02040503050406030204" pitchFamily="18" charset="0"/>
                      </a:rPr>
                      <m:t>𝑝</m:t>
                    </m:r>
                  </m:oMath>
                </a14:m>
                <a:r>
                  <a:rPr lang="fr-CA" dirty="0"/>
                  <a:t>  donc c’est un estimateur sans biais de p.</a:t>
                </a:r>
              </a:p>
              <a:p>
                <a:pPr marL="285750" indent="-285750">
                  <a:buFont typeface="Arial" panose="020B0604020202020204" pitchFamily="34" charset="0"/>
                  <a:buChar char="•"/>
                </a:pPr>
                <a14:m>
                  <m:oMath xmlns:m="http://schemas.openxmlformats.org/officeDocument/2006/math">
                    <m:r>
                      <a:rPr lang="fr-CA" b="0" i="1" smtClean="0">
                        <a:latin typeface="Cambria Math" panose="02040503050406030204" pitchFamily="18" charset="0"/>
                      </a:rPr>
                      <m:t>𝑣𝑎𝑟</m:t>
                    </m:r>
                    <m:d>
                      <m:dPr>
                        <m:ctrlPr>
                          <a:rPr lang="fr-CA" b="0" i="1" smtClean="0">
                            <a:latin typeface="Cambria Math" panose="02040503050406030204" pitchFamily="18" charset="0"/>
                          </a:rPr>
                        </m:ctrlPr>
                      </m:dPr>
                      <m:e>
                        <m:acc>
                          <m:accPr>
                            <m:chr m:val="̂"/>
                            <m:ctrlPr>
                              <a:rPr lang="fr-CA" i="1">
                                <a:latin typeface="Cambria Math" panose="02040503050406030204" pitchFamily="18" charset="0"/>
                              </a:rPr>
                            </m:ctrlPr>
                          </m:accPr>
                          <m:e>
                            <m:r>
                              <a:rPr lang="fr-CA" i="1">
                                <a:latin typeface="Cambria Math" panose="02040503050406030204" pitchFamily="18" charset="0"/>
                              </a:rPr>
                              <m:t>𝑝</m:t>
                            </m:r>
                          </m:e>
                        </m:acc>
                      </m:e>
                    </m:d>
                    <m:r>
                      <a:rPr lang="fr-CA" b="0" i="0" smtClean="0">
                        <a:latin typeface="Cambria Math" panose="02040503050406030204" pitchFamily="18" charset="0"/>
                      </a:rPr>
                      <m:t>=</m:t>
                    </m:r>
                    <m:r>
                      <m:rPr>
                        <m:sty m:val="p"/>
                      </m:rPr>
                      <a:rPr lang="fr-CA" b="0" i="0" smtClean="0">
                        <a:latin typeface="Cambria Math" panose="02040503050406030204" pitchFamily="18" charset="0"/>
                      </a:rPr>
                      <m:t>var</m:t>
                    </m:r>
                    <m:d>
                      <m:dPr>
                        <m:ctrlPr>
                          <a:rPr lang="fr-CA" b="0" i="1" smtClean="0">
                            <a:latin typeface="Cambria Math" panose="02040503050406030204" pitchFamily="18" charset="0"/>
                          </a:rPr>
                        </m:ctrlPr>
                      </m:dPr>
                      <m:e>
                        <m:f>
                          <m:fPr>
                            <m:ctrlPr>
                              <a:rPr lang="fr-CA" b="0" i="1" smtClean="0">
                                <a:latin typeface="Cambria Math" panose="02040503050406030204" pitchFamily="18" charset="0"/>
                              </a:rPr>
                            </m:ctrlPr>
                          </m:fPr>
                          <m:num>
                            <m:r>
                              <a:rPr lang="fr-CA" b="0" i="1" smtClean="0">
                                <a:latin typeface="Cambria Math" panose="02040503050406030204" pitchFamily="18" charset="0"/>
                              </a:rPr>
                              <m:t>𝑋</m:t>
                            </m:r>
                          </m:num>
                          <m:den>
                            <m:r>
                              <a:rPr lang="fr-CA" b="0" i="1" smtClean="0">
                                <a:latin typeface="Cambria Math" panose="02040503050406030204" pitchFamily="18" charset="0"/>
                              </a:rPr>
                              <m:t>𝑛</m:t>
                            </m:r>
                          </m:den>
                        </m:f>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sSup>
                          <m:sSupPr>
                            <m:ctrlPr>
                              <a:rPr lang="fr-CA" b="0" i="1" smtClean="0">
                                <a:latin typeface="Cambria Math" panose="02040503050406030204" pitchFamily="18" charset="0"/>
                              </a:rPr>
                            </m:ctrlPr>
                          </m:sSupPr>
                          <m:e>
                            <m:r>
                              <a:rPr lang="fr-CA" b="0" i="1" smtClean="0">
                                <a:latin typeface="Cambria Math" panose="02040503050406030204" pitchFamily="18" charset="0"/>
                              </a:rPr>
                              <m:t>𝑛</m:t>
                            </m:r>
                          </m:e>
                          <m:sup>
                            <m:r>
                              <a:rPr lang="fr-CA" b="0" i="1" smtClean="0">
                                <a:latin typeface="Cambria Math" panose="02040503050406030204" pitchFamily="18" charset="0"/>
                              </a:rPr>
                              <m:t>2</m:t>
                            </m:r>
                          </m:sup>
                        </m:sSup>
                      </m:den>
                    </m:f>
                    <m:r>
                      <a:rPr lang="fr-CA" b="0" i="1" smtClean="0">
                        <a:latin typeface="Cambria Math" panose="02040503050406030204" pitchFamily="18" charset="0"/>
                      </a:rPr>
                      <m:t>𝑣𝑎𝑟</m:t>
                    </m:r>
                    <m:d>
                      <m:dPr>
                        <m:ctrlPr>
                          <a:rPr lang="fr-CA" b="0" i="1" smtClean="0">
                            <a:latin typeface="Cambria Math" panose="02040503050406030204" pitchFamily="18" charset="0"/>
                          </a:rPr>
                        </m:ctrlPr>
                      </m:dPr>
                      <m:e>
                        <m:r>
                          <a:rPr lang="fr-CA" b="0" i="1" smtClean="0">
                            <a:latin typeface="Cambria Math" panose="02040503050406030204" pitchFamily="18" charset="0"/>
                          </a:rPr>
                          <m:t>𝑋</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sSup>
                          <m:sSupPr>
                            <m:ctrlPr>
                              <a:rPr lang="fr-CA" b="0" i="1" smtClean="0">
                                <a:latin typeface="Cambria Math" panose="02040503050406030204" pitchFamily="18" charset="0"/>
                              </a:rPr>
                            </m:ctrlPr>
                          </m:sSupPr>
                          <m:e>
                            <m:r>
                              <a:rPr lang="fr-CA" b="0" i="1" smtClean="0">
                                <a:latin typeface="Cambria Math" panose="02040503050406030204" pitchFamily="18" charset="0"/>
                              </a:rPr>
                              <m:t>𝑛</m:t>
                            </m:r>
                          </m:e>
                          <m:sup>
                            <m:r>
                              <a:rPr lang="fr-CA" b="0" i="1" smtClean="0">
                                <a:latin typeface="Cambria Math" panose="02040503050406030204" pitchFamily="18" charset="0"/>
                              </a:rPr>
                              <m:t>2</m:t>
                            </m:r>
                          </m:sup>
                        </m:sSup>
                      </m:den>
                    </m:f>
                    <m:d>
                      <m:dPr>
                        <m:ctrlPr>
                          <a:rPr lang="fr-CA" b="0" i="1" smtClean="0">
                            <a:latin typeface="Cambria Math" panose="02040503050406030204" pitchFamily="18" charset="0"/>
                          </a:rPr>
                        </m:ctrlPr>
                      </m:dPr>
                      <m:e>
                        <m:r>
                          <a:rPr lang="fr-CA" b="0" i="1" smtClean="0">
                            <a:latin typeface="Cambria Math" panose="02040503050406030204" pitchFamily="18" charset="0"/>
                          </a:rPr>
                          <m:t>𝑛𝑝𝑞</m:t>
                        </m:r>
                      </m:e>
                    </m:d>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𝑝𝑞</m:t>
                        </m:r>
                      </m:num>
                      <m:den>
                        <m:r>
                          <a:rPr lang="fr-CA" b="0" i="1" smtClean="0">
                            <a:latin typeface="Cambria Math" panose="02040503050406030204" pitchFamily="18" charset="0"/>
                          </a:rPr>
                          <m:t>𝑛</m:t>
                        </m:r>
                      </m:den>
                    </m:f>
                    <m:r>
                      <a:rPr lang="fr-CA" b="0" i="1" smtClean="0">
                        <a:latin typeface="Cambria Math" panose="02040503050406030204" pitchFamily="18" charset="0"/>
                        <a:ea typeface="Cambria Math" panose="02040503050406030204" pitchFamily="18" charset="0"/>
                      </a:rPr>
                      <m:t>→0     </m:t>
                    </m:r>
                    <m:r>
                      <a:rPr lang="fr-CA" b="0" i="1" smtClean="0">
                        <a:latin typeface="Cambria Math" panose="02040503050406030204" pitchFamily="18" charset="0"/>
                        <a:ea typeface="Cambria Math" panose="02040503050406030204" pitchFamily="18" charset="0"/>
                      </a:rPr>
                      <m:t>𝑙𝑜𝑟𝑠𝑞𝑢𝑒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m:t>
                    </m:r>
                  </m:oMath>
                </a14:m>
                <a:r>
                  <a:rPr lang="fr-CA" dirty="0"/>
                  <a:t>  donc </a:t>
                </a:r>
                <a14:m>
                  <m:oMath xmlns:m="http://schemas.openxmlformats.org/officeDocument/2006/math">
                    <m:acc>
                      <m:accPr>
                        <m:chr m:val="̂"/>
                        <m:ctrlPr>
                          <a:rPr lang="fr-CA" i="1">
                            <a:latin typeface="Cambria Math" panose="02040503050406030204" pitchFamily="18" charset="0"/>
                          </a:rPr>
                        </m:ctrlPr>
                      </m:accPr>
                      <m:e>
                        <m:r>
                          <a:rPr lang="fr-CA" i="1">
                            <a:latin typeface="Cambria Math" panose="02040503050406030204" pitchFamily="18" charset="0"/>
                          </a:rPr>
                          <m:t>𝑝</m:t>
                        </m:r>
                      </m:e>
                    </m:acc>
                  </m:oMath>
                </a14:m>
                <a:r>
                  <a:rPr lang="fr-CA" dirty="0"/>
                  <a:t> est un estimateur convergent de p.</a:t>
                </a:r>
              </a:p>
              <a:p>
                <a:pPr marL="285750" indent="-285750">
                  <a:buFont typeface="Arial" panose="020B0604020202020204" pitchFamily="34" charset="0"/>
                  <a:buChar char="•"/>
                </a:pPr>
                <a:endParaRPr lang="fr-CA" dirty="0"/>
              </a:p>
              <a:p>
                <a:r>
                  <a:rPr lang="fr-CA" dirty="0"/>
                  <a:t>3. On peut démontrer (voir le livre) que   </a:t>
                </a:r>
                <a14:m>
                  <m:oMath xmlns:m="http://schemas.openxmlformats.org/officeDocument/2006/math">
                    <m:sSubSup>
                      <m:sSubSupPr>
                        <m:ctrlPr>
                          <a:rPr lang="fr-CA" i="1" smtClean="0">
                            <a:latin typeface="Cambria Math" panose="02040503050406030204" pitchFamily="18" charset="0"/>
                          </a:rPr>
                        </m:ctrlPr>
                      </m:sSubSupPr>
                      <m:e>
                        <m:r>
                          <a:rPr lang="fr-CA" b="0" i="1" smtClean="0">
                            <a:latin typeface="Cambria Math" panose="02040503050406030204" pitchFamily="18" charset="0"/>
                          </a:rPr>
                          <m:t>𝑆</m:t>
                        </m:r>
                      </m:e>
                      <m:sub>
                        <m:r>
                          <a:rPr lang="fr-CA" b="0" i="1" smtClean="0">
                            <a:latin typeface="Cambria Math" panose="02040503050406030204" pitchFamily="18" charset="0"/>
                          </a:rPr>
                          <m:t>𝑋</m:t>
                        </m:r>
                      </m:sub>
                      <m:sup>
                        <m:r>
                          <a:rPr lang="fr-CA" b="0" i="1" smtClean="0">
                            <a:latin typeface="Cambria Math" panose="02040503050406030204" pitchFamily="18" charset="0"/>
                          </a:rPr>
                          <m:t>2</m:t>
                        </m:r>
                      </m:sup>
                    </m:sSubSup>
                    <m:r>
                      <a:rPr lang="fr-CA" b="0" i="1" smtClean="0">
                        <a:latin typeface="Cambria Math" panose="02040503050406030204" pitchFamily="18" charset="0"/>
                      </a:rPr>
                      <m:t>=</m:t>
                    </m:r>
                    <m:f>
                      <m:fPr>
                        <m:ctrlPr>
                          <a:rPr lang="fr-CA" b="0" i="1" smtClean="0">
                            <a:latin typeface="Cambria Math" panose="02040503050406030204" pitchFamily="18" charset="0"/>
                          </a:rPr>
                        </m:ctrlPr>
                      </m:fPr>
                      <m:num>
                        <m:r>
                          <a:rPr lang="fr-CA" b="0" i="1" smtClean="0">
                            <a:latin typeface="Cambria Math" panose="02040503050406030204" pitchFamily="18" charset="0"/>
                          </a:rPr>
                          <m:t>1</m:t>
                        </m:r>
                      </m:num>
                      <m:den>
                        <m:r>
                          <a:rPr lang="fr-CA" b="0" i="1" smtClean="0">
                            <a:latin typeface="Cambria Math" panose="02040503050406030204" pitchFamily="18" charset="0"/>
                          </a:rPr>
                          <m:t>𝑛</m:t>
                        </m:r>
                        <m:r>
                          <a:rPr lang="fr-CA" b="0" i="1" smtClean="0">
                            <a:latin typeface="Cambria Math" panose="02040503050406030204" pitchFamily="18" charset="0"/>
                          </a:rPr>
                          <m:t>−1</m:t>
                        </m:r>
                      </m:den>
                    </m:f>
                    <m:nary>
                      <m:naryPr>
                        <m:chr m:val="∑"/>
                        <m:ctrlPr>
                          <a:rPr lang="fr-CA" b="0" i="1" smtClean="0">
                            <a:latin typeface="Cambria Math" panose="02040503050406030204" pitchFamily="18" charset="0"/>
                          </a:rPr>
                        </m:ctrlPr>
                      </m:naryPr>
                      <m:sub>
                        <m:r>
                          <m:rPr>
                            <m:brk m:alnAt="23"/>
                          </m:rPr>
                          <a:rPr lang="fr-CA" b="0" i="1" smtClean="0">
                            <a:latin typeface="Cambria Math" panose="02040503050406030204" pitchFamily="18" charset="0"/>
                          </a:rPr>
                          <m:t>𝑖</m:t>
                        </m:r>
                        <m:r>
                          <a:rPr lang="fr-CA" b="0" i="1" smtClean="0">
                            <a:latin typeface="Cambria Math" panose="02040503050406030204" pitchFamily="18" charset="0"/>
                          </a:rPr>
                          <m:t>=1</m:t>
                        </m:r>
                      </m:sub>
                      <m:sup>
                        <m:r>
                          <a:rPr lang="fr-CA" b="0" i="1" smtClean="0">
                            <a:latin typeface="Cambria Math" panose="02040503050406030204" pitchFamily="18" charset="0"/>
                          </a:rPr>
                          <m:t>𝑛</m:t>
                        </m:r>
                      </m:sup>
                      <m:e>
                        <m:sSup>
                          <m:sSupPr>
                            <m:ctrlPr>
                              <a:rPr lang="fr-CA" b="0" i="1" smtClean="0">
                                <a:latin typeface="Cambria Math" panose="02040503050406030204" pitchFamily="18" charset="0"/>
                              </a:rPr>
                            </m:ctrlPr>
                          </m:sSupPr>
                          <m:e>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𝑋</m:t>
                                </m:r>
                              </m:e>
                              <m:sub>
                                <m:r>
                                  <a:rPr lang="fr-CA" b="0" i="1" smtClean="0">
                                    <a:latin typeface="Cambria Math" panose="02040503050406030204" pitchFamily="18" charset="0"/>
                                  </a:rPr>
                                  <m:t>𝑖</m:t>
                                </m:r>
                              </m:sub>
                            </m:sSub>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rPr>
                              <m:t>)</m:t>
                            </m:r>
                          </m:e>
                          <m:sup>
                            <m:r>
                              <a:rPr lang="fr-CA" b="0" i="1" smtClean="0">
                                <a:latin typeface="Cambria Math" panose="02040503050406030204" pitchFamily="18" charset="0"/>
                              </a:rPr>
                              <m:t>2</m:t>
                            </m:r>
                          </m:sup>
                        </m:sSup>
                      </m:e>
                    </m:nary>
                  </m:oMath>
                </a14:m>
                <a:r>
                  <a:rPr lang="fr-CA" dirty="0"/>
                  <a:t>  est un estimateur sans biais et convergent de </a:t>
                </a:r>
                <a14:m>
                  <m:oMath xmlns:m="http://schemas.openxmlformats.org/officeDocument/2006/math">
                    <m:sSubSup>
                      <m:sSubSupPr>
                        <m:ctrlPr>
                          <a:rPr lang="fr-CA" i="1" smtClean="0">
                            <a:latin typeface="Cambria Math" panose="02040503050406030204" pitchFamily="18" charset="0"/>
                          </a:rPr>
                        </m:ctrlPr>
                      </m:sSubSupPr>
                      <m:e>
                        <m:r>
                          <a:rPr lang="fr-CA"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up>
                        <m:r>
                          <a:rPr lang="fr-CA" b="0" i="1" smtClean="0">
                            <a:latin typeface="Cambria Math" panose="02040503050406030204" pitchFamily="18" charset="0"/>
                          </a:rPr>
                          <m:t>2</m:t>
                        </m:r>
                      </m:sup>
                    </m:sSubSup>
                    <m:r>
                      <a:rPr lang="fr-CA" b="0" i="1" smtClean="0">
                        <a:latin typeface="Cambria Math" panose="02040503050406030204" pitchFamily="18" charset="0"/>
                      </a:rPr>
                      <m:t>.</m:t>
                    </m:r>
                  </m:oMath>
                </a14:m>
                <a:endParaRPr lang="fr-CA" dirty="0"/>
              </a:p>
            </p:txBody>
          </p:sp>
        </mc:Choice>
        <mc:Fallback xmlns="">
          <p:sp>
            <p:nvSpPr>
              <p:cNvPr id="5" name="ZoneTexte 4">
                <a:extLst>
                  <a:ext uri="{FF2B5EF4-FFF2-40B4-BE49-F238E27FC236}">
                    <a16:creationId xmlns:a16="http://schemas.microsoft.com/office/drawing/2014/main" id="{C86770AB-D0F3-4130-A0BF-D24B94A4BA98}"/>
                  </a:ext>
                </a:extLst>
              </p:cNvPr>
              <p:cNvSpPr txBox="1">
                <a:spLocks noRot="1" noChangeAspect="1" noMove="1" noResize="1" noEditPoints="1" noAdjustHandles="1" noChangeArrowheads="1" noChangeShapeType="1" noTextEdit="1"/>
              </p:cNvSpPr>
              <p:nvPr/>
            </p:nvSpPr>
            <p:spPr>
              <a:xfrm>
                <a:off x="1021976" y="1169894"/>
                <a:ext cx="10331824" cy="5379165"/>
              </a:xfrm>
              <a:prstGeom prst="rect">
                <a:avLst/>
              </a:prstGeom>
              <a:blipFill>
                <a:blip r:embed="rId2"/>
                <a:stretch>
                  <a:fillRect l="-531" t="-2041" r="-531" b="-4535"/>
                </a:stretch>
              </a:blipFill>
            </p:spPr>
            <p:txBody>
              <a:bodyPr/>
              <a:lstStyle/>
              <a:p>
                <a:r>
                  <a:rPr lang="fr-CA">
                    <a:noFill/>
                  </a:rPr>
                  <a:t> </a:t>
                </a:r>
              </a:p>
            </p:txBody>
          </p:sp>
        </mc:Fallback>
      </mc:AlternateContent>
    </p:spTree>
    <p:extLst>
      <p:ext uri="{BB962C8B-B14F-4D97-AF65-F5344CB8AC3E}">
        <p14:creationId xmlns:p14="http://schemas.microsoft.com/office/powerpoint/2010/main" val="541212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AEFCED-5BE6-4A5D-B952-24FD446012F8}"/>
              </a:ext>
            </a:extLst>
          </p:cNvPr>
          <p:cNvSpPr>
            <a:spLocks noGrp="1"/>
          </p:cNvSpPr>
          <p:nvPr>
            <p:ph type="title"/>
          </p:nvPr>
        </p:nvSpPr>
        <p:spPr>
          <a:xfrm>
            <a:off x="838200" y="365125"/>
            <a:ext cx="10699376" cy="1325563"/>
          </a:xfrm>
        </p:spPr>
        <p:txBody>
          <a:bodyPr/>
          <a:lstStyle/>
          <a:p>
            <a:r>
              <a:rPr lang="fr-CA" dirty="0"/>
              <a:t> </a:t>
            </a:r>
            <a:r>
              <a:rPr lang="fr-CA" b="1" dirty="0"/>
              <a:t>La distribution des estimateurs </a:t>
            </a:r>
            <a:r>
              <a:rPr lang="fr-CA" b="1" dirty="0" err="1"/>
              <a:t>échantillonnaux</a:t>
            </a:r>
            <a:endParaRPr lang="fr-CA" b="1" dirty="0"/>
          </a:p>
        </p:txBody>
      </p:sp>
      <p:sp>
        <p:nvSpPr>
          <p:cNvPr id="3" name="Espace réservé du pied de page 2">
            <a:extLst>
              <a:ext uri="{FF2B5EF4-FFF2-40B4-BE49-F238E27FC236}">
                <a16:creationId xmlns:a16="http://schemas.microsoft.com/office/drawing/2014/main" id="{61088F4E-032C-46C4-A942-8FF1FD4E5FE8}"/>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917248E1-BAF8-46B4-958C-460D70470542}"/>
              </a:ext>
            </a:extLst>
          </p:cNvPr>
          <p:cNvSpPr>
            <a:spLocks noGrp="1"/>
          </p:cNvSpPr>
          <p:nvPr>
            <p:ph type="sldNum" sz="quarter" idx="12"/>
          </p:nvPr>
        </p:nvSpPr>
        <p:spPr/>
        <p:txBody>
          <a:bodyPr/>
          <a:lstStyle/>
          <a:p>
            <a:fld id="{26377AD9-CE17-438C-A638-C64D2D42D7CF}" type="slidenum">
              <a:rPr lang="fr-CA" smtClean="0"/>
              <a:t>3</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8CADC9C4-1903-42EF-942B-DCC853A02974}"/>
                  </a:ext>
                </a:extLst>
              </p:cNvPr>
              <p:cNvSpPr txBox="1"/>
              <p:nvPr/>
            </p:nvSpPr>
            <p:spPr>
              <a:xfrm>
                <a:off x="1035424" y="1869141"/>
                <a:ext cx="10318376" cy="3398366"/>
              </a:xfrm>
              <a:prstGeom prst="rect">
                <a:avLst/>
              </a:prstGeom>
              <a:noFill/>
            </p:spPr>
            <p:txBody>
              <a:bodyPr wrap="square" rtlCol="0">
                <a:spAutoFit/>
              </a:bodyPr>
              <a:lstStyle/>
              <a:p>
                <a:r>
                  <a:rPr lang="fr-CA" dirty="0"/>
                  <a:t>On sait  que:</a:t>
                </a:r>
              </a:p>
              <a:p>
                <a:pPr marL="342900" indent="-342900">
                  <a:buFont typeface="+mj-lt"/>
                  <a:buAutoNum type="arabicPeriod"/>
                </a:pPr>
                <a:r>
                  <a:rPr lang="fr-CA" dirty="0"/>
                  <a:t>Si X est normale alors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rPr>
                      <m:t>  </m:t>
                    </m:r>
                    <m:r>
                      <a:rPr lang="fr-CA" b="0" i="1" smtClean="0">
                        <a:latin typeface="Cambria Math" panose="02040503050406030204" pitchFamily="18" charset="0"/>
                      </a:rPr>
                      <m:t>𝑣𝑎</m:t>
                    </m:r>
                    <m:r>
                      <a:rPr lang="fr-CA" b="0" i="1" smtClean="0">
                        <a:latin typeface="Cambria Math" panose="02040503050406030204" pitchFamily="18" charset="0"/>
                      </a:rPr>
                      <m:t> ê</m:t>
                    </m:r>
                    <m:r>
                      <a:rPr lang="fr-CA" b="0" i="1" smtClean="0">
                        <a:latin typeface="Cambria Math" panose="02040503050406030204" pitchFamily="18" charset="0"/>
                      </a:rPr>
                      <m:t>𝑡𝑟𝑒</m:t>
                    </m:r>
                    <m:r>
                      <a:rPr lang="fr-CA" b="0" i="1" smtClean="0">
                        <a:latin typeface="Cambria Math" panose="02040503050406030204" pitchFamily="18" charset="0"/>
                      </a:rPr>
                      <m:t> </m:t>
                    </m:r>
                    <m:r>
                      <a:rPr lang="fr-CA" b="0" i="1" smtClean="0">
                        <a:latin typeface="Cambria Math" panose="02040503050406030204" pitchFamily="18" charset="0"/>
                      </a:rPr>
                      <m:t>𝑛𝑜𝑟𝑚𝑎𝑙𝑒𝑚𝑒𝑛𝑡</m:t>
                    </m:r>
                    <m:r>
                      <a:rPr lang="fr-CA" b="0" i="1" smtClean="0">
                        <a:latin typeface="Cambria Math" panose="02040503050406030204" pitchFamily="18" charset="0"/>
                      </a:rPr>
                      <m:t> </m:t>
                    </m:r>
                    <m:r>
                      <a:rPr lang="fr-CA" b="0" i="1" smtClean="0">
                        <a:latin typeface="Cambria Math" panose="02040503050406030204" pitchFamily="18" charset="0"/>
                      </a:rPr>
                      <m:t>𝑑𝑖𝑠𝑡𝑟𝑖𝑏𝑢</m:t>
                    </m:r>
                    <m:r>
                      <a:rPr lang="fr-CA" b="0" i="1" smtClean="0">
                        <a:latin typeface="Cambria Math" panose="02040503050406030204" pitchFamily="18" charset="0"/>
                      </a:rPr>
                      <m:t>é</m:t>
                    </m:r>
                    <m:r>
                      <a:rPr lang="fr-CA" b="0" i="1" smtClean="0">
                        <a:latin typeface="Cambria Math" panose="02040503050406030204" pitchFamily="18" charset="0"/>
                      </a:rPr>
                      <m:t>𝑒</m:t>
                    </m:r>
                    <m:r>
                      <a:rPr lang="fr-CA" b="0" i="1" smtClean="0">
                        <a:latin typeface="Cambria Math" panose="02040503050406030204" pitchFamily="18" charset="0"/>
                      </a:rPr>
                      <m:t> </m:t>
                    </m:r>
                    <m:r>
                      <a:rPr lang="fr-CA" b="0" i="1" smtClean="0">
                        <a:latin typeface="Cambria Math" panose="02040503050406030204" pitchFamily="18" charset="0"/>
                      </a:rPr>
                      <m:t>𝑎𝑣𝑒𝑐</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𝑚𝑜𝑦𝑒𝑛𝑛𝑒</m:t>
                    </m:r>
                    <m:r>
                      <a:rPr lang="fr-CA" b="0" i="1" smtClean="0">
                        <a:latin typeface="Cambria Math" panose="02040503050406030204" pitchFamily="18" charset="0"/>
                      </a:rPr>
                      <m:t> </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r>
                          <a:rPr lang="fr-CA" b="0" i="1" smtClean="0">
                            <a:latin typeface="Cambria Math" panose="02040503050406030204" pitchFamily="18" charset="0"/>
                          </a:rPr>
                          <m:t> </m:t>
                        </m:r>
                      </m:sub>
                    </m:sSub>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𝑣𝑎𝑟𝑖𝑎𝑛𝑐𝑒</m:t>
                    </m:r>
                    <m:r>
                      <a:rPr lang="fr-CA" b="0" i="1" smtClean="0">
                        <a:latin typeface="Cambria Math" panose="02040503050406030204" pitchFamily="18" charset="0"/>
                      </a:rPr>
                      <m:t> </m:t>
                    </m:r>
                    <m:f>
                      <m:fPr>
                        <m:ctrlPr>
                          <a:rPr lang="fr-CA" b="0" i="1" smtClean="0">
                            <a:latin typeface="Cambria Math" panose="02040503050406030204" pitchFamily="18" charset="0"/>
                          </a:rPr>
                        </m:ctrlPr>
                      </m:fPr>
                      <m:num>
                        <m:sSubSup>
                          <m:sSubSupPr>
                            <m:ctrlPr>
                              <a:rPr lang="fr-CA" b="0" i="1" smtClean="0">
                                <a:latin typeface="Cambria Math" panose="02040503050406030204" pitchFamily="18" charset="0"/>
                              </a:rPr>
                            </m:ctrlPr>
                          </m:sSubSup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up>
                            <m:r>
                              <a:rPr lang="fr-CA" b="0" i="1" smtClean="0">
                                <a:latin typeface="Cambria Math" panose="02040503050406030204" pitchFamily="18" charset="0"/>
                              </a:rPr>
                              <m:t>2</m:t>
                            </m:r>
                          </m:sup>
                        </m:sSubSup>
                      </m:num>
                      <m:den>
                        <m:r>
                          <a:rPr lang="fr-CA" b="0" i="1" smtClean="0">
                            <a:latin typeface="Cambria Math" panose="02040503050406030204" pitchFamily="18" charset="0"/>
                          </a:rPr>
                          <m:t>𝑛</m:t>
                        </m:r>
                      </m:den>
                    </m:f>
                  </m:oMath>
                </a14:m>
                <a:endParaRPr lang="fr-CA" dirty="0"/>
              </a:p>
              <a:p>
                <a:pPr marL="342900" indent="-342900">
                  <a:buFont typeface="+mj-lt"/>
                  <a:buAutoNum type="arabicPeriod"/>
                </a:pPr>
                <a:r>
                  <a:rPr lang="fr-CA" dirty="0"/>
                  <a:t>Si X n’est pas normale et que n dépasse 30, d’après le théorème central limite (TCL) on a le même résultat.</a:t>
                </a:r>
              </a:p>
              <a:p>
                <a:pPr marL="342900" indent="-342900">
                  <a:buFont typeface="+mj-lt"/>
                  <a:buAutoNum type="arabicPeriod"/>
                </a:pPr>
                <a:r>
                  <a:rPr lang="fr-CA" dirty="0"/>
                  <a:t>Si on s’intéresse à une proportion alors pour n dépassant 30; </a:t>
                </a:r>
                <a14:m>
                  <m:oMath xmlns:m="http://schemas.openxmlformats.org/officeDocument/2006/math">
                    <m:r>
                      <a:rPr lang="fr-CA" b="0" i="1" smtClean="0">
                        <a:latin typeface="Cambria Math" panose="02040503050406030204" pitchFamily="18" charset="0"/>
                      </a:rPr>
                      <m:t>𝑛</m:t>
                    </m:r>
                    <m:r>
                      <a:rPr lang="fr-CA" b="0" i="1" smtClean="0">
                        <a:latin typeface="Cambria Math" panose="02040503050406030204" pitchFamily="18" charset="0"/>
                      </a:rPr>
                      <m:t>∗</m:t>
                    </m:r>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𝑝</m:t>
                        </m:r>
                      </m:e>
                    </m:acc>
                    <m:r>
                      <a:rPr lang="fr-CA" b="0" i="1" smtClean="0">
                        <a:latin typeface="Cambria Math" panose="02040503050406030204" pitchFamily="18" charset="0"/>
                        <a:ea typeface="Cambria Math" panose="02040503050406030204" pitchFamily="18" charset="0"/>
                      </a:rPr>
                      <m:t>&gt;5   </m:t>
                    </m:r>
                    <m:r>
                      <a:rPr lang="fr-CA" b="0" i="1" smtClean="0">
                        <a:latin typeface="Cambria Math" panose="02040503050406030204" pitchFamily="18" charset="0"/>
                        <a:ea typeface="Cambria Math" panose="02040503050406030204" pitchFamily="18" charset="0"/>
                      </a:rPr>
                      <m:t>𝑒𝑡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𝑞𝑢𝑒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∗(1−</m:t>
                    </m:r>
                    <m:acc>
                      <m:accPr>
                        <m:chr m:val="̂"/>
                        <m:ctrlPr>
                          <a:rPr lang="fr-CA" b="0" i="1" smtClean="0">
                            <a:latin typeface="Cambria Math" panose="02040503050406030204" pitchFamily="18" charset="0"/>
                            <a:ea typeface="Cambria Math" panose="02040503050406030204" pitchFamily="18" charset="0"/>
                          </a:rPr>
                        </m:ctrlPr>
                      </m:accPr>
                      <m:e>
                        <m:r>
                          <a:rPr lang="fr-CA" b="0" i="1" smtClean="0">
                            <a:latin typeface="Cambria Math" panose="02040503050406030204" pitchFamily="18" charset="0"/>
                            <a:ea typeface="Cambria Math" panose="02040503050406030204" pitchFamily="18" charset="0"/>
                          </a:rPr>
                          <m:t>𝑝</m:t>
                        </m:r>
                      </m:e>
                    </m:acc>
                    <m:r>
                      <a:rPr lang="fr-CA" b="0" i="1" smtClean="0">
                        <a:latin typeface="Cambria Math" panose="02040503050406030204" pitchFamily="18" charset="0"/>
                      </a:rPr>
                      <m:t>)</m:t>
                    </m:r>
                    <m:r>
                      <a:rPr lang="fr-CA" b="0" i="1" smtClean="0">
                        <a:latin typeface="Cambria Math" panose="02040503050406030204" pitchFamily="18" charset="0"/>
                        <a:ea typeface="Cambria Math" panose="02040503050406030204" pitchFamily="18" charset="0"/>
                      </a:rPr>
                      <m:t>&gt;5</m:t>
                    </m:r>
                  </m:oMath>
                </a14:m>
                <a:r>
                  <a:rPr lang="fr-CA" dirty="0"/>
                  <a:t>, son estimateur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𝑝</m:t>
                        </m:r>
                      </m:e>
                    </m:acc>
                  </m:oMath>
                </a14:m>
                <a:r>
                  <a:rPr lang="fr-CA" dirty="0"/>
                  <a:t> sera distribué normalement avec une moyenne </a:t>
                </a:r>
                <a14:m>
                  <m:oMath xmlns:m="http://schemas.openxmlformats.org/officeDocument/2006/math">
                    <m:r>
                      <a:rPr lang="fr-CA" b="0" i="1" smtClean="0">
                        <a:latin typeface="Cambria Math" panose="02040503050406030204" pitchFamily="18" charset="0"/>
                      </a:rPr>
                      <m:t>𝑝</m:t>
                    </m:r>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𝑣𝑎𝑟𝑖𝑎𝑛𝑐𝑒</m:t>
                    </m:r>
                    <m:r>
                      <a:rPr lang="fr-CA" b="0" i="1" smtClean="0">
                        <a:latin typeface="Cambria Math" panose="02040503050406030204" pitchFamily="18" charset="0"/>
                      </a:rPr>
                      <m:t>   </m:t>
                    </m:r>
                    <m:f>
                      <m:fPr>
                        <m:ctrlPr>
                          <a:rPr lang="fr-CA" b="0" i="1" smtClean="0">
                            <a:latin typeface="Cambria Math" panose="02040503050406030204" pitchFamily="18" charset="0"/>
                          </a:rPr>
                        </m:ctrlPr>
                      </m:fPr>
                      <m:num>
                        <m:r>
                          <a:rPr lang="fr-CA" b="0" i="1" smtClean="0">
                            <a:latin typeface="Cambria Math" panose="02040503050406030204" pitchFamily="18" charset="0"/>
                          </a:rPr>
                          <m:t>𝑝𝑞</m:t>
                        </m:r>
                      </m:num>
                      <m:den>
                        <m:r>
                          <a:rPr lang="fr-CA" b="0" i="1" smtClean="0">
                            <a:latin typeface="Cambria Math" panose="02040503050406030204" pitchFamily="18" charset="0"/>
                          </a:rPr>
                          <m:t>𝑛</m:t>
                        </m:r>
                      </m:den>
                    </m:f>
                    <m:r>
                      <a:rPr lang="fr-CA" b="0" i="1" smtClean="0">
                        <a:latin typeface="Cambria Math" panose="02040503050406030204" pitchFamily="18" charset="0"/>
                      </a:rPr>
                      <m:t>.</m:t>
                    </m:r>
                  </m:oMath>
                </a14:m>
                <a:endParaRPr lang="fr-CA" dirty="0"/>
              </a:p>
              <a:p>
                <a:pPr marL="342900" indent="-342900">
                  <a:buFont typeface="+mj-lt"/>
                  <a:buAutoNum type="arabicPeriod"/>
                </a:pPr>
                <a:endParaRPr lang="fr-CA" dirty="0"/>
              </a:p>
              <a:p>
                <a:pPr marL="342900" indent="-342900">
                  <a:buFont typeface="+mj-lt"/>
                  <a:buAutoNum type="arabicPeriod"/>
                </a:pPr>
                <a:endParaRPr lang="fr-CA" dirty="0"/>
              </a:p>
              <a:p>
                <a:r>
                  <a:rPr lang="fr-CA" dirty="0"/>
                  <a:t>Ce qui fait que la normalité de ces estimateurs est toujours satisfaite, quelques fois avec des conditions simples à satisfaire.</a:t>
                </a:r>
              </a:p>
            </p:txBody>
          </p:sp>
        </mc:Choice>
        <mc:Fallback xmlns="">
          <p:sp>
            <p:nvSpPr>
              <p:cNvPr id="5" name="ZoneTexte 4">
                <a:extLst>
                  <a:ext uri="{FF2B5EF4-FFF2-40B4-BE49-F238E27FC236}">
                    <a16:creationId xmlns:a16="http://schemas.microsoft.com/office/drawing/2014/main" id="{8CADC9C4-1903-42EF-942B-DCC853A02974}"/>
                  </a:ext>
                </a:extLst>
              </p:cNvPr>
              <p:cNvSpPr txBox="1">
                <a:spLocks noRot="1" noChangeAspect="1" noMove="1" noResize="1" noEditPoints="1" noAdjustHandles="1" noChangeArrowheads="1" noChangeShapeType="1" noTextEdit="1"/>
              </p:cNvSpPr>
              <p:nvPr/>
            </p:nvSpPr>
            <p:spPr>
              <a:xfrm>
                <a:off x="1035424" y="1869141"/>
                <a:ext cx="10318376" cy="3398366"/>
              </a:xfrm>
              <a:prstGeom prst="rect">
                <a:avLst/>
              </a:prstGeom>
              <a:blipFill>
                <a:blip r:embed="rId2"/>
                <a:stretch>
                  <a:fillRect l="-532" t="-1077" b="-1975"/>
                </a:stretch>
              </a:blipFill>
            </p:spPr>
            <p:txBody>
              <a:bodyPr/>
              <a:lstStyle/>
              <a:p>
                <a:r>
                  <a:rPr lang="fr-CA">
                    <a:noFill/>
                  </a:rPr>
                  <a:t> </a:t>
                </a:r>
              </a:p>
            </p:txBody>
          </p:sp>
        </mc:Fallback>
      </mc:AlternateContent>
    </p:spTree>
    <p:extLst>
      <p:ext uri="{BB962C8B-B14F-4D97-AF65-F5344CB8AC3E}">
        <p14:creationId xmlns:p14="http://schemas.microsoft.com/office/powerpoint/2010/main" val="4227888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9AE5E6-9345-40A5-B428-B460D92603C1}"/>
              </a:ext>
            </a:extLst>
          </p:cNvPr>
          <p:cNvSpPr>
            <a:spLocks noGrp="1"/>
          </p:cNvSpPr>
          <p:nvPr>
            <p:ph type="title"/>
          </p:nvPr>
        </p:nvSpPr>
        <p:spPr>
          <a:xfrm>
            <a:off x="838200" y="365125"/>
            <a:ext cx="10515600" cy="3158004"/>
          </a:xfrm>
        </p:spPr>
        <p:txBody>
          <a:bodyPr>
            <a:normAutofit fontScale="90000"/>
          </a:bodyPr>
          <a:lstStyle/>
          <a:p>
            <a:pPr marL="228600" indent="-228600" algn="l">
              <a:lnSpc>
                <a:spcPct val="200000"/>
              </a:lnSpc>
              <a:spcBef>
                <a:spcPts val="1300"/>
              </a:spcBef>
              <a:spcAft>
                <a:spcPts val="300"/>
              </a:spcAft>
              <a:tabLst>
                <a:tab pos="152400" algn="r"/>
                <a:tab pos="449580" algn="l"/>
              </a:tabLst>
            </a:pPr>
            <a:r>
              <a:rPr lang="fr-CA" dirty="0"/>
              <a:t>Exemple1:</a:t>
            </a:r>
            <a:r>
              <a:rPr lang="fr-FR" sz="1800" dirty="0">
                <a:solidFill>
                  <a:srgbClr val="000000"/>
                </a:solidFill>
                <a:effectLst/>
                <a:latin typeface="Times New Roman" panose="02020603050405020304" pitchFamily="18" charset="0"/>
                <a:ea typeface="Times New Roman" panose="02020603050405020304" pitchFamily="18" charset="0"/>
              </a:rPr>
              <a:t> La masse du cerveau des individus d’une certaine population est distribuée normalement avec une moyenne de 1,435 kg et un écart-type de 0,350 kg.</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Déterminez la distribution (forme et valeurs de ses paramètres) de la masse moyenne des cerveaux d’un échantillon aléatoire de cinq personnes choisies dans cette population.</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Quelle est la probabilité que la masse moyenne des cerveaux d’un tel échantillon dépasse 1,450 kg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4E899DD9-5DE5-4B94-817F-1980FDDD687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FA227260-753C-4FEE-8D7E-34907A120F1E}"/>
              </a:ext>
            </a:extLst>
          </p:cNvPr>
          <p:cNvSpPr>
            <a:spLocks noGrp="1"/>
          </p:cNvSpPr>
          <p:nvPr>
            <p:ph type="sldNum" sz="quarter" idx="12"/>
          </p:nvPr>
        </p:nvSpPr>
        <p:spPr/>
        <p:txBody>
          <a:bodyPr/>
          <a:lstStyle/>
          <a:p>
            <a:fld id="{26377AD9-CE17-438C-A638-C64D2D42D7CF}" type="slidenum">
              <a:rPr lang="fr-CA" smtClean="0"/>
              <a:t>4</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6DFCE7D8-C4F9-432B-A772-E180548AD91B}"/>
                  </a:ext>
                </a:extLst>
              </p:cNvPr>
              <p:cNvSpPr txBox="1"/>
              <p:nvPr/>
            </p:nvSpPr>
            <p:spPr>
              <a:xfrm>
                <a:off x="1223682" y="3523129"/>
                <a:ext cx="10130118" cy="1888787"/>
              </a:xfrm>
              <a:prstGeom prst="rect">
                <a:avLst/>
              </a:prstGeom>
              <a:noFill/>
            </p:spPr>
            <p:txBody>
              <a:bodyPr wrap="square" rtlCol="0">
                <a:spAutoFit/>
              </a:bodyPr>
              <a:lstStyle/>
              <a:p>
                <a:r>
                  <a:rPr lang="fr-CA" dirty="0"/>
                  <a:t>Réponse: Soit X: La masse du cerveau dans cette population, cette variable est normale avec moyenne de 1,435 Kg et un écart type de 0,350Kg</a:t>
                </a:r>
              </a:p>
              <a:p>
                <a:pPr marL="342900" indent="-342900">
                  <a:buAutoNum type="alphaLcParenR"/>
                </a:pPr>
                <a:r>
                  <a:rPr lang="fr-CA" dirty="0"/>
                  <a:t>Si on prend un échantillon aléatoire de 5 personnes alors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rPr>
                      <m:t> </m:t>
                    </m:r>
                  </m:oMath>
                </a14:m>
                <a:r>
                  <a:rPr lang="fr-CA" dirty="0"/>
                  <a:t>sera normale avec une moyenne de 1,435 Kg et un écart type égal à </a:t>
                </a:r>
                <a14:m>
                  <m:oMath xmlns:m="http://schemas.openxmlformats.org/officeDocument/2006/math">
                    <m:f>
                      <m:fPr>
                        <m:ctrlPr>
                          <a:rPr lang="fr-CA" i="1" smtClean="0">
                            <a:latin typeface="Cambria Math" panose="02040503050406030204" pitchFamily="18" charset="0"/>
                          </a:rPr>
                        </m:ctrlPr>
                      </m:fPr>
                      <m:num>
                        <m:r>
                          <a:rPr lang="fr-CA" b="0" i="1" smtClean="0">
                            <a:latin typeface="Cambria Math" panose="02040503050406030204" pitchFamily="18" charset="0"/>
                          </a:rPr>
                          <m:t>0,350</m:t>
                        </m:r>
                      </m:num>
                      <m:den>
                        <m:rad>
                          <m:radPr>
                            <m:degHide m:val="on"/>
                            <m:ctrlPr>
                              <a:rPr lang="fr-CA" i="1" smtClean="0">
                                <a:latin typeface="Cambria Math" panose="02040503050406030204" pitchFamily="18" charset="0"/>
                              </a:rPr>
                            </m:ctrlPr>
                          </m:radPr>
                          <m:deg/>
                          <m:e>
                            <m:r>
                              <a:rPr lang="fr-CA" b="0" i="1" smtClean="0">
                                <a:latin typeface="Cambria Math" panose="02040503050406030204" pitchFamily="18" charset="0"/>
                              </a:rPr>
                              <m:t>5</m:t>
                            </m:r>
                          </m:e>
                        </m:rad>
                      </m:den>
                    </m:f>
                    <m:r>
                      <a:rPr lang="fr-CA" b="0" i="1" smtClean="0">
                        <a:latin typeface="Cambria Math" panose="02040503050406030204" pitchFamily="18" charset="0"/>
                      </a:rPr>
                      <m:t>=0,1565 </m:t>
                    </m:r>
                    <m:r>
                      <a:rPr lang="fr-CA" b="0" i="1" smtClean="0">
                        <a:latin typeface="Cambria Math" panose="02040503050406030204" pitchFamily="18" charset="0"/>
                      </a:rPr>
                      <m:t>𝑘𝑔</m:t>
                    </m:r>
                  </m:oMath>
                </a14:m>
                <a:endParaRPr lang="fr-CA" dirty="0"/>
              </a:p>
              <a:p>
                <a:pPr marL="342900" indent="-342900">
                  <a:buAutoNum type="alphaLcParenR"/>
                </a:pPr>
                <a:r>
                  <a:rPr lang="fr-CA" dirty="0"/>
                  <a:t>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ea typeface="Cambria Math" panose="02040503050406030204" pitchFamily="18" charset="0"/>
                          </a:rPr>
                          <m:t>&gt;1,450</m:t>
                        </m:r>
                      </m:e>
                    </m:d>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acc>
                          <m:accPr>
                            <m:chr m:val="̅"/>
                            <m:ctrlPr>
                              <a:rPr lang="fr-CA" b="0" i="1" smtClean="0">
                                <a:latin typeface="Cambria Math" panose="02040503050406030204" pitchFamily="18" charset="0"/>
                                <a:ea typeface="Cambria Math" panose="02040503050406030204" pitchFamily="18" charset="0"/>
                              </a:rPr>
                            </m:ctrlPr>
                          </m:accPr>
                          <m:e>
                            <m:r>
                              <a:rPr lang="fr-CA" b="0" i="1" smtClean="0">
                                <a:latin typeface="Cambria Math" panose="02040503050406030204" pitchFamily="18" charset="0"/>
                                <a:ea typeface="Cambria Math" panose="02040503050406030204" pitchFamily="18" charset="0"/>
                              </a:rPr>
                              <m:t>𝑋</m:t>
                            </m:r>
                          </m:e>
                        </m:acc>
                        <m:r>
                          <a:rPr lang="fr-CA" b="0" i="1" smtClean="0">
                            <a:latin typeface="Cambria Math" panose="02040503050406030204" pitchFamily="18" charset="0"/>
                            <a:ea typeface="Cambria Math" panose="02040503050406030204" pitchFamily="18" charset="0"/>
                          </a:rPr>
                          <m:t>&lt;1,450</m:t>
                        </m:r>
                      </m:e>
                    </m:d>
                  </m:oMath>
                </a14:m>
                <a:r>
                  <a:rPr lang="fr-CA" dirty="0"/>
                  <a:t>  on tape: 1-pnorm(1.45,1.435,0.1565)    ce qui donne: 0,4610774</a:t>
                </a:r>
              </a:p>
            </p:txBody>
          </p:sp>
        </mc:Choice>
        <mc:Fallback xmlns="">
          <p:sp>
            <p:nvSpPr>
              <p:cNvPr id="5" name="ZoneTexte 4">
                <a:extLst>
                  <a:ext uri="{FF2B5EF4-FFF2-40B4-BE49-F238E27FC236}">
                    <a16:creationId xmlns:a16="http://schemas.microsoft.com/office/drawing/2014/main" id="{6DFCE7D8-C4F9-432B-A772-E180548AD91B}"/>
                  </a:ext>
                </a:extLst>
              </p:cNvPr>
              <p:cNvSpPr txBox="1">
                <a:spLocks noRot="1" noChangeAspect="1" noMove="1" noResize="1" noEditPoints="1" noAdjustHandles="1" noChangeArrowheads="1" noChangeShapeType="1" noTextEdit="1"/>
              </p:cNvSpPr>
              <p:nvPr/>
            </p:nvSpPr>
            <p:spPr>
              <a:xfrm>
                <a:off x="1223682" y="3523129"/>
                <a:ext cx="10130118" cy="1888787"/>
              </a:xfrm>
              <a:prstGeom prst="rect">
                <a:avLst/>
              </a:prstGeom>
              <a:blipFill>
                <a:blip r:embed="rId2"/>
                <a:stretch>
                  <a:fillRect l="-542" t="-1935" b="-4194"/>
                </a:stretch>
              </a:blipFill>
            </p:spPr>
            <p:txBody>
              <a:bodyPr/>
              <a:lstStyle/>
              <a:p>
                <a:r>
                  <a:rPr lang="fr-CA">
                    <a:noFill/>
                  </a:rPr>
                  <a:t> </a:t>
                </a:r>
              </a:p>
            </p:txBody>
          </p:sp>
        </mc:Fallback>
      </mc:AlternateContent>
    </p:spTree>
    <p:extLst>
      <p:ext uri="{BB962C8B-B14F-4D97-AF65-F5344CB8AC3E}">
        <p14:creationId xmlns:p14="http://schemas.microsoft.com/office/powerpoint/2010/main" val="439927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1FC629-7F01-4555-99ED-98177D4BD9C4}"/>
              </a:ext>
            </a:extLst>
          </p:cNvPr>
          <p:cNvSpPr>
            <a:spLocks noGrp="1"/>
          </p:cNvSpPr>
          <p:nvPr>
            <p:ph type="title"/>
          </p:nvPr>
        </p:nvSpPr>
        <p:spPr>
          <a:xfrm>
            <a:off x="838200" y="365125"/>
            <a:ext cx="10515600" cy="3063875"/>
          </a:xfrm>
        </p:spPr>
        <p:txBody>
          <a:bodyPr>
            <a:normAutofit fontScale="90000"/>
          </a:bodyPr>
          <a:lstStyle/>
          <a:p>
            <a:pPr marL="228600" indent="-228600" algn="l">
              <a:lnSpc>
                <a:spcPct val="200000"/>
              </a:lnSpc>
              <a:spcBef>
                <a:spcPts val="1300"/>
              </a:spcBef>
              <a:spcAft>
                <a:spcPts val="300"/>
              </a:spcAft>
              <a:tabLst>
                <a:tab pos="152400" algn="r"/>
                <a:tab pos="449580" algn="l"/>
              </a:tabLst>
            </a:pPr>
            <a:r>
              <a:rPr lang="fr-CA" dirty="0"/>
              <a:t>Exemple 2: </a:t>
            </a:r>
            <a:r>
              <a:rPr lang="fr-FR" sz="1800" dirty="0">
                <a:solidFill>
                  <a:srgbClr val="000000"/>
                </a:solidFill>
                <a:effectLst/>
                <a:latin typeface="Times New Roman" panose="02020603050405020304" pitchFamily="18" charset="0"/>
                <a:ea typeface="Times New Roman" panose="02020603050405020304" pitchFamily="18" charset="0"/>
              </a:rPr>
              <a:t>Dans un grand hôpital, la durée de séjour des patients est distribuée avec une moyenne de 8,3 jours et un écart-type de 3,6 jours.</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Caractérisez la distribution de la durée de séjour moyenne d’un échantillon aléatoire de 49 patients.</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Déterminez la probabilité que la durée de séjour moyenne d’un tel échantillon dépasse 9 jours.</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569035CC-8BA7-400B-ADA7-78358B4422D3}"/>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0EDB104C-83BA-497D-BED1-12E176424C2A}"/>
              </a:ext>
            </a:extLst>
          </p:cNvPr>
          <p:cNvSpPr>
            <a:spLocks noGrp="1"/>
          </p:cNvSpPr>
          <p:nvPr>
            <p:ph type="sldNum" sz="quarter" idx="12"/>
          </p:nvPr>
        </p:nvSpPr>
        <p:spPr/>
        <p:txBody>
          <a:bodyPr/>
          <a:lstStyle/>
          <a:p>
            <a:fld id="{26377AD9-CE17-438C-A638-C64D2D42D7CF}" type="slidenum">
              <a:rPr lang="fr-CA" smtClean="0"/>
              <a:t>5</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A92FB7CB-1E73-4140-87AB-1D9B24517768}"/>
                  </a:ext>
                </a:extLst>
              </p:cNvPr>
              <p:cNvSpPr txBox="1"/>
              <p:nvPr/>
            </p:nvSpPr>
            <p:spPr>
              <a:xfrm>
                <a:off x="1102659" y="3079376"/>
                <a:ext cx="10354235" cy="2163669"/>
              </a:xfrm>
              <a:prstGeom prst="rect">
                <a:avLst/>
              </a:prstGeom>
              <a:noFill/>
            </p:spPr>
            <p:txBody>
              <a:bodyPr wrap="square" rtlCol="0">
                <a:spAutoFit/>
              </a:bodyPr>
              <a:lstStyle/>
              <a:p>
                <a:r>
                  <a:rPr lang="fr-CA" dirty="0"/>
                  <a:t>Réponse: Soit X; la durée de séjour d’un patient dans cet hôpital, sa moyenne est de 8,3 jours et son écart type est de 3,6 jours.</a:t>
                </a:r>
              </a:p>
              <a:p>
                <a:pPr marL="342900" indent="-342900">
                  <a:buAutoNum type="alphaLcParenBoth"/>
                </a:pPr>
                <a:r>
                  <a:rPr lang="fr-CA" dirty="0"/>
                  <a:t>Pour un échantillon aléatoire de n=49 patients,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rPr>
                      <m:t> :</m:t>
                    </m:r>
                    <m:r>
                      <a:rPr lang="fr-CA" b="0" i="1" smtClean="0">
                        <a:latin typeface="Cambria Math" panose="02040503050406030204" pitchFamily="18" charset="0"/>
                      </a:rPr>
                      <m:t>𝑙𝑎</m:t>
                    </m:r>
                    <m:r>
                      <a:rPr lang="fr-CA" b="0" i="1" smtClean="0">
                        <a:latin typeface="Cambria Math" panose="02040503050406030204" pitchFamily="18" charset="0"/>
                      </a:rPr>
                      <m:t> </m:t>
                    </m:r>
                    <m:r>
                      <a:rPr lang="fr-CA" b="0" i="1" smtClean="0">
                        <a:latin typeface="Cambria Math" panose="02040503050406030204" pitchFamily="18" charset="0"/>
                      </a:rPr>
                      <m:t>𝑑𝑢𝑟</m:t>
                    </m:r>
                    <m:r>
                      <a:rPr lang="fr-CA" b="0" i="1" smtClean="0">
                        <a:latin typeface="Cambria Math" panose="02040503050406030204" pitchFamily="18" charset="0"/>
                      </a:rPr>
                      <m:t>é</m:t>
                    </m:r>
                    <m:r>
                      <a:rPr lang="fr-CA" b="0" i="1" smtClean="0">
                        <a:latin typeface="Cambria Math" panose="02040503050406030204" pitchFamily="18" charset="0"/>
                      </a:rPr>
                      <m:t>𝑒</m:t>
                    </m:r>
                    <m:r>
                      <a:rPr lang="fr-CA" b="0" i="1" smtClean="0">
                        <a:latin typeface="Cambria Math" panose="02040503050406030204" pitchFamily="18" charset="0"/>
                      </a:rPr>
                      <m:t> </m:t>
                    </m:r>
                    <m:r>
                      <a:rPr lang="fr-CA" b="0" i="1" smtClean="0">
                        <a:latin typeface="Cambria Math" panose="02040503050406030204" pitchFamily="18" charset="0"/>
                      </a:rPr>
                      <m:t>𝑚𝑜𝑦𝑒𝑛𝑛𝑒</m:t>
                    </m:r>
                    <m:r>
                      <a:rPr lang="fr-CA" b="0" i="1" smtClean="0">
                        <a:latin typeface="Cambria Math" panose="02040503050406030204" pitchFamily="18" charset="0"/>
                      </a:rPr>
                      <m:t> </m:t>
                    </m:r>
                    <m:r>
                      <a:rPr lang="fr-CA" b="0" i="1" smtClean="0">
                        <a:latin typeface="Cambria Math" panose="02040503050406030204" pitchFamily="18" charset="0"/>
                      </a:rPr>
                      <m:t>𝑑𝑒</m:t>
                    </m:r>
                    <m:r>
                      <a:rPr lang="fr-CA" b="0" i="1" smtClean="0">
                        <a:latin typeface="Cambria Math" panose="02040503050406030204" pitchFamily="18" charset="0"/>
                      </a:rPr>
                      <m:t> </m:t>
                    </m:r>
                    <m:r>
                      <a:rPr lang="fr-CA" b="0" i="1" smtClean="0">
                        <a:latin typeface="Cambria Math" panose="02040503050406030204" pitchFamily="18" charset="0"/>
                      </a:rPr>
                      <m:t>𝑠</m:t>
                    </m:r>
                    <m:r>
                      <a:rPr lang="fr-CA" b="0" i="1" smtClean="0">
                        <a:latin typeface="Cambria Math" panose="02040503050406030204" pitchFamily="18" charset="0"/>
                      </a:rPr>
                      <m:t>é</m:t>
                    </m:r>
                    <m:r>
                      <a:rPr lang="fr-CA" b="0" i="1" smtClean="0">
                        <a:latin typeface="Cambria Math" panose="02040503050406030204" pitchFamily="18" charset="0"/>
                      </a:rPr>
                      <m:t>𝑗𝑜𝑢𝑟</m:t>
                    </m:r>
                    <m:r>
                      <a:rPr lang="fr-CA" b="0" i="1" smtClean="0">
                        <a:latin typeface="Cambria Math" panose="02040503050406030204" pitchFamily="18" charset="0"/>
                      </a:rPr>
                      <m:t> </m:t>
                    </m:r>
                    <m:r>
                      <a:rPr lang="fr-CA" b="0" i="1" smtClean="0">
                        <a:latin typeface="Cambria Math" panose="02040503050406030204" pitchFamily="18" charset="0"/>
                      </a:rPr>
                      <m:t>𝑑𝑒</m:t>
                    </m:r>
                    <m:r>
                      <a:rPr lang="fr-CA" b="0" i="1" smtClean="0">
                        <a:latin typeface="Cambria Math" panose="02040503050406030204" pitchFamily="18" charset="0"/>
                      </a:rPr>
                      <m:t> </m:t>
                    </m:r>
                    <m:r>
                      <a:rPr lang="fr-CA" b="0" i="1" smtClean="0">
                        <a:latin typeface="Cambria Math" panose="02040503050406030204" pitchFamily="18" charset="0"/>
                      </a:rPr>
                      <m:t>𝑐𝑒𝑡</m:t>
                    </m:r>
                    <m:r>
                      <a:rPr lang="fr-CA" b="0" i="1" smtClean="0">
                        <a:latin typeface="Cambria Math" panose="02040503050406030204" pitchFamily="18" charset="0"/>
                      </a:rPr>
                      <m:t> </m:t>
                    </m:r>
                  </m:oMath>
                </a14:m>
                <a:r>
                  <a:rPr lang="fr-CA" dirty="0"/>
                  <a:t>échantillon sera normalement distribuée d’après le (TCL) avec une moyenne de 8,3 jours et un écart type égal à </a:t>
                </a:r>
                <a14:m>
                  <m:oMath xmlns:m="http://schemas.openxmlformats.org/officeDocument/2006/math">
                    <m:f>
                      <m:fPr>
                        <m:ctrlPr>
                          <a:rPr lang="fr-CA" i="1" smtClean="0">
                            <a:latin typeface="Cambria Math" panose="02040503050406030204" pitchFamily="18" charset="0"/>
                          </a:rPr>
                        </m:ctrlPr>
                      </m:fPr>
                      <m:num>
                        <m:r>
                          <a:rPr lang="fr-CA" b="0" i="1" smtClean="0">
                            <a:latin typeface="Cambria Math" panose="02040503050406030204" pitchFamily="18" charset="0"/>
                          </a:rPr>
                          <m:t>3.6</m:t>
                        </m:r>
                      </m:num>
                      <m:den>
                        <m:rad>
                          <m:radPr>
                            <m:degHide m:val="on"/>
                            <m:ctrlPr>
                              <a:rPr lang="fr-CA" i="1" smtClean="0">
                                <a:latin typeface="Cambria Math" panose="02040503050406030204" pitchFamily="18" charset="0"/>
                              </a:rPr>
                            </m:ctrlPr>
                          </m:radPr>
                          <m:deg/>
                          <m:e>
                            <m:r>
                              <a:rPr lang="fr-CA" b="0" i="1" smtClean="0">
                                <a:latin typeface="Cambria Math" panose="02040503050406030204" pitchFamily="18" charset="0"/>
                              </a:rPr>
                              <m:t>49</m:t>
                            </m:r>
                          </m:e>
                        </m:rad>
                      </m:den>
                    </m:f>
                  </m:oMath>
                </a14:m>
                <a:r>
                  <a:rPr lang="fr-CA" dirty="0"/>
                  <a:t>=0,5143 jours..</a:t>
                </a:r>
              </a:p>
              <a:p>
                <a:pPr marL="342900" indent="-342900">
                  <a:buAutoNum type="alphaLcParenBoth"/>
                </a:pPr>
                <a:r>
                  <a:rPr lang="fr-CA" dirty="0"/>
                  <a:t>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ea typeface="Cambria Math" panose="02040503050406030204" pitchFamily="18" charset="0"/>
                          </a:rPr>
                          <m:t>&gt;9</m:t>
                        </m:r>
                      </m:e>
                    </m:d>
                    <m:r>
                      <a:rPr lang="fr-CA" b="0" i="1" smtClean="0">
                        <a:latin typeface="Cambria Math" panose="02040503050406030204" pitchFamily="18" charset="0"/>
                        <a:ea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𝑃</m:t>
                    </m:r>
                    <m:d>
                      <m:dPr>
                        <m:ctrlPr>
                          <a:rPr lang="fr-CA" b="0" i="1" smtClean="0">
                            <a:latin typeface="Cambria Math" panose="02040503050406030204" pitchFamily="18" charset="0"/>
                            <a:ea typeface="Cambria Math" panose="02040503050406030204" pitchFamily="18" charset="0"/>
                          </a:rPr>
                        </m:ctrlPr>
                      </m:dPr>
                      <m:e>
                        <m:acc>
                          <m:accPr>
                            <m:chr m:val="̅"/>
                            <m:ctrlPr>
                              <a:rPr lang="fr-CA" b="0" i="1" smtClean="0">
                                <a:latin typeface="Cambria Math" panose="02040503050406030204" pitchFamily="18" charset="0"/>
                                <a:ea typeface="Cambria Math" panose="02040503050406030204" pitchFamily="18" charset="0"/>
                              </a:rPr>
                            </m:ctrlPr>
                          </m:accPr>
                          <m:e>
                            <m:r>
                              <a:rPr lang="fr-CA" b="0" i="1" smtClean="0">
                                <a:latin typeface="Cambria Math" panose="02040503050406030204" pitchFamily="18" charset="0"/>
                                <a:ea typeface="Cambria Math" panose="02040503050406030204" pitchFamily="18" charset="0"/>
                              </a:rPr>
                              <m:t>𝑋</m:t>
                            </m:r>
                          </m:e>
                        </m:acc>
                        <m:r>
                          <a:rPr lang="fr-CA" b="0" i="1" smtClean="0">
                            <a:latin typeface="Cambria Math" panose="02040503050406030204" pitchFamily="18" charset="0"/>
                            <a:ea typeface="Cambria Math" panose="02040503050406030204" pitchFamily="18" charset="0"/>
                          </a:rPr>
                          <m:t>&lt;9</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   1−</m:t>
                    </m:r>
                    <m:r>
                      <a:rPr lang="fr-CA" b="0" i="1" smtClean="0">
                        <a:latin typeface="Cambria Math" panose="02040503050406030204" pitchFamily="18" charset="0"/>
                        <a:ea typeface="Cambria Math" panose="02040503050406030204" pitchFamily="18" charset="0"/>
                      </a:rPr>
                      <m:t>𝑝𝑛𝑜𝑟𝑚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9,8,3,0.5143</m:t>
                        </m:r>
                      </m:e>
                    </m:d>
                    <m:r>
                      <a:rPr lang="fr-CA" b="0" i="1" smtClean="0">
                        <a:latin typeface="Cambria Math" panose="02040503050406030204" pitchFamily="18" charset="0"/>
                        <a:ea typeface="Cambria Math" panose="02040503050406030204" pitchFamily="18" charset="0"/>
                      </a:rPr>
                      <m:t>   </m:t>
                    </m:r>
                  </m:oMath>
                </a14:m>
                <a:r>
                  <a:rPr lang="fr-CA" dirty="0"/>
                  <a:t>  et on obtient:  0,02964352</a:t>
                </a:r>
              </a:p>
            </p:txBody>
          </p:sp>
        </mc:Choice>
        <mc:Fallback xmlns="">
          <p:sp>
            <p:nvSpPr>
              <p:cNvPr id="5" name="ZoneTexte 4">
                <a:extLst>
                  <a:ext uri="{FF2B5EF4-FFF2-40B4-BE49-F238E27FC236}">
                    <a16:creationId xmlns:a16="http://schemas.microsoft.com/office/drawing/2014/main" id="{A92FB7CB-1E73-4140-87AB-1D9B24517768}"/>
                  </a:ext>
                </a:extLst>
              </p:cNvPr>
              <p:cNvSpPr txBox="1">
                <a:spLocks noRot="1" noChangeAspect="1" noMove="1" noResize="1" noEditPoints="1" noAdjustHandles="1" noChangeArrowheads="1" noChangeShapeType="1" noTextEdit="1"/>
              </p:cNvSpPr>
              <p:nvPr/>
            </p:nvSpPr>
            <p:spPr>
              <a:xfrm>
                <a:off x="1102659" y="3079376"/>
                <a:ext cx="10354235" cy="2163669"/>
              </a:xfrm>
              <a:prstGeom prst="rect">
                <a:avLst/>
              </a:prstGeom>
              <a:blipFill>
                <a:blip r:embed="rId2"/>
                <a:stretch>
                  <a:fillRect l="-530" t="-1408" r="-824" b="-3662"/>
                </a:stretch>
              </a:blipFill>
            </p:spPr>
            <p:txBody>
              <a:bodyPr/>
              <a:lstStyle/>
              <a:p>
                <a:r>
                  <a:rPr lang="fr-CA">
                    <a:noFill/>
                  </a:rPr>
                  <a:t> </a:t>
                </a:r>
              </a:p>
            </p:txBody>
          </p:sp>
        </mc:Fallback>
      </mc:AlternateContent>
    </p:spTree>
    <p:extLst>
      <p:ext uri="{BB962C8B-B14F-4D97-AF65-F5344CB8AC3E}">
        <p14:creationId xmlns:p14="http://schemas.microsoft.com/office/powerpoint/2010/main" val="1088307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C12E70-EE45-4635-A6D2-DDD8ABE12C3D}"/>
              </a:ext>
            </a:extLst>
          </p:cNvPr>
          <p:cNvSpPr>
            <a:spLocks noGrp="1"/>
          </p:cNvSpPr>
          <p:nvPr>
            <p:ph type="title"/>
          </p:nvPr>
        </p:nvSpPr>
        <p:spPr>
          <a:xfrm>
            <a:off x="838200" y="365125"/>
            <a:ext cx="10515600" cy="1813299"/>
          </a:xfrm>
        </p:spPr>
        <p:txBody>
          <a:bodyPr>
            <a:normAutofit/>
          </a:bodyPr>
          <a:lstStyle/>
          <a:p>
            <a:r>
              <a:rPr lang="fr-CA" dirty="0"/>
              <a:t>Exemple 3: </a:t>
            </a:r>
            <a:r>
              <a:rPr lang="fr-FR" sz="1800" dirty="0">
                <a:solidFill>
                  <a:srgbClr val="000000"/>
                </a:solidFill>
                <a:effectLst/>
                <a:latin typeface="Times New Roman" panose="02020603050405020304" pitchFamily="18" charset="0"/>
                <a:ea typeface="Times New Roman" panose="02020603050405020304" pitchFamily="18" charset="0"/>
              </a:rPr>
              <a:t>On suppose que 78 % des graines d’un certain type de blé germent. Si on sélectionne au hasard 340 graines de ce type de blé, quelle est la probabilité que la proportion de graines de cet échantillon qui germera soit comprise entre 77,8 % et 78,5 %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1A7BB154-7B96-42BC-8A66-A695247CEAD8}"/>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5FDB7005-68BF-4417-836A-926287026B31}"/>
              </a:ext>
            </a:extLst>
          </p:cNvPr>
          <p:cNvSpPr>
            <a:spLocks noGrp="1"/>
          </p:cNvSpPr>
          <p:nvPr>
            <p:ph type="sldNum" sz="quarter" idx="12"/>
          </p:nvPr>
        </p:nvSpPr>
        <p:spPr/>
        <p:txBody>
          <a:bodyPr/>
          <a:lstStyle/>
          <a:p>
            <a:fld id="{26377AD9-CE17-438C-A638-C64D2D42D7CF}" type="slidenum">
              <a:rPr lang="fr-CA" smtClean="0"/>
              <a:t>6</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E54EA337-AB9D-46F9-8D91-57357F62712D}"/>
                  </a:ext>
                </a:extLst>
              </p:cNvPr>
              <p:cNvSpPr txBox="1"/>
              <p:nvPr/>
            </p:nvSpPr>
            <p:spPr>
              <a:xfrm>
                <a:off x="968188" y="2770094"/>
                <a:ext cx="9977718" cy="2041008"/>
              </a:xfrm>
              <a:prstGeom prst="rect">
                <a:avLst/>
              </a:prstGeom>
              <a:noFill/>
            </p:spPr>
            <p:txBody>
              <a:bodyPr wrap="square" rtlCol="0">
                <a:spAutoFit/>
              </a:bodyPr>
              <a:lstStyle/>
              <a:p>
                <a:r>
                  <a:rPr lang="fr-CA" b="1" dirty="0"/>
                  <a:t>Réponse:</a:t>
                </a:r>
                <a:r>
                  <a:rPr lang="fr-CA" dirty="0"/>
                  <a:t> On doit d’abord vérifier les conditions: </a:t>
                </a:r>
                <a14:m>
                  <m:oMath xmlns:m="http://schemas.openxmlformats.org/officeDocument/2006/math">
                    <m:r>
                      <a:rPr lang="fr-CA" b="0" i="1" smtClean="0">
                        <a:latin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&gt;30   </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𝑜𝑢𝑖</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𝑝</m:t>
                    </m:r>
                    <m:r>
                      <a:rPr lang="fr-CA" b="0" i="1" smtClean="0">
                        <a:latin typeface="Cambria Math" panose="02040503050406030204" pitchFamily="18" charset="0"/>
                        <a:ea typeface="Cambria Math" panose="02040503050406030204" pitchFamily="18" charset="0"/>
                      </a:rPr>
                      <m:t>=340∗0,78&gt;5 </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𝑜𝑢𝑖</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𝑞</m:t>
                    </m:r>
                    <m:r>
                      <a:rPr lang="fr-CA" b="0" i="1" smtClean="0">
                        <a:latin typeface="Cambria Math" panose="02040503050406030204" pitchFamily="18" charset="0"/>
                        <a:ea typeface="Cambria Math" panose="02040503050406030204" pitchFamily="18" charset="0"/>
                      </a:rPr>
                      <m:t>=340</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1−0,78</m:t>
                        </m:r>
                      </m:e>
                    </m:d>
                    <m:r>
                      <a:rPr lang="fr-CA" b="0" i="1" smtClean="0">
                        <a:latin typeface="Cambria Math" panose="02040503050406030204" pitchFamily="18" charset="0"/>
                        <a:ea typeface="Cambria Math" panose="02040503050406030204" pitchFamily="18" charset="0"/>
                      </a:rPr>
                      <m:t>&gt;5</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𝑜𝑢𝑖</m:t>
                        </m:r>
                      </m:e>
                    </m:d>
                    <m:r>
                      <a:rPr lang="fr-CA" b="0" i="1" smtClean="0">
                        <a:latin typeface="Cambria Math" panose="02040503050406030204" pitchFamily="18" charset="0"/>
                        <a:ea typeface="Cambria Math" panose="02040503050406030204" pitchFamily="18" charset="0"/>
                      </a:rPr>
                      <m:t>.</m:t>
                    </m:r>
                  </m:oMath>
                </a14:m>
                <a:r>
                  <a:rPr lang="fr-CA" dirty="0"/>
                  <a:t>  Alors d’après le (TCL) on a la proportion des graines de l’échantillon qui germent :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𝑝</m:t>
                        </m:r>
                      </m:e>
                    </m:acc>
                    <m:r>
                      <a:rPr lang="fr-CA" b="0" i="1" smtClean="0">
                        <a:latin typeface="Cambria Math" panose="02040503050406030204" pitchFamily="18" charset="0"/>
                      </a:rPr>
                      <m:t>    </m:t>
                    </m:r>
                    <m:r>
                      <a:rPr lang="fr-CA" b="0" i="1" smtClean="0">
                        <a:latin typeface="Cambria Math" panose="02040503050406030204" pitchFamily="18" charset="0"/>
                      </a:rPr>
                      <m:t>𝑒𝑠𝑡</m:t>
                    </m:r>
                    <m:r>
                      <a:rPr lang="fr-CA" b="0" i="1" smtClean="0">
                        <a:latin typeface="Cambria Math" panose="02040503050406030204" pitchFamily="18" charset="0"/>
                      </a:rPr>
                      <m:t> </m:t>
                    </m:r>
                    <m:r>
                      <a:rPr lang="fr-CA" b="0" i="1" smtClean="0">
                        <a:latin typeface="Cambria Math" panose="02040503050406030204" pitchFamily="18" charset="0"/>
                      </a:rPr>
                      <m:t>𝑛𝑜𝑟𝑚𝑎𝑙𝑒𝑚𝑡</m:t>
                    </m:r>
                    <m:r>
                      <a:rPr lang="fr-CA" b="0" i="1" smtClean="0">
                        <a:latin typeface="Cambria Math" panose="02040503050406030204" pitchFamily="18" charset="0"/>
                      </a:rPr>
                      <m:t> </m:t>
                    </m:r>
                    <m:r>
                      <a:rPr lang="fr-CA" b="0" i="1" smtClean="0">
                        <a:latin typeface="Cambria Math" panose="02040503050406030204" pitchFamily="18" charset="0"/>
                      </a:rPr>
                      <m:t>𝑑𝑖𝑠𝑡𝑟𝑖𝑏𝑢</m:t>
                    </m:r>
                    <m:r>
                      <a:rPr lang="fr-CA" b="0" i="1" smtClean="0">
                        <a:latin typeface="Cambria Math" panose="02040503050406030204" pitchFamily="18" charset="0"/>
                      </a:rPr>
                      <m:t>é</m:t>
                    </m:r>
                    <m:r>
                      <a:rPr lang="fr-CA" b="0" i="1" smtClean="0">
                        <a:latin typeface="Cambria Math" panose="02040503050406030204" pitchFamily="18" charset="0"/>
                      </a:rPr>
                      <m:t>𝑒</m:t>
                    </m:r>
                    <m:r>
                      <a:rPr lang="fr-CA" b="0" i="1" smtClean="0">
                        <a:latin typeface="Cambria Math" panose="02040503050406030204" pitchFamily="18" charset="0"/>
                      </a:rPr>
                      <m:t>   </m:t>
                    </m:r>
                    <m:r>
                      <a:rPr lang="fr-CA" b="0" i="1" smtClean="0">
                        <a:latin typeface="Cambria Math" panose="02040503050406030204" pitchFamily="18" charset="0"/>
                      </a:rPr>
                      <m:t>𝑎𝑣𝑒𝑐</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𝑚𝑜𝑦𝑒𝑛𝑛𝑒</m:t>
                    </m:r>
                    <m:r>
                      <a:rPr lang="fr-CA" b="0" i="1" smtClean="0">
                        <a:latin typeface="Cambria Math" panose="02040503050406030204" pitchFamily="18" charset="0"/>
                      </a:rPr>
                      <m:t>   </m:t>
                    </m:r>
                    <m:r>
                      <a:rPr lang="fr-CA" b="0" i="1" smtClean="0">
                        <a:latin typeface="Cambria Math" panose="02040503050406030204" pitchFamily="18" charset="0"/>
                      </a:rPr>
                      <m:t>𝑑𝑒</m:t>
                    </m:r>
                    <m:r>
                      <a:rPr lang="fr-CA" b="0" i="1" smtClean="0">
                        <a:latin typeface="Cambria Math" panose="02040503050406030204" pitchFamily="18" charset="0"/>
                      </a:rPr>
                      <m:t> 0,78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𝑢𝑛</m:t>
                    </m:r>
                    <m:r>
                      <a:rPr lang="fr-CA" b="0" i="1" smtClean="0">
                        <a:latin typeface="Cambria Math" panose="02040503050406030204" pitchFamily="18" charset="0"/>
                      </a:rPr>
                      <m:t> é</m:t>
                    </m:r>
                    <m:r>
                      <a:rPr lang="fr-CA" b="0" i="1" smtClean="0">
                        <a:latin typeface="Cambria Math" panose="02040503050406030204" pitchFamily="18" charset="0"/>
                      </a:rPr>
                      <m:t>𝑐𝑎𝑟𝑡</m:t>
                    </m:r>
                    <m:r>
                      <a:rPr lang="fr-CA" b="0" i="1" smtClean="0">
                        <a:latin typeface="Cambria Math" panose="02040503050406030204" pitchFamily="18" charset="0"/>
                      </a:rPr>
                      <m:t> </m:t>
                    </m:r>
                    <m:r>
                      <a:rPr lang="fr-CA" b="0" i="1" smtClean="0">
                        <a:latin typeface="Cambria Math" panose="02040503050406030204" pitchFamily="18" charset="0"/>
                      </a:rPr>
                      <m:t>𝑡𝑦𝑝𝑒</m:t>
                    </m:r>
                    <m:r>
                      <a:rPr lang="fr-CA" b="0" i="1" smtClean="0">
                        <a:latin typeface="Cambria Math" panose="02040503050406030204" pitchFamily="18" charset="0"/>
                      </a:rPr>
                      <m:t>    </m:t>
                    </m:r>
                    <m:rad>
                      <m:radPr>
                        <m:degHide m:val="on"/>
                        <m:ctrlPr>
                          <a:rPr lang="fr-CA" b="0" i="1" smtClean="0">
                            <a:latin typeface="Cambria Math" panose="02040503050406030204" pitchFamily="18" charset="0"/>
                          </a:rPr>
                        </m:ctrlPr>
                      </m:radPr>
                      <m:deg/>
                      <m:e>
                        <m:f>
                          <m:fPr>
                            <m:ctrlPr>
                              <a:rPr lang="fr-CA" b="0" i="1" smtClean="0">
                                <a:latin typeface="Cambria Math" panose="02040503050406030204" pitchFamily="18" charset="0"/>
                              </a:rPr>
                            </m:ctrlPr>
                          </m:fPr>
                          <m:num>
                            <m:r>
                              <a:rPr lang="fr-CA" b="0" i="1" smtClean="0">
                                <a:latin typeface="Cambria Math" panose="02040503050406030204" pitchFamily="18" charset="0"/>
                              </a:rPr>
                              <m:t>0,78∗0,22</m:t>
                            </m:r>
                          </m:num>
                          <m:den>
                            <m:r>
                              <a:rPr lang="fr-CA" b="0" i="1" smtClean="0">
                                <a:latin typeface="Cambria Math" panose="02040503050406030204" pitchFamily="18" charset="0"/>
                              </a:rPr>
                              <m:t>340</m:t>
                            </m:r>
                          </m:den>
                        </m:f>
                      </m:e>
                    </m:rad>
                    <m:r>
                      <a:rPr lang="fr-CA" b="0" i="1" smtClean="0">
                        <a:latin typeface="Cambria Math" panose="02040503050406030204" pitchFamily="18" charset="0"/>
                      </a:rPr>
                      <m:t>=0,0225</m:t>
                    </m:r>
                  </m:oMath>
                </a14:m>
                <a:r>
                  <a:rPr lang="fr-CA" dirty="0"/>
                  <a:t>.  On veut calculer  </a:t>
                </a:r>
                <a14:m>
                  <m:oMath xmlns:m="http://schemas.openxmlformats.org/officeDocument/2006/math">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0,778</m:t>
                        </m:r>
                        <m:r>
                          <a:rPr lang="fr-CA" b="0" i="1" smtClean="0">
                            <a:latin typeface="Cambria Math" panose="02040503050406030204" pitchFamily="18" charset="0"/>
                            <a:ea typeface="Cambria Math" panose="02040503050406030204" pitchFamily="18" charset="0"/>
                          </a:rPr>
                          <m:t>&lt;</m:t>
                        </m:r>
                        <m:acc>
                          <m:accPr>
                            <m:chr m:val="̂"/>
                            <m:ctrlPr>
                              <a:rPr lang="fr-CA" b="0" i="1" smtClean="0">
                                <a:latin typeface="Cambria Math" panose="02040503050406030204" pitchFamily="18" charset="0"/>
                                <a:ea typeface="Cambria Math" panose="02040503050406030204" pitchFamily="18" charset="0"/>
                              </a:rPr>
                            </m:ctrlPr>
                          </m:accPr>
                          <m:e>
                            <m:r>
                              <a:rPr lang="fr-CA" b="0" i="1" smtClean="0">
                                <a:latin typeface="Cambria Math" panose="02040503050406030204" pitchFamily="18" charset="0"/>
                                <a:ea typeface="Cambria Math" panose="02040503050406030204" pitchFamily="18" charset="0"/>
                              </a:rPr>
                              <m:t>𝑝</m:t>
                            </m:r>
                          </m:e>
                        </m:acc>
                        <m:r>
                          <a:rPr lang="fr-CA" b="0" i="1" smtClean="0">
                            <a:latin typeface="Cambria Math" panose="02040503050406030204" pitchFamily="18" charset="0"/>
                            <a:ea typeface="Cambria Math" panose="02040503050406030204" pitchFamily="18" charset="0"/>
                          </a:rPr>
                          <m:t>&lt;0,785</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m:t>
                    </m:r>
                  </m:oMath>
                </a14:m>
                <a:endParaRPr lang="fr-CA" b="0" dirty="0">
                  <a:ea typeface="Cambria Math" panose="02040503050406030204" pitchFamily="18" charset="0"/>
                </a:endParaRPr>
              </a:p>
              <a:p>
                <a:r>
                  <a:rPr lang="fr-CA" dirty="0" err="1"/>
                  <a:t>pnorm</a:t>
                </a:r>
                <a:r>
                  <a:rPr lang="fr-CA" dirty="0"/>
                  <a:t>(0.785,0.78,0.0225)-</a:t>
                </a:r>
                <a:r>
                  <a:rPr lang="fr-CA" dirty="0" err="1"/>
                  <a:t>pnorm</a:t>
                </a:r>
                <a:r>
                  <a:rPr lang="fr-CA" dirty="0"/>
                  <a:t>(0.778,0.78,0.0225)    ce qui donne:  0,1233  </a:t>
                </a:r>
              </a:p>
            </p:txBody>
          </p:sp>
        </mc:Choice>
        <mc:Fallback xmlns="">
          <p:sp>
            <p:nvSpPr>
              <p:cNvPr id="5" name="ZoneTexte 4">
                <a:extLst>
                  <a:ext uri="{FF2B5EF4-FFF2-40B4-BE49-F238E27FC236}">
                    <a16:creationId xmlns:a16="http://schemas.microsoft.com/office/drawing/2014/main" id="{E54EA337-AB9D-46F9-8D91-57357F62712D}"/>
                  </a:ext>
                </a:extLst>
              </p:cNvPr>
              <p:cNvSpPr txBox="1">
                <a:spLocks noRot="1" noChangeAspect="1" noMove="1" noResize="1" noEditPoints="1" noAdjustHandles="1" noChangeArrowheads="1" noChangeShapeType="1" noTextEdit="1"/>
              </p:cNvSpPr>
              <p:nvPr/>
            </p:nvSpPr>
            <p:spPr>
              <a:xfrm>
                <a:off x="968188" y="2770094"/>
                <a:ext cx="9977718" cy="2041008"/>
              </a:xfrm>
              <a:prstGeom prst="rect">
                <a:avLst/>
              </a:prstGeom>
              <a:blipFill>
                <a:blip r:embed="rId2"/>
                <a:stretch>
                  <a:fillRect l="-550" t="-1493" b="-3881"/>
                </a:stretch>
              </a:blipFill>
            </p:spPr>
            <p:txBody>
              <a:bodyPr/>
              <a:lstStyle/>
              <a:p>
                <a:r>
                  <a:rPr lang="fr-CA">
                    <a:noFill/>
                  </a:rPr>
                  <a:t> </a:t>
                </a:r>
              </a:p>
            </p:txBody>
          </p:sp>
        </mc:Fallback>
      </mc:AlternateContent>
    </p:spTree>
    <p:extLst>
      <p:ext uri="{BB962C8B-B14F-4D97-AF65-F5344CB8AC3E}">
        <p14:creationId xmlns:p14="http://schemas.microsoft.com/office/powerpoint/2010/main" val="4160210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146FAC-83A9-491D-9878-E542FFDF7F18}"/>
              </a:ext>
            </a:extLst>
          </p:cNvPr>
          <p:cNvSpPr>
            <a:spLocks noGrp="1"/>
          </p:cNvSpPr>
          <p:nvPr>
            <p:ph type="title"/>
          </p:nvPr>
        </p:nvSpPr>
        <p:spPr/>
        <p:txBody>
          <a:bodyPr/>
          <a:lstStyle/>
          <a:p>
            <a:r>
              <a:rPr lang="fr-CA" b="1" dirty="0"/>
              <a:t>Estimation par intervalle de confiance</a:t>
            </a:r>
            <a:r>
              <a:rPr lang="fr-CA" dirty="0"/>
              <a:t>.</a:t>
            </a:r>
          </a:p>
        </p:txBody>
      </p:sp>
      <p:sp>
        <p:nvSpPr>
          <p:cNvPr id="3" name="Espace réservé du pied de page 2">
            <a:extLst>
              <a:ext uri="{FF2B5EF4-FFF2-40B4-BE49-F238E27FC236}">
                <a16:creationId xmlns:a16="http://schemas.microsoft.com/office/drawing/2014/main" id="{4975DFDC-3903-4D2F-B6E9-5BA4968D25D9}"/>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62EF5756-FA5C-4106-AD09-235FD889A21F}"/>
              </a:ext>
            </a:extLst>
          </p:cNvPr>
          <p:cNvSpPr>
            <a:spLocks noGrp="1"/>
          </p:cNvSpPr>
          <p:nvPr>
            <p:ph type="sldNum" sz="quarter" idx="12"/>
          </p:nvPr>
        </p:nvSpPr>
        <p:spPr/>
        <p:txBody>
          <a:bodyPr/>
          <a:lstStyle/>
          <a:p>
            <a:fld id="{26377AD9-CE17-438C-A638-C64D2D42D7CF}" type="slidenum">
              <a:rPr lang="fr-CA" smtClean="0"/>
              <a:t>7</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E47067A7-15EB-4057-88BF-E63C3BA4CE58}"/>
                  </a:ext>
                </a:extLst>
              </p:cNvPr>
              <p:cNvSpPr txBox="1"/>
              <p:nvPr/>
            </p:nvSpPr>
            <p:spPr>
              <a:xfrm>
                <a:off x="416859" y="1690688"/>
                <a:ext cx="10936941" cy="4335354"/>
              </a:xfrm>
              <a:prstGeom prst="rect">
                <a:avLst/>
              </a:prstGeom>
              <a:noFill/>
            </p:spPr>
            <p:txBody>
              <a:bodyPr wrap="square" rtlCol="0">
                <a:spAutoFit/>
              </a:bodyPr>
              <a:lstStyle/>
              <a:p>
                <a:r>
                  <a:rPr lang="fr-CA" dirty="0"/>
                  <a:t>Puisque les estimateurs ponctuels peuvent varier beaucoup d’un échantillon à l’autre. Ils ne sont pas donc fiables pour estimer le paramètre en question. Puisqu’en statistique, on n’est jamais sûr de notre résultat (ou de notre estimation) à 100%. On se fixe un risque maximal qu’on se permet de commettre, ce risque s’appelle seuil de signification et est noté: </a:t>
                </a:r>
                <a14:m>
                  <m:oMath xmlns:m="http://schemas.openxmlformats.org/officeDocument/2006/math">
                    <m:r>
                      <a:rPr lang="fr-CA" i="1" smtClean="0">
                        <a:latin typeface="Cambria Math" panose="02040503050406030204" pitchFamily="18" charset="0"/>
                        <a:ea typeface="Cambria Math" panose="02040503050406030204" pitchFamily="18" charset="0"/>
                      </a:rPr>
                      <m:t>𝛼</m:t>
                    </m:r>
                  </m:oMath>
                </a14:m>
                <a:r>
                  <a:rPr lang="fr-CA" dirty="0"/>
                  <a:t>. Après on essaie de trouver un intervalle </a:t>
                </a:r>
                <a14:m>
                  <m:oMath xmlns:m="http://schemas.openxmlformats.org/officeDocument/2006/math">
                    <m:d>
                      <m:dPr>
                        <m:begChr m:val="["/>
                        <m:endChr m:val="]"/>
                        <m:ctrlPr>
                          <a:rPr lang="fr-CA" i="1" smtClean="0">
                            <a:latin typeface="Cambria Math" panose="02040503050406030204" pitchFamily="18" charset="0"/>
                          </a:rPr>
                        </m:ctrlPr>
                      </m:dPr>
                      <m:e>
                        <m:r>
                          <a:rPr lang="fr-CA" b="0" i="1" smtClean="0">
                            <a:latin typeface="Cambria Math" panose="02040503050406030204" pitchFamily="18" charset="0"/>
                          </a:rPr>
                          <m:t>𝑎</m:t>
                        </m:r>
                        <m:r>
                          <a:rPr lang="fr-CA" b="0" i="1" smtClean="0">
                            <a:latin typeface="Cambria Math" panose="02040503050406030204" pitchFamily="18" charset="0"/>
                          </a:rPr>
                          <m:t>;</m:t>
                        </m:r>
                        <m:r>
                          <a:rPr lang="fr-CA" b="0" i="1" smtClean="0">
                            <a:latin typeface="Cambria Math" panose="02040503050406030204" pitchFamily="18" charset="0"/>
                          </a:rPr>
                          <m:t>𝑏</m:t>
                        </m:r>
                      </m:e>
                    </m:d>
                  </m:oMath>
                </a14:m>
                <a:r>
                  <a:rPr lang="fr-CA" dirty="0"/>
                  <a:t>  qui va contenir notre paramètre inconnu </a:t>
                </a:r>
                <a14:m>
                  <m:oMath xmlns:m="http://schemas.openxmlformats.org/officeDocument/2006/math">
                    <m:r>
                      <a:rPr lang="fr-CA" i="1">
                        <a:latin typeface="Cambria Math" panose="02040503050406030204" pitchFamily="18" charset="0"/>
                        <a:ea typeface="Cambria Math" panose="02040503050406030204" pitchFamily="18" charset="0"/>
                      </a:rPr>
                      <m:t>𝜃</m:t>
                    </m:r>
                    <m:r>
                      <a:rPr lang="fr-CA" i="1">
                        <a:latin typeface="Cambria Math" panose="02040503050406030204" pitchFamily="18" charset="0"/>
                        <a:ea typeface="Cambria Math" panose="02040503050406030204" pitchFamily="18" charset="0"/>
                      </a:rPr>
                      <m:t> </m:t>
                    </m:r>
                  </m:oMath>
                </a14:m>
                <a:r>
                  <a:rPr lang="fr-CA" dirty="0"/>
                  <a:t> avec une probabilité </a:t>
                </a:r>
                <a14:m>
                  <m:oMath xmlns:m="http://schemas.openxmlformats.org/officeDocument/2006/math">
                    <m:d>
                      <m:dPr>
                        <m:ctrlPr>
                          <a:rPr lang="fr-CA" b="0" i="1" smtClean="0">
                            <a:latin typeface="Cambria Math" panose="02040503050406030204" pitchFamily="18" charset="0"/>
                          </a:rPr>
                        </m:ctrlPr>
                      </m:dPr>
                      <m:e>
                        <m:r>
                          <a:rPr lang="fr-CA" b="0" i="1" smtClean="0">
                            <a:latin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𝛼</m:t>
                        </m:r>
                      </m:e>
                    </m:d>
                    <m:r>
                      <a:rPr lang="fr-CA" b="0" i="1" smtClean="0">
                        <a:latin typeface="Cambria Math" panose="02040503050406030204" pitchFamily="18" charset="0"/>
                        <a:ea typeface="Cambria Math" panose="02040503050406030204" pitchFamily="18" charset="0"/>
                      </a:rPr>
                      <m:t>%</m:t>
                    </m:r>
                  </m:oMath>
                </a14:m>
                <a:r>
                  <a:rPr lang="fr-CA" dirty="0"/>
                  <a:t>, une fois trouvé, cet intervalle va s’appeler intervalle de confiance de niveau </a:t>
                </a:r>
                <a14:m>
                  <m:oMath xmlns:m="http://schemas.openxmlformats.org/officeDocument/2006/math">
                    <m:d>
                      <m:dPr>
                        <m:ctrlPr>
                          <a:rPr lang="fr-CA" i="1">
                            <a:latin typeface="Cambria Math" panose="02040503050406030204" pitchFamily="18" charset="0"/>
                          </a:rPr>
                        </m:ctrlPr>
                      </m:dPr>
                      <m:e>
                        <m:r>
                          <a:rPr lang="fr-CA" i="1">
                            <a:latin typeface="Cambria Math" panose="02040503050406030204" pitchFamily="18" charset="0"/>
                          </a:rPr>
                          <m:t>1−</m:t>
                        </m:r>
                        <m:r>
                          <a:rPr lang="fr-CA" i="1">
                            <a:latin typeface="Cambria Math" panose="02040503050406030204" pitchFamily="18" charset="0"/>
                            <a:ea typeface="Cambria Math" panose="02040503050406030204" pitchFamily="18" charset="0"/>
                          </a:rPr>
                          <m:t>𝛼</m:t>
                        </m:r>
                      </m:e>
                    </m:d>
                    <m:r>
                      <a:rPr lang="fr-CA" i="1">
                        <a:latin typeface="Cambria Math" panose="02040503050406030204" pitchFamily="18" charset="0"/>
                        <a:ea typeface="Cambria Math" panose="02040503050406030204" pitchFamily="18" charset="0"/>
                      </a:rPr>
                      <m:t>%</m:t>
                    </m:r>
                  </m:oMath>
                </a14:m>
                <a:r>
                  <a:rPr lang="fr-CA" dirty="0"/>
                  <a:t> pour le paramètre inconnu </a:t>
                </a:r>
                <a14:m>
                  <m:oMath xmlns:m="http://schemas.openxmlformats.org/officeDocument/2006/math">
                    <m:r>
                      <a:rPr lang="fr-CA" i="1" smtClean="0">
                        <a:latin typeface="Cambria Math" panose="02040503050406030204" pitchFamily="18" charset="0"/>
                        <a:ea typeface="Cambria Math" panose="02040503050406030204" pitchFamily="18" charset="0"/>
                      </a:rPr>
                      <m:t>𝜃</m:t>
                    </m:r>
                    <m:r>
                      <a:rPr lang="fr-CA" b="0" i="1" smtClean="0">
                        <a:latin typeface="Cambria Math" panose="02040503050406030204" pitchFamily="18" charset="0"/>
                        <a:ea typeface="Cambria Math" panose="02040503050406030204" pitchFamily="18" charset="0"/>
                      </a:rPr>
                      <m:t>.</m:t>
                    </m:r>
                  </m:oMath>
                </a14:m>
                <a:endParaRPr lang="fr-CA" dirty="0"/>
              </a:p>
              <a:p>
                <a:endParaRPr lang="fr-CA" dirty="0"/>
              </a:p>
              <a:p>
                <a:r>
                  <a:rPr lang="fr-CA" dirty="0"/>
                  <a:t>Soit X, une variable aléatoire avec une moyenne </a:t>
                </a:r>
                <a14:m>
                  <m:oMath xmlns:m="http://schemas.openxmlformats.org/officeDocument/2006/math">
                    <m:sSub>
                      <m:sSubPr>
                        <m:ctrlPr>
                          <a:rPr lang="fr-CA" i="1" smtClean="0">
                            <a:latin typeface="Cambria Math" panose="02040503050406030204" pitchFamily="18" charset="0"/>
                          </a:rPr>
                        </m:ctrlPr>
                      </m:sSubPr>
                      <m:e>
                        <m:r>
                          <a:rPr lang="fr-CA"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r>
                      <a:rPr lang="fr-CA" b="0" i="1" smtClean="0">
                        <a:latin typeface="Cambria Math" panose="02040503050406030204" pitchFamily="18" charset="0"/>
                      </a:rPr>
                      <m:t> </m:t>
                    </m:r>
                    <m:r>
                      <a:rPr lang="fr-CA" b="0" i="1" smtClean="0">
                        <a:latin typeface="Cambria Math" panose="02040503050406030204" pitchFamily="18" charset="0"/>
                      </a:rPr>
                      <m:t>𝑒𝑡</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𝑣𝑎𝑟𝑖𝑎𝑛𝑐𝑒</m:t>
                    </m:r>
                    <m:r>
                      <a:rPr lang="fr-CA" b="0" i="1" smtClean="0">
                        <a:latin typeface="Cambria Math" panose="02040503050406030204" pitchFamily="18" charset="0"/>
                      </a:rPr>
                      <m:t>   </m:t>
                    </m:r>
                    <m:sSubSup>
                      <m:sSubSupPr>
                        <m:ctrlPr>
                          <a:rPr lang="fr-CA" b="0" i="1" smtClean="0">
                            <a:latin typeface="Cambria Math" panose="02040503050406030204" pitchFamily="18" charset="0"/>
                          </a:rPr>
                        </m:ctrlPr>
                      </m:sSubSup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up>
                        <m:r>
                          <a:rPr lang="fr-CA" b="0" i="1" smtClean="0">
                            <a:latin typeface="Cambria Math" panose="02040503050406030204" pitchFamily="18" charset="0"/>
                          </a:rPr>
                          <m:t>2</m:t>
                        </m:r>
                      </m:sup>
                    </m:sSubSup>
                  </m:oMath>
                </a14:m>
                <a:r>
                  <a:rPr lang="fr-CA" dirty="0"/>
                  <a:t>. On veut estimer sa moyenne avec intervalle de confiance. Alors il y a 3 cas possibles.</a:t>
                </a:r>
              </a:p>
              <a:p>
                <a:endParaRPr lang="fr-CA" dirty="0"/>
              </a:p>
              <a:p>
                <a:r>
                  <a:rPr lang="fr-CA" b="1" dirty="0">
                    <a:solidFill>
                      <a:srgbClr val="FF0000"/>
                    </a:solidFill>
                  </a:rPr>
                  <a:t>Cas1: </a:t>
                </a:r>
                <a:r>
                  <a:rPr lang="fr-CA" b="1" dirty="0"/>
                  <a:t>La variable X est normale et sa variance </a:t>
                </a:r>
                <a14:m>
                  <m:oMath xmlns:m="http://schemas.openxmlformats.org/officeDocument/2006/math">
                    <m:sSubSup>
                      <m:sSubSupPr>
                        <m:ctrlPr>
                          <a:rPr lang="fr-CA" b="1" i="1" smtClean="0">
                            <a:latin typeface="Cambria Math" panose="02040503050406030204" pitchFamily="18" charset="0"/>
                          </a:rPr>
                        </m:ctrlPr>
                      </m:sSubSupPr>
                      <m:e>
                        <m:r>
                          <a:rPr lang="fr-CA" b="1" i="1" smtClean="0">
                            <a:latin typeface="Cambria Math" panose="02040503050406030204" pitchFamily="18" charset="0"/>
                            <a:ea typeface="Cambria Math" panose="02040503050406030204" pitchFamily="18" charset="0"/>
                          </a:rPr>
                          <m:t>𝝈</m:t>
                        </m:r>
                      </m:e>
                      <m:sub>
                        <m:r>
                          <a:rPr lang="fr-CA" b="1" i="1" smtClean="0">
                            <a:latin typeface="Cambria Math" panose="02040503050406030204" pitchFamily="18" charset="0"/>
                          </a:rPr>
                          <m:t>𝑿</m:t>
                        </m:r>
                      </m:sub>
                      <m:sup>
                        <m:r>
                          <a:rPr lang="fr-CA" b="1" i="1" smtClean="0">
                            <a:latin typeface="Cambria Math" panose="02040503050406030204" pitchFamily="18" charset="0"/>
                          </a:rPr>
                          <m:t>𝟐</m:t>
                        </m:r>
                      </m:sup>
                    </m:sSubSup>
                  </m:oMath>
                </a14:m>
                <a:r>
                  <a:rPr lang="fr-CA" b="1" dirty="0"/>
                  <a:t> est connue.</a:t>
                </a:r>
              </a:p>
              <a:p>
                <a:endParaRPr lang="fr-CA" b="1" dirty="0"/>
              </a:p>
              <a:p>
                <a:r>
                  <a:rPr lang="fr-CA" b="1" dirty="0"/>
                  <a:t> </a:t>
                </a:r>
                <a:r>
                  <a:rPr lang="fr-CA" dirty="0"/>
                  <a:t>Alors on sait que pour n’importe quelle taille de l’échantillon n, la moyenne </a:t>
                </a:r>
                <a14:m>
                  <m:oMath xmlns:m="http://schemas.openxmlformats.org/officeDocument/2006/math">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rPr>
                      <m:t> </m:t>
                    </m:r>
                    <m:r>
                      <a:rPr lang="fr-CA" b="0" i="1" smtClean="0">
                        <a:latin typeface="Cambria Math" panose="02040503050406030204" pitchFamily="18" charset="0"/>
                      </a:rPr>
                      <m:t>𝑣𝑎</m:t>
                    </m:r>
                    <m:r>
                      <a:rPr lang="fr-CA" b="0" i="1" smtClean="0">
                        <a:latin typeface="Cambria Math" panose="02040503050406030204" pitchFamily="18" charset="0"/>
                      </a:rPr>
                      <m:t> </m:t>
                    </m:r>
                    <m:r>
                      <a:rPr lang="fr-CA" b="0" i="1" smtClean="0">
                        <a:latin typeface="Cambria Math" panose="02040503050406030204" pitchFamily="18" charset="0"/>
                      </a:rPr>
                      <m:t>𝑠𝑢𝑖𝑣𝑟𝑒</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𝑑𝑖𝑠𝑡𝑟𝑖𝑏𝑢𝑡𝑖𝑜𝑛</m:t>
                    </m:r>
                    <m:r>
                      <a:rPr lang="fr-CA" b="0" i="1" smtClean="0">
                        <a:latin typeface="Cambria Math" panose="02040503050406030204" pitchFamily="18" charset="0"/>
                      </a:rPr>
                      <m:t> </m:t>
                    </m:r>
                  </m:oMath>
                </a14:m>
                <a:endParaRPr lang="fr-CA" b="0" dirty="0"/>
              </a:p>
              <a:p>
                <a:pPr/>
                <a14:m>
                  <m:oMathPara xmlns:m="http://schemas.openxmlformats.org/officeDocument/2006/math">
                    <m:oMathParaPr>
                      <m:jc m:val="centerGroup"/>
                    </m:oMathParaPr>
                    <m:oMath xmlns:m="http://schemas.openxmlformats.org/officeDocument/2006/math">
                      <m:r>
                        <a:rPr lang="fr-CA" b="1" i="1" smtClean="0">
                          <a:latin typeface="Cambria Math" panose="02040503050406030204" pitchFamily="18" charset="0"/>
                          <a:ea typeface="Cambria Math" panose="02040503050406030204" pitchFamily="18" charset="0"/>
                        </a:rPr>
                        <m:t>𝓝</m:t>
                      </m:r>
                      <m:r>
                        <a:rPr lang="fr-CA" b="1" i="1" smtClean="0">
                          <a:latin typeface="Cambria Math" panose="02040503050406030204" pitchFamily="18" charset="0"/>
                          <a:ea typeface="Cambria Math" panose="02040503050406030204" pitchFamily="18" charset="0"/>
                        </a:rPr>
                        <m:t>(</m:t>
                      </m:r>
                      <m:sSub>
                        <m:sSubPr>
                          <m:ctrlPr>
                            <a:rPr lang="fr-CA" b="1" i="1" smtClean="0">
                              <a:latin typeface="Cambria Math" panose="02040503050406030204" pitchFamily="18" charset="0"/>
                              <a:ea typeface="Cambria Math" panose="02040503050406030204" pitchFamily="18" charset="0"/>
                            </a:rPr>
                          </m:ctrlPr>
                        </m:sSubPr>
                        <m:e>
                          <m:r>
                            <a:rPr lang="fr-CA" b="1" i="1" smtClean="0">
                              <a:latin typeface="Cambria Math" panose="02040503050406030204" pitchFamily="18" charset="0"/>
                              <a:ea typeface="Cambria Math" panose="02040503050406030204" pitchFamily="18" charset="0"/>
                            </a:rPr>
                            <m:t>𝝁</m:t>
                          </m:r>
                        </m:e>
                        <m:sub>
                          <m:r>
                            <a:rPr lang="fr-CA" b="1" i="1" smtClean="0">
                              <a:latin typeface="Cambria Math" panose="02040503050406030204" pitchFamily="18" charset="0"/>
                              <a:ea typeface="Cambria Math" panose="02040503050406030204" pitchFamily="18" charset="0"/>
                            </a:rPr>
                            <m:t>𝑿</m:t>
                          </m:r>
                        </m:sub>
                      </m:sSub>
                      <m:r>
                        <a:rPr lang="fr-CA" b="1" i="1" smtClean="0">
                          <a:latin typeface="Cambria Math" panose="02040503050406030204" pitchFamily="18" charset="0"/>
                          <a:ea typeface="Cambria Math" panose="02040503050406030204" pitchFamily="18" charset="0"/>
                        </a:rPr>
                        <m:t>; </m:t>
                      </m:r>
                      <m:f>
                        <m:fPr>
                          <m:ctrlPr>
                            <a:rPr lang="fr-CA" b="1" i="1" smtClean="0">
                              <a:latin typeface="Cambria Math" panose="02040503050406030204" pitchFamily="18" charset="0"/>
                              <a:ea typeface="Cambria Math" panose="02040503050406030204" pitchFamily="18" charset="0"/>
                            </a:rPr>
                          </m:ctrlPr>
                        </m:fPr>
                        <m:num>
                          <m:sSubSup>
                            <m:sSubSupPr>
                              <m:ctrlPr>
                                <a:rPr lang="fr-CA" b="1" i="1" smtClean="0">
                                  <a:latin typeface="Cambria Math" panose="02040503050406030204" pitchFamily="18" charset="0"/>
                                  <a:ea typeface="Cambria Math" panose="02040503050406030204" pitchFamily="18" charset="0"/>
                                </a:rPr>
                              </m:ctrlPr>
                            </m:sSubSupPr>
                            <m:e>
                              <m:r>
                                <a:rPr lang="fr-CA" b="1" i="1" smtClean="0">
                                  <a:latin typeface="Cambria Math" panose="02040503050406030204" pitchFamily="18" charset="0"/>
                                  <a:ea typeface="Cambria Math" panose="02040503050406030204" pitchFamily="18" charset="0"/>
                                </a:rPr>
                                <m:t>𝝈</m:t>
                              </m:r>
                            </m:e>
                            <m:sub>
                              <m:r>
                                <a:rPr lang="fr-CA" b="1" i="1" smtClean="0">
                                  <a:latin typeface="Cambria Math" panose="02040503050406030204" pitchFamily="18" charset="0"/>
                                  <a:ea typeface="Cambria Math" panose="02040503050406030204" pitchFamily="18" charset="0"/>
                                </a:rPr>
                                <m:t>𝑿</m:t>
                              </m:r>
                            </m:sub>
                            <m:sup>
                              <m:r>
                                <a:rPr lang="fr-CA" b="1" i="1" smtClean="0">
                                  <a:latin typeface="Cambria Math" panose="02040503050406030204" pitchFamily="18" charset="0"/>
                                  <a:ea typeface="Cambria Math" panose="02040503050406030204" pitchFamily="18" charset="0"/>
                                </a:rPr>
                                <m:t>𝟐</m:t>
                              </m:r>
                            </m:sup>
                          </m:sSubSup>
                        </m:num>
                        <m:den>
                          <m:r>
                            <a:rPr lang="fr-CA" b="1" i="1" smtClean="0">
                              <a:latin typeface="Cambria Math" panose="02040503050406030204" pitchFamily="18" charset="0"/>
                              <a:ea typeface="Cambria Math" panose="02040503050406030204" pitchFamily="18" charset="0"/>
                            </a:rPr>
                            <m:t>𝒏</m:t>
                          </m:r>
                        </m:den>
                      </m:f>
                      <m:r>
                        <a:rPr lang="fr-CA" b="1" i="1" smtClean="0">
                          <a:latin typeface="Cambria Math" panose="02040503050406030204" pitchFamily="18" charset="0"/>
                          <a:ea typeface="Cambria Math" panose="02040503050406030204" pitchFamily="18" charset="0"/>
                        </a:rPr>
                        <m:t>)</m:t>
                      </m:r>
                    </m:oMath>
                  </m:oMathPara>
                </a14:m>
                <a:endParaRPr lang="fr-CA" b="1" dirty="0"/>
              </a:p>
            </p:txBody>
          </p:sp>
        </mc:Choice>
        <mc:Fallback xmlns="">
          <p:sp>
            <p:nvSpPr>
              <p:cNvPr id="5" name="ZoneTexte 4">
                <a:extLst>
                  <a:ext uri="{FF2B5EF4-FFF2-40B4-BE49-F238E27FC236}">
                    <a16:creationId xmlns:a16="http://schemas.microsoft.com/office/drawing/2014/main" id="{E47067A7-15EB-4057-88BF-E63C3BA4CE58}"/>
                  </a:ext>
                </a:extLst>
              </p:cNvPr>
              <p:cNvSpPr txBox="1">
                <a:spLocks noRot="1" noChangeAspect="1" noMove="1" noResize="1" noEditPoints="1" noAdjustHandles="1" noChangeArrowheads="1" noChangeShapeType="1" noTextEdit="1"/>
              </p:cNvSpPr>
              <p:nvPr/>
            </p:nvSpPr>
            <p:spPr>
              <a:xfrm>
                <a:off x="416859" y="1690688"/>
                <a:ext cx="10936941" cy="4335354"/>
              </a:xfrm>
              <a:prstGeom prst="rect">
                <a:avLst/>
              </a:prstGeom>
              <a:blipFill>
                <a:blip r:embed="rId2"/>
                <a:stretch>
                  <a:fillRect l="-446" t="-702" r="-223"/>
                </a:stretch>
              </a:blipFill>
            </p:spPr>
            <p:txBody>
              <a:bodyPr/>
              <a:lstStyle/>
              <a:p>
                <a:r>
                  <a:rPr lang="fr-CA">
                    <a:noFill/>
                  </a:rPr>
                  <a:t> </a:t>
                </a:r>
              </a:p>
            </p:txBody>
          </p:sp>
        </mc:Fallback>
      </mc:AlternateContent>
    </p:spTree>
    <p:extLst>
      <p:ext uri="{BB962C8B-B14F-4D97-AF65-F5344CB8AC3E}">
        <p14:creationId xmlns:p14="http://schemas.microsoft.com/office/powerpoint/2010/main" val="19644442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1">
            <a:extLst>
              <a:ext uri="{FF2B5EF4-FFF2-40B4-BE49-F238E27FC236}">
                <a16:creationId xmlns:a16="http://schemas.microsoft.com/office/drawing/2014/main" id="{6A10F7A7-2821-47AC-BDFC-BEC6C3BC8093}"/>
              </a:ext>
            </a:extLst>
          </p:cNvPr>
          <p:cNvSpPr>
            <a:spLocks noGrp="1"/>
          </p:cNvSpPr>
          <p:nvPr>
            <p:ph type="ftr" sz="quarter" idx="11"/>
          </p:nvPr>
        </p:nvSpPr>
        <p:spPr/>
        <p:txBody>
          <a:bodyPr/>
          <a:lstStyle/>
          <a:p>
            <a:endParaRPr lang="fr-CA"/>
          </a:p>
        </p:txBody>
      </p:sp>
      <p:sp>
        <p:nvSpPr>
          <p:cNvPr id="3" name="Espace réservé du numéro de diapositive 2">
            <a:extLst>
              <a:ext uri="{FF2B5EF4-FFF2-40B4-BE49-F238E27FC236}">
                <a16:creationId xmlns:a16="http://schemas.microsoft.com/office/drawing/2014/main" id="{6F3755C5-0A9A-465A-A30F-C4BD503E35F5}"/>
              </a:ext>
            </a:extLst>
          </p:cNvPr>
          <p:cNvSpPr>
            <a:spLocks noGrp="1"/>
          </p:cNvSpPr>
          <p:nvPr>
            <p:ph type="sldNum" sz="quarter" idx="12"/>
          </p:nvPr>
        </p:nvSpPr>
        <p:spPr/>
        <p:txBody>
          <a:bodyPr/>
          <a:lstStyle/>
          <a:p>
            <a:fld id="{26377AD9-CE17-438C-A638-C64D2D42D7CF}" type="slidenum">
              <a:rPr lang="fr-CA" smtClean="0"/>
              <a:t>8</a:t>
            </a:fld>
            <a:endParaRPr lang="fr-CA"/>
          </a:p>
        </p:txBody>
      </p:sp>
      <mc:AlternateContent xmlns:mc="http://schemas.openxmlformats.org/markup-compatibility/2006" xmlns:a14="http://schemas.microsoft.com/office/drawing/2010/main">
        <mc:Choice Requires="a14">
          <p:sp>
            <p:nvSpPr>
              <p:cNvPr id="4" name="ZoneTexte 3">
                <a:extLst>
                  <a:ext uri="{FF2B5EF4-FFF2-40B4-BE49-F238E27FC236}">
                    <a16:creationId xmlns:a16="http://schemas.microsoft.com/office/drawing/2014/main" id="{9E1D8E24-DF9B-4BB3-B423-DDF0A82090F6}"/>
                  </a:ext>
                </a:extLst>
              </p:cNvPr>
              <p:cNvSpPr txBox="1"/>
              <p:nvPr/>
            </p:nvSpPr>
            <p:spPr>
              <a:xfrm>
                <a:off x="0" y="632012"/>
                <a:ext cx="11577918" cy="5609549"/>
              </a:xfrm>
              <a:prstGeom prst="rect">
                <a:avLst/>
              </a:prstGeom>
              <a:noFill/>
            </p:spPr>
            <p:txBody>
              <a:bodyPr wrap="square" rtlCol="0">
                <a:spAutoFit/>
              </a:bodyPr>
              <a:lstStyle/>
              <a:p>
                <a:r>
                  <a:rPr lang="fr-CA" dirty="0"/>
                  <a:t>Donc en standardisant, on obtient :</a:t>
                </a:r>
              </a:p>
              <a:p>
                <a:endParaRPr lang="fr-CA" dirty="0"/>
              </a:p>
              <a:p>
                <a:pPr/>
                <a14:m>
                  <m:oMathPara xmlns:m="http://schemas.openxmlformats.org/officeDocument/2006/math">
                    <m:oMathParaPr>
                      <m:jc m:val="centerGroup"/>
                    </m:oMathParaPr>
                    <m:oMath xmlns:m="http://schemas.openxmlformats.org/officeDocument/2006/math">
                      <m:r>
                        <a:rPr lang="fr-CA" b="0" i="1" smtClean="0">
                          <a:latin typeface="Cambria Math" panose="02040503050406030204" pitchFamily="18" charset="0"/>
                        </a:rPr>
                        <m:t>𝑍</m:t>
                      </m:r>
                      <m:r>
                        <a:rPr lang="fr-CA" b="0" i="1" smtClean="0">
                          <a:latin typeface="Cambria Math" panose="02040503050406030204" pitchFamily="18" charset="0"/>
                        </a:rPr>
                        <m:t>=</m:t>
                      </m:r>
                      <m:f>
                        <m:fPr>
                          <m:ctrlPr>
                            <a:rPr lang="fr-CA" b="0" i="1" smtClean="0">
                              <a:latin typeface="Cambria Math" panose="02040503050406030204" pitchFamily="18" charset="0"/>
                            </a:rPr>
                          </m:ctrlPr>
                        </m:fPr>
                        <m:num>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𝑋</m:t>
                              </m:r>
                            </m:e>
                          </m:acc>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num>
                        <m:den>
                          <m:f>
                            <m:fPr>
                              <m:ctrlPr>
                                <a:rPr lang="fr-CA" b="0" i="1" smtClean="0">
                                  <a:latin typeface="Cambria Math" panose="02040503050406030204" pitchFamily="18" charset="0"/>
                                </a:rPr>
                              </m:ctrlPr>
                            </m:fPr>
                            <m:num>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Sub>
                            </m:num>
                            <m:den>
                              <m:rad>
                                <m:radPr>
                                  <m:degHide m:val="on"/>
                                  <m:ctrlPr>
                                    <a:rPr lang="fr-CA" b="0" i="1" smtClean="0">
                                      <a:latin typeface="Cambria Math" panose="02040503050406030204" pitchFamily="18" charset="0"/>
                                    </a:rPr>
                                  </m:ctrlPr>
                                </m:radPr>
                                <m:deg/>
                                <m:e>
                                  <m:r>
                                    <a:rPr lang="fr-CA" b="0" i="1" smtClean="0">
                                      <a:latin typeface="Cambria Math" panose="02040503050406030204" pitchFamily="18" charset="0"/>
                                    </a:rPr>
                                    <m:t>𝑛</m:t>
                                  </m:r>
                                </m:e>
                              </m:rad>
                            </m:den>
                          </m:f>
                        </m:den>
                      </m:f>
                      <m:r>
                        <a:rPr lang="fr-CA" b="0" i="1" smtClean="0">
                          <a:latin typeface="Cambria Math" panose="02040503050406030204" pitchFamily="18" charset="0"/>
                        </a:rPr>
                        <m:t>     </m:t>
                      </m:r>
                      <m:r>
                        <a:rPr lang="fr-CA" b="0" i="1" smtClean="0">
                          <a:latin typeface="Cambria Math" panose="02040503050406030204" pitchFamily="18" charset="0"/>
                        </a:rPr>
                        <m:t>𝑞𝑢𝑖</m:t>
                      </m:r>
                      <m:r>
                        <a:rPr lang="fr-CA" b="0" i="1" smtClean="0">
                          <a:latin typeface="Cambria Math" panose="02040503050406030204" pitchFamily="18" charset="0"/>
                        </a:rPr>
                        <m:t> </m:t>
                      </m:r>
                      <m:r>
                        <a:rPr lang="fr-CA" b="0" i="1" smtClean="0">
                          <a:latin typeface="Cambria Math" panose="02040503050406030204" pitchFamily="18" charset="0"/>
                        </a:rPr>
                        <m:t>𝑒𝑠𝑡</m:t>
                      </m:r>
                      <m:r>
                        <a:rPr lang="fr-CA" b="0" i="1" smtClean="0">
                          <a:latin typeface="Cambria Math" panose="02040503050406030204" pitchFamily="18" charset="0"/>
                        </a:rPr>
                        <m:t> </m:t>
                      </m:r>
                      <m:r>
                        <a:rPr lang="fr-CA" b="0" i="1" smtClean="0">
                          <a:latin typeface="Cambria Math" panose="02040503050406030204" pitchFamily="18" charset="0"/>
                        </a:rPr>
                        <m:t>𝑢𝑛𝑒</m:t>
                      </m:r>
                      <m:r>
                        <a:rPr lang="fr-CA" b="0" i="1" smtClean="0">
                          <a:latin typeface="Cambria Math" panose="02040503050406030204" pitchFamily="18" charset="0"/>
                        </a:rPr>
                        <m:t>  </m:t>
                      </m:r>
                      <m:r>
                        <a:rPr lang="fr-CA" b="0" i="1" smtClean="0">
                          <a:latin typeface="Cambria Math" panose="02040503050406030204" pitchFamily="18" charset="0"/>
                        </a:rPr>
                        <m:t>𝑙𝑜𝑖</m:t>
                      </m:r>
                      <m:r>
                        <a:rPr lang="fr-CA" b="0" i="1" smtClean="0">
                          <a:latin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𝒩</m:t>
                      </m:r>
                      <m:r>
                        <a:rPr lang="fr-CA" b="0" i="1" smtClean="0">
                          <a:latin typeface="Cambria Math" panose="02040503050406030204" pitchFamily="18" charset="0"/>
                          <a:ea typeface="Cambria Math" panose="02040503050406030204" pitchFamily="18" charset="0"/>
                        </a:rPr>
                        <m:t>(0;1)</m:t>
                      </m:r>
                    </m:oMath>
                  </m:oMathPara>
                </a14:m>
                <a:endParaRPr lang="fr-CA" dirty="0"/>
              </a:p>
              <a:p>
                <a:r>
                  <a:rPr lang="fr-CA" dirty="0"/>
                  <a:t>Cette loi est symétrique par rapport à zéro. On va donc chercher un intervalle de confiance de niveau </a:t>
                </a:r>
                <a14:m>
                  <m:oMath xmlns:m="http://schemas.openxmlformats.org/officeDocument/2006/math">
                    <m:d>
                      <m:dPr>
                        <m:ctrlPr>
                          <a:rPr lang="fr-CA" b="0" i="1" smtClean="0">
                            <a:latin typeface="Cambria Math" panose="02040503050406030204" pitchFamily="18" charset="0"/>
                          </a:rPr>
                        </m:ctrlPr>
                      </m:dPr>
                      <m:e>
                        <m:r>
                          <a:rPr lang="fr-CA" b="0" i="1" smtClean="0">
                            <a:latin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𝛼</m:t>
                        </m:r>
                      </m:e>
                    </m:d>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𝑝𝑜𝑢𝑟</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𝑍</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𝑞𝑢𝑖</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𝑙𝑢𝑖</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𝑎𝑢𝑠𝑠𝑖</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𝑒𝑠𝑡</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𝑠𝑦𝑚</m:t>
                    </m:r>
                    <m:r>
                      <a:rPr lang="fr-CA" b="0" i="1" smtClean="0">
                        <a:latin typeface="Cambria Math" panose="02040503050406030204" pitchFamily="18" charset="0"/>
                        <a:ea typeface="Cambria Math" panose="02040503050406030204" pitchFamily="18" charset="0"/>
                      </a:rPr>
                      <m:t>é</m:t>
                    </m:r>
                    <m:r>
                      <a:rPr lang="fr-CA" b="0" i="1" smtClean="0">
                        <a:latin typeface="Cambria Math" panose="02040503050406030204" pitchFamily="18" charset="0"/>
                        <a:ea typeface="Cambria Math" panose="02040503050406030204" pitchFamily="18" charset="0"/>
                      </a:rPr>
                      <m:t>𝑡𝑟𝑖𝑞𝑢𝑒</m:t>
                    </m:r>
                    <m:r>
                      <a:rPr lang="fr-CA" b="0" i="1" smtClean="0">
                        <a:latin typeface="Cambria Math" panose="02040503050406030204" pitchFamily="18" charset="0"/>
                        <a:ea typeface="Cambria Math" panose="02040503050406030204" pitchFamily="18" charset="0"/>
                      </a:rPr>
                      <m:t>.</m:t>
                    </m:r>
                  </m:oMath>
                </a14:m>
                <a:endParaRPr lang="fr-CA" dirty="0"/>
              </a:p>
              <a:p>
                <a:endParaRPr lang="fr-CA" dirty="0"/>
              </a:p>
              <a:p>
                <a:r>
                  <a:rPr lang="fr-CA" dirty="0"/>
                  <a:t>On aura donc:</a:t>
                </a:r>
              </a:p>
              <a:p>
                <a14:m>
                  <m:oMath xmlns:m="http://schemas.openxmlformats.org/officeDocument/2006/math">
                    <m:r>
                      <a:rPr lang="fr-CA" b="0" i="1" smtClean="0">
                        <a:latin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rPr>
                      <m:t>𝑃</m:t>
                    </m:r>
                    <m:d>
                      <m:dPr>
                        <m:ctrlPr>
                          <a:rPr lang="fr-CA" b="0" i="1" smtClean="0">
                            <a:latin typeface="Cambria Math" panose="02040503050406030204" pitchFamily="18" charset="0"/>
                          </a:rPr>
                        </m:ctrlPr>
                      </m:dPr>
                      <m:e>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𝑧</m:t>
                            </m:r>
                          </m:e>
                          <m:sub>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𝛼</m:t>
                                </m:r>
                              </m:num>
                              <m:den>
                                <m:r>
                                  <a:rPr lang="fr-CA" b="0" i="1" smtClean="0">
                                    <a:latin typeface="Cambria Math" panose="02040503050406030204" pitchFamily="18" charset="0"/>
                                    <a:ea typeface="Cambria Math" panose="02040503050406030204" pitchFamily="18" charset="0"/>
                                  </a:rPr>
                                  <m:t>2</m:t>
                                </m:r>
                              </m:den>
                            </m:f>
                          </m:sub>
                        </m:sSub>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𝑍</m:t>
                        </m:r>
                        <m:r>
                          <a:rPr lang="fr-CA" b="0" i="1" smtClean="0">
                            <a:latin typeface="Cambria Math" panose="02040503050406030204" pitchFamily="18" charset="0"/>
                            <a:ea typeface="Cambria Math" panose="02040503050406030204" pitchFamily="18" charset="0"/>
                          </a:rPr>
                          <m:t>≤</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𝑧</m:t>
                            </m:r>
                          </m:e>
                          <m:sub>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𝛼</m:t>
                                </m:r>
                              </m:num>
                              <m:den>
                                <m:r>
                                  <a:rPr lang="fr-CA" b="0" i="1" smtClean="0">
                                    <a:latin typeface="Cambria Math" panose="02040503050406030204" pitchFamily="18" charset="0"/>
                                    <a:ea typeface="Cambria Math" panose="02040503050406030204" pitchFamily="18" charset="0"/>
                                  </a:rPr>
                                  <m:t>2</m:t>
                                </m:r>
                              </m:den>
                            </m:f>
                          </m:sub>
                        </m:sSub>
                      </m:e>
                    </m:d>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𝑧</m:t>
                        </m:r>
                      </m:e>
                      <m:sub>
                        <m:f>
                          <m:fPr>
                            <m:ctrlPr>
                              <a:rPr lang="fr-CA" i="1">
                                <a:latin typeface="Cambria Math" panose="02040503050406030204" pitchFamily="18" charset="0"/>
                                <a:ea typeface="Cambria Math" panose="02040503050406030204" pitchFamily="18" charset="0"/>
                              </a:rPr>
                            </m:ctrlPr>
                          </m:fPr>
                          <m:num>
                            <m:r>
                              <a:rPr lang="fr-CA" i="1">
                                <a:latin typeface="Cambria Math" panose="02040503050406030204" pitchFamily="18" charset="0"/>
                                <a:ea typeface="Cambria Math" panose="02040503050406030204" pitchFamily="18" charset="0"/>
                              </a:rPr>
                              <m:t>𝛼</m:t>
                            </m:r>
                          </m:num>
                          <m:den>
                            <m:r>
                              <a:rPr lang="fr-CA" i="1">
                                <a:latin typeface="Cambria Math" panose="02040503050406030204" pitchFamily="18" charset="0"/>
                                <a:ea typeface="Cambria Math" panose="02040503050406030204" pitchFamily="18" charset="0"/>
                              </a:rPr>
                              <m:t>2</m:t>
                            </m:r>
                          </m:den>
                        </m:f>
                      </m:sub>
                    </m:sSub>
                    <m:r>
                      <a:rPr lang="fr-CA" i="1" smtClean="0">
                        <a:latin typeface="Cambria Math" panose="02040503050406030204" pitchFamily="18" charset="0"/>
                        <a:ea typeface="Cambria Math" panose="02040503050406030204" pitchFamily="18" charset="0"/>
                      </a:rPr>
                      <m:t>≤</m:t>
                    </m:r>
                    <m:f>
                      <m:fPr>
                        <m:ctrlPr>
                          <a:rPr lang="fr-CA" i="1">
                            <a:latin typeface="Cambria Math" panose="02040503050406030204" pitchFamily="18" charset="0"/>
                          </a:rPr>
                        </m:ctrlPr>
                      </m:fPr>
                      <m:num>
                        <m:acc>
                          <m:accPr>
                            <m:chr m:val="̅"/>
                            <m:ctrlPr>
                              <a:rPr lang="fr-CA" i="1">
                                <a:latin typeface="Cambria Math" panose="02040503050406030204" pitchFamily="18" charset="0"/>
                              </a:rPr>
                            </m:ctrlPr>
                          </m:accPr>
                          <m:e>
                            <m:r>
                              <a:rPr lang="fr-CA" i="1">
                                <a:latin typeface="Cambria Math" panose="02040503050406030204" pitchFamily="18" charset="0"/>
                              </a:rPr>
                              <m:t>𝑋</m:t>
                            </m:r>
                          </m:e>
                        </m:acc>
                        <m:r>
                          <a:rPr lang="fr-CA" i="1">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ea typeface="Cambria Math" panose="02040503050406030204" pitchFamily="18" charset="0"/>
                              </a:rPr>
                              <m:t>𝜇</m:t>
                            </m:r>
                          </m:e>
                          <m:sub>
                            <m:r>
                              <a:rPr lang="fr-CA" i="1">
                                <a:latin typeface="Cambria Math" panose="02040503050406030204" pitchFamily="18" charset="0"/>
                              </a:rPr>
                              <m:t>𝑋</m:t>
                            </m:r>
                          </m:sub>
                        </m:sSub>
                      </m:num>
                      <m:den>
                        <m:f>
                          <m:fPr>
                            <m:ctrlPr>
                              <a:rPr lang="fr-CA" i="1">
                                <a:latin typeface="Cambria Math" panose="02040503050406030204" pitchFamily="18" charset="0"/>
                              </a:rPr>
                            </m:ctrlPr>
                          </m:fPr>
                          <m:num>
                            <m:sSub>
                              <m:sSubPr>
                                <m:ctrlPr>
                                  <a:rPr lang="fr-CA" i="1">
                                    <a:latin typeface="Cambria Math" panose="02040503050406030204" pitchFamily="18" charset="0"/>
                                  </a:rPr>
                                </m:ctrlPr>
                              </m:sSubPr>
                              <m:e>
                                <m:r>
                                  <a:rPr lang="fr-CA" i="1">
                                    <a:latin typeface="Cambria Math" panose="02040503050406030204" pitchFamily="18" charset="0"/>
                                    <a:ea typeface="Cambria Math" panose="02040503050406030204" pitchFamily="18" charset="0"/>
                                  </a:rPr>
                                  <m:t>𝜎</m:t>
                                </m:r>
                              </m:e>
                              <m:sub>
                                <m:r>
                                  <a:rPr lang="fr-CA" i="1">
                                    <a:latin typeface="Cambria Math" panose="02040503050406030204" pitchFamily="18" charset="0"/>
                                  </a:rPr>
                                  <m:t>𝑋</m:t>
                                </m:r>
                              </m:sub>
                            </m:sSub>
                          </m:num>
                          <m:den>
                            <m:rad>
                              <m:radPr>
                                <m:degHide m:val="on"/>
                                <m:ctrlPr>
                                  <a:rPr lang="fr-CA" i="1">
                                    <a:latin typeface="Cambria Math" panose="02040503050406030204" pitchFamily="18" charset="0"/>
                                  </a:rPr>
                                </m:ctrlPr>
                              </m:radPr>
                              <m:deg/>
                              <m:e>
                                <m:r>
                                  <a:rPr lang="fr-CA" i="1">
                                    <a:latin typeface="Cambria Math" panose="02040503050406030204" pitchFamily="18" charset="0"/>
                                  </a:rPr>
                                  <m:t>𝑛</m:t>
                                </m:r>
                              </m:e>
                            </m:rad>
                          </m:den>
                        </m:f>
                      </m:den>
                    </m:f>
                    <m:r>
                      <a:rPr lang="fr-CA" i="1" smtClean="0">
                        <a:latin typeface="Cambria Math" panose="02040503050406030204" pitchFamily="18" charset="0"/>
                        <a:ea typeface="Cambria Math" panose="02040503050406030204" pitchFamily="18" charset="0"/>
                      </a:rPr>
                      <m:t>≤</m:t>
                    </m:r>
                  </m:oMath>
                </a14:m>
                <a:r>
                  <a:rPr lang="fr-CA" dirty="0">
                    <a:ea typeface="Cambria Math" panose="02040503050406030204" pitchFamily="18" charset="0"/>
                  </a:rPr>
                  <a:t> </a:t>
                </a:r>
                <a14:m>
                  <m:oMath xmlns:m="http://schemas.openxmlformats.org/officeDocument/2006/math">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𝑧</m:t>
                        </m:r>
                      </m:e>
                      <m:sub>
                        <m:f>
                          <m:fPr>
                            <m:ctrlPr>
                              <a:rPr lang="fr-CA" i="1">
                                <a:latin typeface="Cambria Math" panose="02040503050406030204" pitchFamily="18" charset="0"/>
                                <a:ea typeface="Cambria Math" panose="02040503050406030204" pitchFamily="18" charset="0"/>
                              </a:rPr>
                            </m:ctrlPr>
                          </m:fPr>
                          <m:num>
                            <m:r>
                              <a:rPr lang="fr-CA" i="1">
                                <a:latin typeface="Cambria Math" panose="02040503050406030204" pitchFamily="18" charset="0"/>
                                <a:ea typeface="Cambria Math" panose="02040503050406030204" pitchFamily="18" charset="0"/>
                              </a:rPr>
                              <m:t>𝛼</m:t>
                            </m:r>
                          </m:num>
                          <m:den>
                            <m:r>
                              <a:rPr lang="fr-CA" i="1">
                                <a:latin typeface="Cambria Math" panose="02040503050406030204" pitchFamily="18" charset="0"/>
                                <a:ea typeface="Cambria Math" panose="02040503050406030204" pitchFamily="18" charset="0"/>
                              </a:rPr>
                              <m:t>2</m:t>
                            </m:r>
                          </m:den>
                        </m:f>
                      </m:sub>
                    </m:sSub>
                  </m:oMath>
                </a14:m>
                <a:r>
                  <a:rPr lang="fr-CA" dirty="0"/>
                  <a:t>)</a:t>
                </a:r>
                <a14:m>
                  <m:oMath xmlns:m="http://schemas.openxmlformats.org/officeDocument/2006/math">
                    <m:r>
                      <a:rPr lang="fr-CA" b="0" i="1" dirty="0" smtClean="0">
                        <a:latin typeface="Cambria Math" panose="02040503050406030204" pitchFamily="18" charset="0"/>
                      </a:rPr>
                      <m:t>=</m:t>
                    </m:r>
                    <m:r>
                      <a:rPr lang="fr-CA" b="0" i="1" dirty="0" smtClean="0">
                        <a:latin typeface="Cambria Math" panose="02040503050406030204" pitchFamily="18" charset="0"/>
                      </a:rPr>
                      <m:t>𝑃</m:t>
                    </m:r>
                    <m:r>
                      <a:rPr lang="fr-CA" b="0" i="1" dirty="0" smtClean="0">
                        <a:latin typeface="Cambria Math" panose="02040503050406030204" pitchFamily="18" charset="0"/>
                      </a:rPr>
                      <m:t>(−</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𝑧</m:t>
                        </m:r>
                      </m:e>
                      <m:sub>
                        <m:f>
                          <m:fPr>
                            <m:ctrlPr>
                              <a:rPr lang="fr-CA" i="1">
                                <a:latin typeface="Cambria Math" panose="02040503050406030204" pitchFamily="18" charset="0"/>
                                <a:ea typeface="Cambria Math" panose="02040503050406030204" pitchFamily="18" charset="0"/>
                              </a:rPr>
                            </m:ctrlPr>
                          </m:fPr>
                          <m:num>
                            <m:r>
                              <a:rPr lang="fr-CA" i="1">
                                <a:latin typeface="Cambria Math" panose="02040503050406030204" pitchFamily="18" charset="0"/>
                                <a:ea typeface="Cambria Math" panose="02040503050406030204" pitchFamily="18" charset="0"/>
                              </a:rPr>
                              <m:t>𝛼</m:t>
                            </m:r>
                          </m:num>
                          <m:den>
                            <m:r>
                              <a:rPr lang="fr-CA" i="1">
                                <a:latin typeface="Cambria Math" panose="02040503050406030204" pitchFamily="18" charset="0"/>
                                <a:ea typeface="Cambria Math" panose="02040503050406030204" pitchFamily="18" charset="0"/>
                              </a:rPr>
                              <m:t>2</m:t>
                            </m:r>
                          </m:den>
                        </m:f>
                      </m:sub>
                    </m:sSub>
                    <m:f>
                      <m:fPr>
                        <m:ctrlPr>
                          <a:rPr lang="fr-CA" i="1" smtClean="0">
                            <a:latin typeface="Cambria Math" panose="02040503050406030204" pitchFamily="18" charset="0"/>
                            <a:ea typeface="Cambria Math" panose="02040503050406030204" pitchFamily="18" charset="0"/>
                          </a:rPr>
                        </m:ctrlPr>
                      </m:fPr>
                      <m:num>
                        <m:sSub>
                          <m:sSubPr>
                            <m:ctrlPr>
                              <a:rPr lang="fr-CA" i="1" smtClean="0">
                                <a:latin typeface="Cambria Math" panose="02040503050406030204" pitchFamily="18" charset="0"/>
                                <a:ea typeface="Cambria Math" panose="02040503050406030204" pitchFamily="18" charset="0"/>
                              </a:rPr>
                            </m:ctrlPr>
                          </m:sSubPr>
                          <m:e>
                            <m:r>
                              <a:rPr lang="fr-CA"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ea typeface="Cambria Math" panose="02040503050406030204" pitchFamily="18" charset="0"/>
                              </a:rPr>
                              <m:t>𝑋</m:t>
                            </m:r>
                          </m:sub>
                        </m:sSub>
                      </m:num>
                      <m:den>
                        <m:rad>
                          <m:radPr>
                            <m:degHide m:val="on"/>
                            <m:ctrlPr>
                              <a:rPr lang="fr-CA" i="1" smtClean="0">
                                <a:latin typeface="Cambria Math" panose="02040503050406030204" pitchFamily="18" charset="0"/>
                                <a:ea typeface="Cambria Math" panose="02040503050406030204" pitchFamily="18" charset="0"/>
                              </a:rPr>
                            </m:ctrlPr>
                          </m:radPr>
                          <m:deg/>
                          <m:e>
                            <m:r>
                              <a:rPr lang="fr-CA" b="0" i="1" smtClean="0">
                                <a:latin typeface="Cambria Math" panose="02040503050406030204" pitchFamily="18" charset="0"/>
                                <a:ea typeface="Cambria Math" panose="02040503050406030204" pitchFamily="18" charset="0"/>
                              </a:rPr>
                              <m:t>𝑛</m:t>
                            </m:r>
                          </m:e>
                        </m:rad>
                      </m:den>
                    </m:f>
                    <m:r>
                      <a:rPr lang="fr-CA" i="1" smtClean="0">
                        <a:latin typeface="Cambria Math" panose="02040503050406030204" pitchFamily="18" charset="0"/>
                        <a:ea typeface="Cambria Math" panose="02040503050406030204" pitchFamily="18" charset="0"/>
                      </a:rPr>
                      <m:t>≤</m:t>
                    </m:r>
                    <m:acc>
                      <m:accPr>
                        <m:chr m:val="̅"/>
                        <m:ctrlPr>
                          <a:rPr lang="fr-CA" i="1">
                            <a:latin typeface="Cambria Math" panose="02040503050406030204" pitchFamily="18" charset="0"/>
                          </a:rPr>
                        </m:ctrlPr>
                      </m:accPr>
                      <m:e>
                        <m:r>
                          <a:rPr lang="fr-CA" i="1">
                            <a:latin typeface="Cambria Math" panose="02040503050406030204" pitchFamily="18" charset="0"/>
                          </a:rPr>
                          <m:t>𝑋</m:t>
                        </m:r>
                      </m:e>
                    </m:acc>
                    <m:r>
                      <a:rPr lang="fr-CA" i="1">
                        <a:latin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ea typeface="Cambria Math" panose="02040503050406030204" pitchFamily="18" charset="0"/>
                          </a:rPr>
                          <m:t>𝜇</m:t>
                        </m:r>
                      </m:e>
                      <m:sub>
                        <m:r>
                          <a:rPr lang="fr-CA" i="1">
                            <a:latin typeface="Cambria Math" panose="02040503050406030204" pitchFamily="18" charset="0"/>
                          </a:rPr>
                          <m:t>𝑋</m:t>
                        </m:r>
                      </m:sub>
                    </m:sSub>
                    <m:r>
                      <a:rPr lang="fr-CA" i="1" smtClean="0">
                        <a:latin typeface="Cambria Math" panose="02040503050406030204" pitchFamily="18" charset="0"/>
                        <a:ea typeface="Cambria Math" panose="02040503050406030204" pitchFamily="18" charset="0"/>
                      </a:rPr>
                      <m:t>≤</m:t>
                    </m:r>
                  </m:oMath>
                </a14:m>
                <a:r>
                  <a:rPr lang="fr-CA" dirty="0">
                    <a:ea typeface="Cambria Math" panose="02040503050406030204" pitchFamily="18" charset="0"/>
                  </a:rPr>
                  <a:t> </a:t>
                </a:r>
                <a14:m>
                  <m:oMath xmlns:m="http://schemas.openxmlformats.org/officeDocument/2006/math">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𝑧</m:t>
                        </m:r>
                      </m:e>
                      <m:sub>
                        <m:f>
                          <m:fPr>
                            <m:ctrlPr>
                              <a:rPr lang="fr-CA" i="1">
                                <a:latin typeface="Cambria Math" panose="02040503050406030204" pitchFamily="18" charset="0"/>
                                <a:ea typeface="Cambria Math" panose="02040503050406030204" pitchFamily="18" charset="0"/>
                              </a:rPr>
                            </m:ctrlPr>
                          </m:fPr>
                          <m:num>
                            <m:r>
                              <a:rPr lang="fr-CA" i="1">
                                <a:latin typeface="Cambria Math" panose="02040503050406030204" pitchFamily="18" charset="0"/>
                                <a:ea typeface="Cambria Math" panose="02040503050406030204" pitchFamily="18" charset="0"/>
                              </a:rPr>
                              <m:t>𝛼</m:t>
                            </m:r>
                          </m:num>
                          <m:den>
                            <m:r>
                              <a:rPr lang="fr-CA" i="1">
                                <a:latin typeface="Cambria Math" panose="02040503050406030204" pitchFamily="18" charset="0"/>
                                <a:ea typeface="Cambria Math" panose="02040503050406030204" pitchFamily="18" charset="0"/>
                              </a:rPr>
                              <m:t>2</m:t>
                            </m:r>
                          </m:den>
                        </m:f>
                      </m:sub>
                    </m:sSub>
                    <m:f>
                      <m:fPr>
                        <m:ctrlPr>
                          <a:rPr lang="fr-CA" i="1">
                            <a:latin typeface="Cambria Math" panose="02040503050406030204" pitchFamily="18" charset="0"/>
                            <a:ea typeface="Cambria Math" panose="02040503050406030204" pitchFamily="18" charset="0"/>
                          </a:rPr>
                        </m:ctrlPr>
                      </m:fPr>
                      <m:num>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𝜎</m:t>
                            </m:r>
                          </m:e>
                          <m:sub>
                            <m:r>
                              <a:rPr lang="fr-CA" i="1">
                                <a:latin typeface="Cambria Math" panose="02040503050406030204" pitchFamily="18" charset="0"/>
                                <a:ea typeface="Cambria Math" panose="02040503050406030204" pitchFamily="18" charset="0"/>
                              </a:rPr>
                              <m:t>𝑋</m:t>
                            </m:r>
                          </m:sub>
                        </m:sSub>
                      </m:num>
                      <m:den>
                        <m:rad>
                          <m:radPr>
                            <m:degHide m:val="on"/>
                            <m:ctrlPr>
                              <a:rPr lang="fr-CA" i="1">
                                <a:latin typeface="Cambria Math" panose="02040503050406030204" pitchFamily="18" charset="0"/>
                                <a:ea typeface="Cambria Math" panose="02040503050406030204" pitchFamily="18" charset="0"/>
                              </a:rPr>
                            </m:ctrlPr>
                          </m:radPr>
                          <m:deg/>
                          <m:e>
                            <m:r>
                              <a:rPr lang="fr-CA" i="1">
                                <a:latin typeface="Cambria Math" panose="02040503050406030204" pitchFamily="18" charset="0"/>
                                <a:ea typeface="Cambria Math" panose="02040503050406030204" pitchFamily="18" charset="0"/>
                              </a:rPr>
                              <m:t>𝑛</m:t>
                            </m:r>
                          </m:e>
                        </m:rad>
                      </m:den>
                    </m:f>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𝑃</m:t>
                    </m:r>
                    <m:r>
                      <a:rPr lang="fr-CA" b="0" i="1" smtClean="0">
                        <a:latin typeface="Cambria Math" panose="02040503050406030204" pitchFamily="18" charset="0"/>
                        <a:ea typeface="Cambria Math" panose="02040503050406030204" pitchFamily="18" charset="0"/>
                      </a:rPr>
                      <m:t>(</m:t>
                    </m:r>
                    <m:acc>
                      <m:accPr>
                        <m:chr m:val="̅"/>
                        <m:ctrlPr>
                          <a:rPr lang="fr-CA" i="1">
                            <a:latin typeface="Cambria Math" panose="02040503050406030204" pitchFamily="18" charset="0"/>
                          </a:rPr>
                        </m:ctrlPr>
                      </m:accPr>
                      <m:e>
                        <m:r>
                          <a:rPr lang="fr-CA" i="1">
                            <a:latin typeface="Cambria Math" panose="02040503050406030204" pitchFamily="18" charset="0"/>
                          </a:rPr>
                          <m:t>𝑋</m:t>
                        </m:r>
                      </m:e>
                    </m:acc>
                  </m:oMath>
                </a14:m>
                <a:r>
                  <a:rPr lang="fr-CA" dirty="0"/>
                  <a:t>-</a:t>
                </a:r>
                <a:r>
                  <a:rPr lang="fr-CA" dirty="0">
                    <a:ea typeface="Cambria Math" panose="02040503050406030204" pitchFamily="18" charset="0"/>
                  </a:rPr>
                  <a:t> </a:t>
                </a:r>
                <a14:m>
                  <m:oMath xmlns:m="http://schemas.openxmlformats.org/officeDocument/2006/math">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𝑧</m:t>
                        </m:r>
                      </m:e>
                      <m:sub>
                        <m:f>
                          <m:fPr>
                            <m:ctrlPr>
                              <a:rPr lang="fr-CA" i="1">
                                <a:latin typeface="Cambria Math" panose="02040503050406030204" pitchFamily="18" charset="0"/>
                                <a:ea typeface="Cambria Math" panose="02040503050406030204" pitchFamily="18" charset="0"/>
                              </a:rPr>
                            </m:ctrlPr>
                          </m:fPr>
                          <m:num>
                            <m:r>
                              <a:rPr lang="fr-CA" i="1">
                                <a:latin typeface="Cambria Math" panose="02040503050406030204" pitchFamily="18" charset="0"/>
                                <a:ea typeface="Cambria Math" panose="02040503050406030204" pitchFamily="18" charset="0"/>
                              </a:rPr>
                              <m:t>𝛼</m:t>
                            </m:r>
                          </m:num>
                          <m:den>
                            <m:r>
                              <a:rPr lang="fr-CA" i="1">
                                <a:latin typeface="Cambria Math" panose="02040503050406030204" pitchFamily="18" charset="0"/>
                                <a:ea typeface="Cambria Math" panose="02040503050406030204" pitchFamily="18" charset="0"/>
                              </a:rPr>
                              <m:t>2</m:t>
                            </m:r>
                          </m:den>
                        </m:f>
                      </m:sub>
                    </m:sSub>
                    <m:f>
                      <m:fPr>
                        <m:ctrlPr>
                          <a:rPr lang="fr-CA" i="1">
                            <a:latin typeface="Cambria Math" panose="02040503050406030204" pitchFamily="18" charset="0"/>
                            <a:ea typeface="Cambria Math" panose="02040503050406030204" pitchFamily="18" charset="0"/>
                          </a:rPr>
                        </m:ctrlPr>
                      </m:fPr>
                      <m:num>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𝜎</m:t>
                            </m:r>
                          </m:e>
                          <m:sub>
                            <m:r>
                              <a:rPr lang="fr-CA" i="1">
                                <a:latin typeface="Cambria Math" panose="02040503050406030204" pitchFamily="18" charset="0"/>
                                <a:ea typeface="Cambria Math" panose="02040503050406030204" pitchFamily="18" charset="0"/>
                              </a:rPr>
                              <m:t>𝑋</m:t>
                            </m:r>
                          </m:sub>
                        </m:sSub>
                      </m:num>
                      <m:den>
                        <m:rad>
                          <m:radPr>
                            <m:degHide m:val="on"/>
                            <m:ctrlPr>
                              <a:rPr lang="fr-CA" i="1">
                                <a:latin typeface="Cambria Math" panose="02040503050406030204" pitchFamily="18" charset="0"/>
                                <a:ea typeface="Cambria Math" panose="02040503050406030204" pitchFamily="18" charset="0"/>
                              </a:rPr>
                            </m:ctrlPr>
                          </m:radPr>
                          <m:deg/>
                          <m:e>
                            <m:r>
                              <a:rPr lang="fr-CA" i="1">
                                <a:latin typeface="Cambria Math" panose="02040503050406030204" pitchFamily="18" charset="0"/>
                                <a:ea typeface="Cambria Math" panose="02040503050406030204" pitchFamily="18" charset="0"/>
                              </a:rPr>
                              <m:t>𝑛</m:t>
                            </m:r>
                          </m:e>
                        </m:rad>
                      </m:den>
                    </m:f>
                    <m:r>
                      <a:rPr lang="fr-CA" i="1" smtClean="0">
                        <a:latin typeface="Cambria Math" panose="02040503050406030204" pitchFamily="18" charset="0"/>
                        <a:ea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ea typeface="Cambria Math" panose="02040503050406030204" pitchFamily="18" charset="0"/>
                          </a:rPr>
                          <m:t>𝜇</m:t>
                        </m:r>
                      </m:e>
                      <m:sub>
                        <m:r>
                          <a:rPr lang="fr-CA" i="1">
                            <a:latin typeface="Cambria Math" panose="02040503050406030204" pitchFamily="18" charset="0"/>
                          </a:rPr>
                          <m:t>𝑋</m:t>
                        </m:r>
                      </m:sub>
                    </m:sSub>
                    <m:r>
                      <a:rPr lang="fr-CA" i="1" smtClean="0">
                        <a:latin typeface="Cambria Math" panose="02040503050406030204" pitchFamily="18" charset="0"/>
                        <a:ea typeface="Cambria Math" panose="02040503050406030204" pitchFamily="18" charset="0"/>
                      </a:rPr>
                      <m:t>≤</m:t>
                    </m:r>
                    <m:acc>
                      <m:accPr>
                        <m:chr m:val="̅"/>
                        <m:ctrlPr>
                          <a:rPr lang="fr-CA" i="1">
                            <a:latin typeface="Cambria Math" panose="02040503050406030204" pitchFamily="18" charset="0"/>
                          </a:rPr>
                        </m:ctrlPr>
                      </m:accPr>
                      <m:e>
                        <m:r>
                          <a:rPr lang="fr-CA" i="1">
                            <a:latin typeface="Cambria Math" panose="02040503050406030204" pitchFamily="18" charset="0"/>
                          </a:rPr>
                          <m:t>𝑋</m:t>
                        </m:r>
                      </m:e>
                    </m:acc>
                    <m:r>
                      <m:rPr>
                        <m:nor/>
                      </m:rPr>
                      <a:rPr lang="fr-CA" b="0" i="0" smtClean="0">
                        <a:latin typeface="Cambria Math" panose="02040503050406030204" pitchFamily="18" charset="0"/>
                      </a:rPr>
                      <m:t>+</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𝑧</m:t>
                        </m:r>
                      </m:e>
                      <m:sub>
                        <m:f>
                          <m:fPr>
                            <m:ctrlPr>
                              <a:rPr lang="fr-CA" i="1">
                                <a:latin typeface="Cambria Math" panose="02040503050406030204" pitchFamily="18" charset="0"/>
                                <a:ea typeface="Cambria Math" panose="02040503050406030204" pitchFamily="18" charset="0"/>
                              </a:rPr>
                            </m:ctrlPr>
                          </m:fPr>
                          <m:num>
                            <m:r>
                              <a:rPr lang="fr-CA" i="1">
                                <a:latin typeface="Cambria Math" panose="02040503050406030204" pitchFamily="18" charset="0"/>
                                <a:ea typeface="Cambria Math" panose="02040503050406030204" pitchFamily="18" charset="0"/>
                              </a:rPr>
                              <m:t>𝛼</m:t>
                            </m:r>
                          </m:num>
                          <m:den>
                            <m:r>
                              <a:rPr lang="fr-CA" i="1">
                                <a:latin typeface="Cambria Math" panose="02040503050406030204" pitchFamily="18" charset="0"/>
                                <a:ea typeface="Cambria Math" panose="02040503050406030204" pitchFamily="18" charset="0"/>
                              </a:rPr>
                              <m:t>2</m:t>
                            </m:r>
                          </m:den>
                        </m:f>
                      </m:sub>
                    </m:sSub>
                    <m:f>
                      <m:fPr>
                        <m:ctrlPr>
                          <a:rPr lang="fr-CA" i="1">
                            <a:latin typeface="Cambria Math" panose="02040503050406030204" pitchFamily="18" charset="0"/>
                            <a:ea typeface="Cambria Math" panose="02040503050406030204" pitchFamily="18" charset="0"/>
                          </a:rPr>
                        </m:ctrlPr>
                      </m:fPr>
                      <m:num>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𝜎</m:t>
                            </m:r>
                          </m:e>
                          <m:sub>
                            <m:r>
                              <a:rPr lang="fr-CA" i="1">
                                <a:latin typeface="Cambria Math" panose="02040503050406030204" pitchFamily="18" charset="0"/>
                                <a:ea typeface="Cambria Math" panose="02040503050406030204" pitchFamily="18" charset="0"/>
                              </a:rPr>
                              <m:t>𝑋</m:t>
                            </m:r>
                          </m:sub>
                        </m:sSub>
                      </m:num>
                      <m:den>
                        <m:rad>
                          <m:radPr>
                            <m:degHide m:val="on"/>
                            <m:ctrlPr>
                              <a:rPr lang="fr-CA" i="1">
                                <a:latin typeface="Cambria Math" panose="02040503050406030204" pitchFamily="18" charset="0"/>
                                <a:ea typeface="Cambria Math" panose="02040503050406030204" pitchFamily="18" charset="0"/>
                              </a:rPr>
                            </m:ctrlPr>
                          </m:radPr>
                          <m:deg/>
                          <m:e>
                            <m:r>
                              <a:rPr lang="fr-CA" i="1">
                                <a:latin typeface="Cambria Math" panose="02040503050406030204" pitchFamily="18" charset="0"/>
                                <a:ea typeface="Cambria Math" panose="02040503050406030204" pitchFamily="18" charset="0"/>
                              </a:rPr>
                              <m:t>𝑛</m:t>
                            </m:r>
                          </m:e>
                        </m:rad>
                      </m:den>
                    </m:f>
                    <m:r>
                      <a:rPr lang="fr-CA" b="0" i="1" smtClean="0">
                        <a:latin typeface="Cambria Math" panose="02040503050406030204" pitchFamily="18" charset="0"/>
                        <a:ea typeface="Cambria Math" panose="02040503050406030204" pitchFamily="18" charset="0"/>
                      </a:rPr>
                      <m:t>)</m:t>
                    </m:r>
                  </m:oMath>
                </a14:m>
                <a:endParaRPr lang="fr-CA" dirty="0"/>
              </a:p>
              <a:p>
                <a:endParaRPr lang="fr-CA" dirty="0"/>
              </a:p>
              <a:p>
                <a:endParaRPr lang="fr-CA" dirty="0"/>
              </a:p>
              <a:p>
                <a:r>
                  <a:rPr lang="fr-CA" dirty="0"/>
                  <a:t>On est donc confiant avec </a:t>
                </a:r>
                <a14:m>
                  <m:oMath xmlns:m="http://schemas.openxmlformats.org/officeDocument/2006/math">
                    <m:d>
                      <m:dPr>
                        <m:ctrlPr>
                          <a:rPr lang="fr-CA" b="0" i="1" smtClean="0">
                            <a:latin typeface="Cambria Math" panose="02040503050406030204" pitchFamily="18" charset="0"/>
                          </a:rPr>
                        </m:ctrlPr>
                      </m:dPr>
                      <m:e>
                        <m:r>
                          <a:rPr lang="fr-CA" b="0" i="1" smtClean="0">
                            <a:latin typeface="Cambria Math" panose="02040503050406030204" pitchFamily="18" charset="0"/>
                          </a:rPr>
                          <m:t>1−</m:t>
                        </m:r>
                        <m:r>
                          <a:rPr lang="fr-CA" b="0" i="1" smtClean="0">
                            <a:latin typeface="Cambria Math" panose="02040503050406030204" pitchFamily="18" charset="0"/>
                            <a:ea typeface="Cambria Math" panose="02040503050406030204" pitchFamily="18" charset="0"/>
                          </a:rPr>
                          <m:t>𝛼</m:t>
                        </m:r>
                      </m:e>
                    </m:d>
                    <m:r>
                      <a:rPr lang="fr-CA" b="0" i="1" smtClean="0">
                        <a:latin typeface="Cambria Math" panose="02040503050406030204" pitchFamily="18" charset="0"/>
                        <a:ea typeface="Cambria Math" panose="02040503050406030204" pitchFamily="18" charset="0"/>
                      </a:rPr>
                      <m:t>% </m:t>
                    </m:r>
                  </m:oMath>
                </a14:m>
                <a:r>
                  <a:rPr lang="fr-CA" dirty="0"/>
                  <a:t>que la moyenne </a:t>
                </a:r>
                <a14:m>
                  <m:oMath xmlns:m="http://schemas.openxmlformats.org/officeDocument/2006/math">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𝜇</m:t>
                        </m:r>
                      </m:e>
                      <m:sub>
                        <m:r>
                          <a:rPr lang="fr-CA" b="0" i="1" smtClean="0">
                            <a:latin typeface="Cambria Math" panose="02040503050406030204" pitchFamily="18" charset="0"/>
                          </a:rPr>
                          <m:t>𝑋</m:t>
                        </m:r>
                      </m:sub>
                    </m:sSub>
                  </m:oMath>
                </a14:m>
                <a:r>
                  <a:rPr lang="fr-CA" dirty="0"/>
                  <a:t>  est entre :</a:t>
                </a:r>
                <a14:m>
                  <m:oMath xmlns:m="http://schemas.openxmlformats.org/officeDocument/2006/math">
                    <m:acc>
                      <m:accPr>
                        <m:chr m:val="̅"/>
                        <m:ctrlPr>
                          <a:rPr lang="fr-CA" i="1">
                            <a:latin typeface="Cambria Math" panose="02040503050406030204" pitchFamily="18" charset="0"/>
                          </a:rPr>
                        </m:ctrlPr>
                      </m:accPr>
                      <m:e>
                        <m:r>
                          <a:rPr lang="fr-CA" i="1">
                            <a:latin typeface="Cambria Math" panose="02040503050406030204" pitchFamily="18" charset="0"/>
                          </a:rPr>
                          <m:t>𝑋</m:t>
                        </m:r>
                      </m:e>
                    </m:acc>
                    <m:r>
                      <a:rPr lang="fr-CA" b="0" i="0" smtClean="0">
                        <a:latin typeface="Cambria Math" panose="02040503050406030204" pitchFamily="18" charset="0"/>
                      </a:rPr>
                      <m:t>−</m:t>
                    </m:r>
                    <m:r>
                      <m:rPr>
                        <m:sty m:val="p"/>
                      </m:rPr>
                      <a:rPr lang="fr-CA" b="0" i="0" smtClean="0">
                        <a:latin typeface="Cambria Math" panose="02040503050406030204" pitchFamily="18" charset="0"/>
                      </a:rPr>
                      <m:t>E</m:t>
                    </m:r>
                    <m:r>
                      <a:rPr lang="fr-CA" b="0" i="0" smtClean="0">
                        <a:latin typeface="Cambria Math" panose="02040503050406030204" pitchFamily="18" charset="0"/>
                      </a:rPr>
                      <m:t>        </m:t>
                    </m:r>
                    <m:r>
                      <m:rPr>
                        <m:sty m:val="p"/>
                      </m:rPr>
                      <a:rPr lang="fr-CA" b="0" i="0" smtClean="0">
                        <a:latin typeface="Cambria Math" panose="02040503050406030204" pitchFamily="18" charset="0"/>
                      </a:rPr>
                      <m:t>et</m:t>
                    </m:r>
                    <m:r>
                      <a:rPr lang="fr-CA" b="0" i="0" smtClean="0">
                        <a:latin typeface="Cambria Math" panose="02040503050406030204" pitchFamily="18" charset="0"/>
                      </a:rPr>
                      <m:t>  </m:t>
                    </m:r>
                    <m:acc>
                      <m:accPr>
                        <m:chr m:val="̅"/>
                        <m:ctrlPr>
                          <a:rPr lang="fr-CA" i="1">
                            <a:latin typeface="Cambria Math" panose="02040503050406030204" pitchFamily="18" charset="0"/>
                          </a:rPr>
                        </m:ctrlPr>
                      </m:accPr>
                      <m:e>
                        <m:r>
                          <a:rPr lang="fr-CA" i="1">
                            <a:latin typeface="Cambria Math" panose="02040503050406030204" pitchFamily="18" charset="0"/>
                          </a:rPr>
                          <m:t>𝑋</m:t>
                        </m:r>
                      </m:e>
                    </m:acc>
                    <m:r>
                      <a:rPr lang="fr-CA" b="0" i="0" smtClean="0">
                        <a:latin typeface="Cambria Math" panose="02040503050406030204" pitchFamily="18" charset="0"/>
                      </a:rPr>
                      <m:t>+</m:t>
                    </m:r>
                    <m:r>
                      <m:rPr>
                        <m:sty m:val="p"/>
                      </m:rPr>
                      <a:rPr lang="fr-CA">
                        <a:latin typeface="Cambria Math" panose="02040503050406030204" pitchFamily="18" charset="0"/>
                      </a:rPr>
                      <m:t>E</m:t>
                    </m:r>
                  </m:oMath>
                </a14:m>
                <a:r>
                  <a:rPr lang="fr-CA" dirty="0"/>
                  <a:t>  avec :</a:t>
                </a:r>
              </a:p>
              <a:p>
                <a:endParaRPr lang="fr-CA" dirty="0"/>
              </a:p>
              <a:p>
                <a14:m>
                  <m:oMath xmlns:m="http://schemas.openxmlformats.org/officeDocument/2006/math">
                    <m:r>
                      <a:rPr lang="fr-CA" b="0" i="1" smtClean="0">
                        <a:latin typeface="Cambria Math" panose="02040503050406030204" pitchFamily="18" charset="0"/>
                      </a:rPr>
                      <m:t>𝐸</m:t>
                    </m:r>
                    <m:r>
                      <a:rPr lang="fr-CA" b="0" i="1" smtClean="0">
                        <a:latin typeface="Cambria Math" panose="02040503050406030204" pitchFamily="18" charset="0"/>
                      </a:rPr>
                      <m:t>=</m:t>
                    </m:r>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𝑧</m:t>
                        </m:r>
                      </m:e>
                      <m:sub>
                        <m:f>
                          <m:fPr>
                            <m:ctrlPr>
                              <a:rPr lang="fr-CA" i="1">
                                <a:latin typeface="Cambria Math" panose="02040503050406030204" pitchFamily="18" charset="0"/>
                                <a:ea typeface="Cambria Math" panose="02040503050406030204" pitchFamily="18" charset="0"/>
                              </a:rPr>
                            </m:ctrlPr>
                          </m:fPr>
                          <m:num>
                            <m:r>
                              <a:rPr lang="fr-CA" i="1">
                                <a:latin typeface="Cambria Math" panose="02040503050406030204" pitchFamily="18" charset="0"/>
                                <a:ea typeface="Cambria Math" panose="02040503050406030204" pitchFamily="18" charset="0"/>
                              </a:rPr>
                              <m:t>𝛼</m:t>
                            </m:r>
                          </m:num>
                          <m:den>
                            <m:r>
                              <a:rPr lang="fr-CA" i="1">
                                <a:latin typeface="Cambria Math" panose="02040503050406030204" pitchFamily="18" charset="0"/>
                                <a:ea typeface="Cambria Math" panose="02040503050406030204" pitchFamily="18" charset="0"/>
                              </a:rPr>
                              <m:t>2</m:t>
                            </m:r>
                          </m:den>
                        </m:f>
                      </m:sub>
                    </m:sSub>
                    <m:f>
                      <m:fPr>
                        <m:ctrlPr>
                          <a:rPr lang="fr-CA" i="1">
                            <a:latin typeface="Cambria Math" panose="02040503050406030204" pitchFamily="18" charset="0"/>
                            <a:ea typeface="Cambria Math" panose="02040503050406030204" pitchFamily="18" charset="0"/>
                          </a:rPr>
                        </m:ctrlPr>
                      </m:fPr>
                      <m:num>
                        <m:sSub>
                          <m:sSubPr>
                            <m:ctrlPr>
                              <a:rPr lang="fr-CA" i="1">
                                <a:latin typeface="Cambria Math" panose="02040503050406030204" pitchFamily="18" charset="0"/>
                                <a:ea typeface="Cambria Math" panose="02040503050406030204" pitchFamily="18" charset="0"/>
                              </a:rPr>
                            </m:ctrlPr>
                          </m:sSubPr>
                          <m:e>
                            <m:r>
                              <a:rPr lang="fr-CA" i="1">
                                <a:latin typeface="Cambria Math" panose="02040503050406030204" pitchFamily="18" charset="0"/>
                                <a:ea typeface="Cambria Math" panose="02040503050406030204" pitchFamily="18" charset="0"/>
                              </a:rPr>
                              <m:t>𝜎</m:t>
                            </m:r>
                          </m:e>
                          <m:sub>
                            <m:r>
                              <a:rPr lang="fr-CA" i="1">
                                <a:latin typeface="Cambria Math" panose="02040503050406030204" pitchFamily="18" charset="0"/>
                                <a:ea typeface="Cambria Math" panose="02040503050406030204" pitchFamily="18" charset="0"/>
                              </a:rPr>
                              <m:t>𝑋</m:t>
                            </m:r>
                          </m:sub>
                        </m:sSub>
                      </m:num>
                      <m:den>
                        <m:rad>
                          <m:radPr>
                            <m:degHide m:val="on"/>
                            <m:ctrlPr>
                              <a:rPr lang="fr-CA" i="1">
                                <a:latin typeface="Cambria Math" panose="02040503050406030204" pitchFamily="18" charset="0"/>
                                <a:ea typeface="Cambria Math" panose="02040503050406030204" pitchFamily="18" charset="0"/>
                              </a:rPr>
                            </m:ctrlPr>
                          </m:radPr>
                          <m:deg/>
                          <m:e>
                            <m:r>
                              <a:rPr lang="fr-CA" i="1">
                                <a:latin typeface="Cambria Math" panose="02040503050406030204" pitchFamily="18" charset="0"/>
                                <a:ea typeface="Cambria Math" panose="02040503050406030204" pitchFamily="18" charset="0"/>
                              </a:rPr>
                              <m:t>𝑛</m:t>
                            </m:r>
                          </m:e>
                        </m:rad>
                      </m:den>
                    </m:f>
                  </m:oMath>
                </a14:m>
                <a:r>
                  <a:rPr lang="fr-CA" dirty="0"/>
                  <a:t>   s’appelle la marge de l’erreur de l’estimation de la moyenne.</a:t>
                </a:r>
              </a:p>
              <a:p>
                <a:endParaRPr lang="fr-CA" dirty="0"/>
              </a:p>
              <a:p>
                <a:r>
                  <a:rPr lang="fr-CA" dirty="0"/>
                  <a:t>Le point critique: </a:t>
                </a:r>
                <a14:m>
                  <m:oMath xmlns:m="http://schemas.openxmlformats.org/officeDocument/2006/math">
                    <m:sSub>
                      <m:sSubPr>
                        <m:ctrlPr>
                          <a:rPr lang="fr-CA" i="1" smtClean="0">
                            <a:latin typeface="Cambria Math" panose="02040503050406030204" pitchFamily="18" charset="0"/>
                          </a:rPr>
                        </m:ctrlPr>
                      </m:sSubPr>
                      <m:e>
                        <m:r>
                          <a:rPr lang="fr-CA" b="0" i="1" smtClean="0">
                            <a:latin typeface="Cambria Math" panose="02040503050406030204" pitchFamily="18" charset="0"/>
                          </a:rPr>
                          <m:t>𝑧</m:t>
                        </m:r>
                      </m:e>
                      <m:sub>
                        <m:r>
                          <a:rPr lang="fr-CA"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/2</m:t>
                        </m:r>
                      </m:sub>
                    </m:sSub>
                  </m:oMath>
                </a14:m>
                <a:r>
                  <a:rPr lang="fr-CA" dirty="0"/>
                  <a:t>  est tel que  </a:t>
                </a:r>
                <a14:m>
                  <m:oMath xmlns:m="http://schemas.openxmlformats.org/officeDocument/2006/math">
                    <m:r>
                      <a:rPr lang="fr-CA" b="0" i="1" smtClean="0">
                        <a:latin typeface="Cambria Math" panose="02040503050406030204" pitchFamily="18" charset="0"/>
                      </a:rPr>
                      <m:t>𝑃</m:t>
                    </m:r>
                    <m:r>
                      <a:rPr lang="fr-CA" b="0" i="1" smtClean="0">
                        <a:latin typeface="Cambria Math" panose="02040503050406030204" pitchFamily="18" charset="0"/>
                      </a:rPr>
                      <m:t>(</m:t>
                    </m:r>
                    <m:r>
                      <a:rPr lang="fr-CA" b="0" i="1" smtClean="0">
                        <a:latin typeface="Cambria Math" panose="02040503050406030204" pitchFamily="18" charset="0"/>
                      </a:rPr>
                      <m:t>𝑍</m:t>
                    </m:r>
                    <m:r>
                      <a:rPr lang="fr-CA" b="0" i="1" smtClean="0">
                        <a:latin typeface="Cambria Math" panose="02040503050406030204" pitchFamily="18" charset="0"/>
                        <a:ea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𝑧</m:t>
                        </m:r>
                      </m:e>
                      <m:sub>
                        <m:r>
                          <a:rPr lang="fr-CA" i="1">
                            <a:latin typeface="Cambria Math" panose="02040503050406030204" pitchFamily="18" charset="0"/>
                            <a:ea typeface="Cambria Math" panose="02040503050406030204" pitchFamily="18" charset="0"/>
                          </a:rPr>
                          <m:t>𝛼</m:t>
                        </m:r>
                        <m:r>
                          <a:rPr lang="fr-CA" i="1">
                            <a:latin typeface="Cambria Math" panose="02040503050406030204" pitchFamily="18" charset="0"/>
                            <a:ea typeface="Cambria Math" panose="02040503050406030204" pitchFamily="18" charset="0"/>
                          </a:rPr>
                          <m:t>/2</m:t>
                        </m:r>
                      </m:sub>
                    </m:sSub>
                  </m:oMath>
                </a14:m>
                <a:r>
                  <a:rPr lang="fr-CA" dirty="0"/>
                  <a:t>)=</a:t>
                </a:r>
                <a14:m>
                  <m:oMath xmlns:m="http://schemas.openxmlformats.org/officeDocument/2006/math">
                    <m:f>
                      <m:fPr>
                        <m:ctrlPr>
                          <a:rPr lang="fr-CA" b="0" i="1" dirty="0" smtClean="0">
                            <a:latin typeface="Cambria Math" panose="02040503050406030204" pitchFamily="18" charset="0"/>
                            <a:ea typeface="Cambria Math" panose="02040503050406030204" pitchFamily="18" charset="0"/>
                          </a:rPr>
                        </m:ctrlPr>
                      </m:fPr>
                      <m:num>
                        <m:r>
                          <a:rPr lang="fr-CA" i="1" dirty="0" smtClean="0">
                            <a:latin typeface="Cambria Math" panose="02040503050406030204" pitchFamily="18" charset="0"/>
                            <a:ea typeface="Cambria Math" panose="02040503050406030204" pitchFamily="18" charset="0"/>
                          </a:rPr>
                          <m:t>𝛼</m:t>
                        </m:r>
                      </m:num>
                      <m:den>
                        <m:r>
                          <a:rPr lang="fr-CA" b="0" i="1" dirty="0" smtClean="0">
                            <a:latin typeface="Cambria Math" panose="02040503050406030204" pitchFamily="18" charset="0"/>
                            <a:ea typeface="Cambria Math" panose="02040503050406030204" pitchFamily="18" charset="0"/>
                          </a:rPr>
                          <m:t>2</m:t>
                        </m:r>
                      </m:den>
                    </m:f>
                    <m:r>
                      <a:rPr lang="fr-CA" b="0" i="1" dirty="0" smtClean="0">
                        <a:latin typeface="Cambria Math" panose="02040503050406030204" pitchFamily="18" charset="0"/>
                        <a:ea typeface="Cambria Math" panose="02040503050406030204" pitchFamily="18" charset="0"/>
                      </a:rPr>
                      <m:t>→</m:t>
                    </m:r>
                    <m:r>
                      <a:rPr lang="fr-CA" b="0" i="1" dirty="0" smtClean="0">
                        <a:latin typeface="Cambria Math" panose="02040503050406030204" pitchFamily="18" charset="0"/>
                        <a:ea typeface="Cambria Math" panose="02040503050406030204" pitchFamily="18" charset="0"/>
                      </a:rPr>
                      <m:t>𝑃</m:t>
                    </m:r>
                    <m:d>
                      <m:dPr>
                        <m:ctrlPr>
                          <a:rPr lang="fr-CA" b="0" i="1" dirty="0" smtClean="0">
                            <a:latin typeface="Cambria Math" panose="02040503050406030204" pitchFamily="18" charset="0"/>
                            <a:ea typeface="Cambria Math" panose="02040503050406030204" pitchFamily="18" charset="0"/>
                          </a:rPr>
                        </m:ctrlPr>
                      </m:dPr>
                      <m:e>
                        <m:r>
                          <a:rPr lang="fr-CA" b="0" i="1" dirty="0" smtClean="0">
                            <a:latin typeface="Cambria Math" panose="02040503050406030204" pitchFamily="18" charset="0"/>
                            <a:ea typeface="Cambria Math" panose="02040503050406030204" pitchFamily="18" charset="0"/>
                          </a:rPr>
                          <m:t>𝑍</m:t>
                        </m:r>
                        <m:r>
                          <a:rPr lang="fr-CA" b="0" i="1" dirty="0" smtClean="0">
                            <a:latin typeface="Cambria Math" panose="02040503050406030204" pitchFamily="18" charset="0"/>
                            <a:ea typeface="Cambria Math" panose="02040503050406030204" pitchFamily="18" charset="0"/>
                          </a:rPr>
                          <m:t>≤</m:t>
                        </m:r>
                        <m:sSub>
                          <m:sSubPr>
                            <m:ctrlPr>
                              <a:rPr lang="fr-CA" i="1">
                                <a:latin typeface="Cambria Math" panose="02040503050406030204" pitchFamily="18" charset="0"/>
                              </a:rPr>
                            </m:ctrlPr>
                          </m:sSubPr>
                          <m:e>
                            <m:r>
                              <a:rPr lang="fr-CA" i="1">
                                <a:latin typeface="Cambria Math" panose="02040503050406030204" pitchFamily="18" charset="0"/>
                              </a:rPr>
                              <m:t>𝑧</m:t>
                            </m:r>
                          </m:e>
                          <m:sub>
                            <m:f>
                              <m:fPr>
                                <m:ctrlPr>
                                  <a:rPr lang="fr-CA" i="1">
                                    <a:latin typeface="Cambria Math" panose="02040503050406030204" pitchFamily="18" charset="0"/>
                                    <a:ea typeface="Cambria Math" panose="02040503050406030204" pitchFamily="18" charset="0"/>
                                  </a:rPr>
                                </m:ctrlPr>
                              </m:fPr>
                              <m:num>
                                <m:r>
                                  <a:rPr lang="fr-CA" i="1">
                                    <a:latin typeface="Cambria Math" panose="02040503050406030204" pitchFamily="18" charset="0"/>
                                    <a:ea typeface="Cambria Math" panose="02040503050406030204" pitchFamily="18" charset="0"/>
                                  </a:rPr>
                                  <m:t>𝛼</m:t>
                                </m:r>
                              </m:num>
                              <m:den>
                                <m:r>
                                  <a:rPr lang="fr-CA" i="1">
                                    <a:latin typeface="Cambria Math" panose="02040503050406030204" pitchFamily="18" charset="0"/>
                                    <a:ea typeface="Cambria Math" panose="02040503050406030204" pitchFamily="18" charset="0"/>
                                  </a:rPr>
                                  <m:t>2</m:t>
                                </m:r>
                              </m:den>
                            </m:f>
                          </m:sub>
                        </m:sSub>
                      </m:e>
                    </m:d>
                    <m:r>
                      <a:rPr lang="fr-CA" b="0" i="0" smtClean="0">
                        <a:latin typeface="Cambria Math" panose="02040503050406030204" pitchFamily="18" charset="0"/>
                        <a:ea typeface="Cambria Math" panose="02040503050406030204" pitchFamily="18" charset="0"/>
                      </a:rPr>
                      <m:t>=1−</m:t>
                    </m:r>
                    <m:r>
                      <m:rPr>
                        <m:sty m:val="p"/>
                      </m:rPr>
                      <a:rPr lang="el-GR" b="0" i="1" smtClean="0">
                        <a:latin typeface="Cambria Math" panose="02040503050406030204" pitchFamily="18" charset="0"/>
                        <a:ea typeface="Cambria Math" panose="02040503050406030204" pitchFamily="18" charset="0"/>
                      </a:rPr>
                      <m:t>α</m:t>
                    </m:r>
                    <m:r>
                      <a:rPr lang="fr-CA" b="0" i="1" smtClean="0">
                        <a:latin typeface="Cambria Math" panose="02040503050406030204" pitchFamily="18" charset="0"/>
                        <a:ea typeface="Cambria Math" panose="02040503050406030204" pitchFamily="18" charset="0"/>
                      </a:rPr>
                      <m:t>/2</m:t>
                    </m:r>
                  </m:oMath>
                </a14:m>
                <a:r>
                  <a:rPr lang="fr-CA" dirty="0"/>
                  <a:t>  qu’on peut trouver à l’aide d’une table d’une loi normale centrée et réduite ou avec le logiciel R.</a:t>
                </a:r>
              </a:p>
            </p:txBody>
          </p:sp>
        </mc:Choice>
        <mc:Fallback xmlns="">
          <p:sp>
            <p:nvSpPr>
              <p:cNvPr id="4" name="ZoneTexte 3">
                <a:extLst>
                  <a:ext uri="{FF2B5EF4-FFF2-40B4-BE49-F238E27FC236}">
                    <a16:creationId xmlns:a16="http://schemas.microsoft.com/office/drawing/2014/main" id="{9E1D8E24-DF9B-4BB3-B423-DDF0A82090F6}"/>
                  </a:ext>
                </a:extLst>
              </p:cNvPr>
              <p:cNvSpPr txBox="1">
                <a:spLocks noRot="1" noChangeAspect="1" noMove="1" noResize="1" noEditPoints="1" noAdjustHandles="1" noChangeArrowheads="1" noChangeShapeType="1" noTextEdit="1"/>
              </p:cNvSpPr>
              <p:nvPr/>
            </p:nvSpPr>
            <p:spPr>
              <a:xfrm>
                <a:off x="0" y="632012"/>
                <a:ext cx="11577918" cy="5609549"/>
              </a:xfrm>
              <a:prstGeom prst="rect">
                <a:avLst/>
              </a:prstGeom>
              <a:blipFill>
                <a:blip r:embed="rId2"/>
                <a:stretch>
                  <a:fillRect l="-1632" t="-652" b="-761"/>
                </a:stretch>
              </a:blipFill>
            </p:spPr>
            <p:txBody>
              <a:bodyPr/>
              <a:lstStyle/>
              <a:p>
                <a:r>
                  <a:rPr lang="fr-CA">
                    <a:noFill/>
                  </a:rPr>
                  <a:t> </a:t>
                </a:r>
              </a:p>
            </p:txBody>
          </p:sp>
        </mc:Fallback>
      </mc:AlternateContent>
    </p:spTree>
    <p:extLst>
      <p:ext uri="{BB962C8B-B14F-4D97-AF65-F5344CB8AC3E}">
        <p14:creationId xmlns:p14="http://schemas.microsoft.com/office/powerpoint/2010/main" val="1198968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0BE3509D-3348-4EAF-8561-87B63923E6DA}"/>
                  </a:ext>
                </a:extLst>
              </p:cNvPr>
              <p:cNvSpPr>
                <a:spLocks noGrp="1"/>
              </p:cNvSpPr>
              <p:nvPr>
                <p:ph type="title"/>
              </p:nvPr>
            </p:nvSpPr>
            <p:spPr>
              <a:xfrm>
                <a:off x="742950" y="742951"/>
                <a:ext cx="3476625" cy="4962524"/>
              </a:xfrm>
            </p:spPr>
            <p:txBody>
              <a:bodyPr>
                <a:normAutofit/>
              </a:bodyPr>
              <a:lstStyle/>
              <a:p>
                <a:pPr algn="ctr"/>
                <a:r>
                  <a:rPr lang="fr-CA" sz="4800">
                    <a:solidFill>
                      <a:srgbClr val="FFFFFF"/>
                    </a:solidFill>
                  </a:rPr>
                  <a:t>Voila un exemple pour </a:t>
                </a:r>
                <a14:m>
                  <m:oMath xmlns:m="http://schemas.openxmlformats.org/officeDocument/2006/math">
                    <m:r>
                      <a:rPr lang="fr-CA" sz="4800" i="1">
                        <a:solidFill>
                          <a:srgbClr val="FFFFFF"/>
                        </a:solidFill>
                        <a:latin typeface="Cambria Math" panose="02040503050406030204" pitchFamily="18" charset="0"/>
                        <a:ea typeface="Cambria Math" panose="02040503050406030204" pitchFamily="18" charset="0"/>
                      </a:rPr>
                      <m:t>𝛼</m:t>
                    </m:r>
                    <m:r>
                      <a:rPr lang="fr-CA" sz="4800" b="0" i="1">
                        <a:solidFill>
                          <a:srgbClr val="FFFFFF"/>
                        </a:solidFill>
                        <a:latin typeface="Cambria Math" panose="02040503050406030204" pitchFamily="18" charset="0"/>
                        <a:ea typeface="Cambria Math" panose="02040503050406030204" pitchFamily="18" charset="0"/>
                      </a:rPr>
                      <m:t>=5%</m:t>
                    </m:r>
                  </m:oMath>
                </a14:m>
                <a:endParaRPr lang="fr-CA" sz="4800">
                  <a:solidFill>
                    <a:srgbClr val="FFFFFF"/>
                  </a:solidFill>
                </a:endParaRPr>
              </a:p>
            </p:txBody>
          </p:sp>
        </mc:Choice>
        <mc:Fallback xmlns="">
          <p:sp>
            <p:nvSpPr>
              <p:cNvPr id="2" name="Titre 1">
                <a:extLst>
                  <a:ext uri="{FF2B5EF4-FFF2-40B4-BE49-F238E27FC236}">
                    <a16:creationId xmlns:a16="http://schemas.microsoft.com/office/drawing/2014/main" id="{0BE3509D-3348-4EAF-8561-87B63923E6DA}"/>
                  </a:ext>
                </a:extLst>
              </p:cNvPr>
              <p:cNvSpPr>
                <a:spLocks noGrp="1" noRot="1" noChangeAspect="1" noMove="1" noResize="1" noEditPoints="1" noAdjustHandles="1" noChangeArrowheads="1" noChangeShapeType="1" noTextEdit="1"/>
              </p:cNvSpPr>
              <p:nvPr>
                <p:ph type="title"/>
              </p:nvPr>
            </p:nvSpPr>
            <p:spPr>
              <a:xfrm>
                <a:off x="742950" y="742951"/>
                <a:ext cx="3476625" cy="4962524"/>
              </a:xfrm>
              <a:blipFill>
                <a:blip r:embed="rId3"/>
                <a:stretch>
                  <a:fillRect/>
                </a:stretch>
              </a:blipFill>
            </p:spPr>
            <p:txBody>
              <a:bodyPr/>
              <a:lstStyle/>
              <a:p>
                <a:r>
                  <a:rPr lang="fr-CA">
                    <a:noFill/>
                  </a:rPr>
                  <a:t> </a:t>
                </a:r>
              </a:p>
            </p:txBody>
          </p:sp>
        </mc:Fallback>
      </mc:AlternateContent>
      <p:pic>
        <p:nvPicPr>
          <p:cNvPr id="5" name="Image 4">
            <a:extLst>
              <a:ext uri="{FF2B5EF4-FFF2-40B4-BE49-F238E27FC236}">
                <a16:creationId xmlns:a16="http://schemas.microsoft.com/office/drawing/2014/main" id="{57567F33-CDD6-4022-9908-4A3031D421EB}"/>
              </a:ext>
            </a:extLst>
          </p:cNvPr>
          <p:cNvPicPr/>
          <p:nvPr/>
        </p:nvPicPr>
        <p:blipFill>
          <a:blip r:embed="rId4"/>
          <a:stretch>
            <a:fillRect/>
          </a:stretch>
        </p:blipFill>
        <p:spPr>
          <a:xfrm>
            <a:off x="5153822" y="909857"/>
            <a:ext cx="6553545" cy="5046228"/>
          </a:xfrm>
          <a:prstGeom prst="rect">
            <a:avLst/>
          </a:prstGeom>
        </p:spPr>
      </p:pic>
      <p:sp>
        <p:nvSpPr>
          <p:cNvPr id="3" name="Espace réservé du pied de page 2">
            <a:extLst>
              <a:ext uri="{FF2B5EF4-FFF2-40B4-BE49-F238E27FC236}">
                <a16:creationId xmlns:a16="http://schemas.microsoft.com/office/drawing/2014/main" id="{0686D51C-30E2-4C56-B10F-49A1EC6824A3}"/>
              </a:ext>
            </a:extLst>
          </p:cNvPr>
          <p:cNvSpPr>
            <a:spLocks noGrp="1"/>
          </p:cNvSpPr>
          <p:nvPr>
            <p:ph type="ftr" sz="quarter" idx="11"/>
          </p:nvPr>
        </p:nvSpPr>
        <p:spPr>
          <a:xfrm>
            <a:off x="5144297" y="6423025"/>
            <a:ext cx="5618954" cy="365125"/>
          </a:xfrm>
        </p:spPr>
        <p:txBody>
          <a:bodyPr>
            <a:normAutofit/>
          </a:bodyPr>
          <a:lstStyle/>
          <a:p>
            <a:pPr algn="l"/>
            <a:endParaRPr lang="fr-CA"/>
          </a:p>
        </p:txBody>
      </p:sp>
      <p:sp>
        <p:nvSpPr>
          <p:cNvPr id="4" name="Espace réservé du numéro de diapositive 3">
            <a:extLst>
              <a:ext uri="{FF2B5EF4-FFF2-40B4-BE49-F238E27FC236}">
                <a16:creationId xmlns:a16="http://schemas.microsoft.com/office/drawing/2014/main" id="{D8738412-BDAA-4F7C-A231-A26CC85645D2}"/>
              </a:ext>
            </a:extLst>
          </p:cNvPr>
          <p:cNvSpPr>
            <a:spLocks noGrp="1"/>
          </p:cNvSpPr>
          <p:nvPr>
            <p:ph type="sldNum" sz="quarter" idx="12"/>
          </p:nvPr>
        </p:nvSpPr>
        <p:spPr>
          <a:xfrm>
            <a:off x="10926317" y="6423025"/>
            <a:ext cx="771525" cy="365125"/>
          </a:xfrm>
        </p:spPr>
        <p:txBody>
          <a:bodyPr>
            <a:normAutofit/>
          </a:bodyPr>
          <a:lstStyle/>
          <a:p>
            <a:pPr>
              <a:spcAft>
                <a:spcPts val="600"/>
              </a:spcAft>
            </a:pPr>
            <a:fld id="{26377AD9-CE17-438C-A638-C64D2D42D7CF}" type="slidenum">
              <a:rPr lang="fr-CA" smtClean="0"/>
              <a:pPr>
                <a:spcAft>
                  <a:spcPts val="600"/>
                </a:spcAft>
              </a:pPr>
              <a:t>9</a:t>
            </a:fld>
            <a:endParaRPr lang="fr-CA"/>
          </a:p>
        </p:txBody>
      </p:sp>
    </p:spTree>
    <p:extLst>
      <p:ext uri="{BB962C8B-B14F-4D97-AF65-F5344CB8AC3E}">
        <p14:creationId xmlns:p14="http://schemas.microsoft.com/office/powerpoint/2010/main" val="2499383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339C9A-C12A-4B75-B360-6CE62E65A1C9}"/>
              </a:ext>
            </a:extLst>
          </p:cNvPr>
          <p:cNvSpPr>
            <a:spLocks noGrp="1"/>
          </p:cNvSpPr>
          <p:nvPr>
            <p:ph type="title"/>
          </p:nvPr>
        </p:nvSpPr>
        <p:spPr>
          <a:xfrm>
            <a:off x="838200" y="365125"/>
            <a:ext cx="10515600" cy="3063875"/>
          </a:xfrm>
        </p:spPr>
        <p:txBody>
          <a:bodyPr>
            <a:normAutofit fontScale="90000"/>
          </a:bodyPr>
          <a:lstStyle/>
          <a:p>
            <a:pPr marL="226695" indent="-226695" algn="l">
              <a:lnSpc>
                <a:spcPct val="200000"/>
              </a:lnSpc>
              <a:spcBef>
                <a:spcPts val="1300"/>
              </a:spcBef>
              <a:spcAft>
                <a:spcPts val="300"/>
              </a:spcAft>
              <a:tabLst>
                <a:tab pos="152400" algn="r"/>
                <a:tab pos="449580" algn="l"/>
              </a:tabLst>
            </a:pPr>
            <a:r>
              <a:rPr lang="fr-CA" dirty="0"/>
              <a:t>Exemple1: </a:t>
            </a:r>
            <a:r>
              <a:rPr lang="fr-FR" sz="1800" dirty="0">
                <a:solidFill>
                  <a:srgbClr val="000000"/>
                </a:solidFill>
                <a:effectLst/>
                <a:latin typeface="Times New Roman" panose="02020603050405020304" pitchFamily="18" charset="0"/>
                <a:ea typeface="Times New Roman" panose="02020603050405020304" pitchFamily="18" charset="0"/>
              </a:rPr>
              <a:t>	La taille des arbres d’une forêt est distribuée normalement avec un écart-type de 18 cm. Un échantillon aléatoire de taille 15 de ces arbres a donné une moyenne de 145 cm.</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Déterminez un intervalle de confiance de 95 % pour la taille moyenne de la population des arbres de cette forêt.</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Sur la base de cet intervalle de confiance, peut-on dire que la taille moyenne de cette population d’arbres est au moins égale à une certaine valeur ? Expliquez pourquoi.</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32E2A4A1-A737-41D1-8019-1DF0E649DD14}"/>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6A40C0C4-F87F-4C4C-9F3F-A80A10AC3533}"/>
              </a:ext>
            </a:extLst>
          </p:cNvPr>
          <p:cNvSpPr>
            <a:spLocks noGrp="1"/>
          </p:cNvSpPr>
          <p:nvPr>
            <p:ph type="sldNum" sz="quarter" idx="12"/>
          </p:nvPr>
        </p:nvSpPr>
        <p:spPr/>
        <p:txBody>
          <a:bodyPr/>
          <a:lstStyle/>
          <a:p>
            <a:fld id="{26377AD9-CE17-438C-A638-C64D2D42D7CF}" type="slidenum">
              <a:rPr lang="fr-CA" smtClean="0"/>
              <a:t>10</a:t>
            </a:fld>
            <a:endParaRPr lang="fr-CA"/>
          </a:p>
        </p:txBody>
      </p:sp>
      <mc:AlternateContent xmlns:mc="http://schemas.openxmlformats.org/markup-compatibility/2006" xmlns:a14="http://schemas.microsoft.com/office/drawing/2010/main">
        <mc:Choice Requires="a14">
          <p:sp>
            <p:nvSpPr>
              <p:cNvPr id="5" name="ZoneTexte 4">
                <a:extLst>
                  <a:ext uri="{FF2B5EF4-FFF2-40B4-BE49-F238E27FC236}">
                    <a16:creationId xmlns:a16="http://schemas.microsoft.com/office/drawing/2014/main" id="{17CE723E-9BC1-472B-A1E4-487E03A5E551}"/>
                  </a:ext>
                </a:extLst>
              </p:cNvPr>
              <p:cNvSpPr txBox="1"/>
              <p:nvPr/>
            </p:nvSpPr>
            <p:spPr>
              <a:xfrm>
                <a:off x="1089212" y="3429000"/>
                <a:ext cx="9749117" cy="2833276"/>
              </a:xfrm>
              <a:prstGeom prst="rect">
                <a:avLst/>
              </a:prstGeom>
              <a:noFill/>
            </p:spPr>
            <p:txBody>
              <a:bodyPr wrap="square" rtlCol="0">
                <a:spAutoFit/>
              </a:bodyPr>
              <a:lstStyle/>
              <a:p>
                <a:r>
                  <a:rPr lang="fr-CA" b="1" dirty="0"/>
                  <a:t>Réponse:</a:t>
                </a:r>
                <a:r>
                  <a:rPr lang="fr-CA" dirty="0"/>
                  <a:t> Soit X la taille d’un arbre de cette forêt, elle est normale avec un écart type de 18 cm.</a:t>
                </a:r>
              </a:p>
              <a:p>
                <a:pPr marL="342900" indent="-342900">
                  <a:buAutoNum type="alphaLcParenBoth"/>
                </a:pPr>
                <a:r>
                  <a:rPr lang="fr-CA" dirty="0"/>
                  <a:t>Ici  </a:t>
                </a:r>
                <a14:m>
                  <m:oMath xmlns:m="http://schemas.openxmlformats.org/officeDocument/2006/math">
                    <m:r>
                      <a:rPr lang="fr-CA" i="1" smtClean="0">
                        <a:latin typeface="Cambria Math" panose="02040503050406030204" pitchFamily="18" charset="0"/>
                        <a:ea typeface="Cambria Math" panose="02040503050406030204" pitchFamily="18" charset="0"/>
                      </a:rPr>
                      <m:t>𝛼</m:t>
                    </m:r>
                    <m:r>
                      <a:rPr lang="fr-CA" b="0" i="1" smtClean="0">
                        <a:latin typeface="Cambria Math" panose="02040503050406030204" pitchFamily="18" charset="0"/>
                        <a:ea typeface="Cambria Math" panose="02040503050406030204" pitchFamily="18" charset="0"/>
                      </a:rPr>
                      <m:t>=5%→</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𝛼</m:t>
                        </m:r>
                      </m:num>
                      <m:den>
                        <m:r>
                          <a:rPr lang="fr-CA" b="0" i="1" smtClean="0">
                            <a:latin typeface="Cambria Math" panose="02040503050406030204" pitchFamily="18" charset="0"/>
                            <a:ea typeface="Cambria Math" panose="02040503050406030204" pitchFamily="18" charset="0"/>
                          </a:rPr>
                          <m:t>2</m:t>
                        </m:r>
                      </m:den>
                    </m:f>
                    <m:r>
                      <a:rPr lang="fr-CA" b="0" i="1" smtClean="0">
                        <a:latin typeface="Cambria Math" panose="02040503050406030204" pitchFamily="18" charset="0"/>
                        <a:ea typeface="Cambria Math" panose="02040503050406030204" pitchFamily="18" charset="0"/>
                      </a:rPr>
                      <m:t>=0,025→1−</m:t>
                    </m:r>
                    <m:f>
                      <m:fPr>
                        <m:ctrlPr>
                          <a:rPr lang="fr-CA" b="0" i="1" smtClean="0">
                            <a:latin typeface="Cambria Math" panose="02040503050406030204" pitchFamily="18" charset="0"/>
                            <a:ea typeface="Cambria Math" panose="02040503050406030204" pitchFamily="18" charset="0"/>
                          </a:rPr>
                        </m:ctrlPr>
                      </m:fPr>
                      <m:num>
                        <m:r>
                          <a:rPr lang="fr-CA" b="0" i="1" smtClean="0">
                            <a:latin typeface="Cambria Math" panose="02040503050406030204" pitchFamily="18" charset="0"/>
                            <a:ea typeface="Cambria Math" panose="02040503050406030204" pitchFamily="18" charset="0"/>
                          </a:rPr>
                          <m:t>𝛼</m:t>
                        </m:r>
                      </m:num>
                      <m:den>
                        <m:r>
                          <a:rPr lang="fr-CA" b="0" i="1" smtClean="0">
                            <a:latin typeface="Cambria Math" panose="02040503050406030204" pitchFamily="18" charset="0"/>
                            <a:ea typeface="Cambria Math" panose="02040503050406030204" pitchFamily="18" charset="0"/>
                          </a:rPr>
                          <m:t>2</m:t>
                        </m:r>
                      </m:den>
                    </m:f>
                    <m:r>
                      <a:rPr lang="fr-CA" b="0" i="1" smtClean="0">
                        <a:latin typeface="Cambria Math" panose="02040503050406030204" pitchFamily="18" charset="0"/>
                        <a:ea typeface="Cambria Math" panose="02040503050406030204" pitchFamily="18" charset="0"/>
                      </a:rPr>
                      <m:t>=0,975    </m:t>
                    </m:r>
                    <m:r>
                      <a:rPr lang="fr-CA" b="0" i="1" smtClean="0">
                        <a:latin typeface="Cambria Math" panose="02040503050406030204" pitchFamily="18" charset="0"/>
                        <a:ea typeface="Cambria Math" panose="02040503050406030204" pitchFamily="18" charset="0"/>
                      </a:rPr>
                      <m:t>𝑝𝑜𝑢𝑟</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𝑡𝑟𝑜𝑢𝑣𝑒𝑟</m:t>
                    </m:r>
                    <m:r>
                      <a:rPr lang="fr-CA" b="0" i="1" smtClean="0">
                        <a:latin typeface="Cambria Math" panose="02040503050406030204" pitchFamily="18" charset="0"/>
                        <a:ea typeface="Cambria Math" panose="02040503050406030204" pitchFamily="18" charset="0"/>
                      </a:rPr>
                      <m:t> </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𝑧</m:t>
                        </m:r>
                      </m:e>
                      <m:sub>
                        <m:r>
                          <a:rPr lang="fr-CA" b="0" i="1" smtClean="0">
                            <a:latin typeface="Cambria Math" panose="02040503050406030204" pitchFamily="18" charset="0"/>
                            <a:ea typeface="Cambria Math" panose="02040503050406030204" pitchFamily="18" charset="0"/>
                          </a:rPr>
                          <m:t>0,025    </m:t>
                        </m:r>
                      </m:sub>
                    </m:sSub>
                    <m:r>
                      <a:rPr lang="fr-CA" b="0" i="1" smtClean="0">
                        <a:latin typeface="Cambria Math" panose="02040503050406030204" pitchFamily="18" charset="0"/>
                        <a:ea typeface="Cambria Math" panose="02040503050406030204" pitchFamily="18" charset="0"/>
                      </a:rPr>
                      <m:t>𝑜𝑛</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𝑡𝑎𝑝𝑒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𝑞𝑛𝑜𝑟𝑚</m:t>
                    </m:r>
                    <m:d>
                      <m:dPr>
                        <m:ctrlPr>
                          <a:rPr lang="fr-CA" b="0" i="1" smtClean="0">
                            <a:latin typeface="Cambria Math" panose="02040503050406030204" pitchFamily="18" charset="0"/>
                            <a:ea typeface="Cambria Math" panose="02040503050406030204" pitchFamily="18" charset="0"/>
                          </a:rPr>
                        </m:ctrlPr>
                      </m:dPr>
                      <m:e>
                        <m:r>
                          <a:rPr lang="fr-CA" b="0" i="1" smtClean="0">
                            <a:latin typeface="Cambria Math" panose="02040503050406030204" pitchFamily="18" charset="0"/>
                            <a:ea typeface="Cambria Math" panose="02040503050406030204" pitchFamily="18" charset="0"/>
                          </a:rPr>
                          <m:t>0.975,0,1</m:t>
                        </m:r>
                      </m:e>
                    </m:d>
                    <m:r>
                      <a:rPr lang="fr-CA" b="0" i="1" smtClean="0">
                        <a:latin typeface="Cambria Math" panose="02040503050406030204" pitchFamily="18" charset="0"/>
                        <a:ea typeface="Cambria Math" panose="02040503050406030204" pitchFamily="18" charset="0"/>
                      </a:rPr>
                      <m:t>𝑐𝑒</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𝑞𝑢𝑖</m:t>
                    </m:r>
                    <m:r>
                      <a:rPr lang="fr-CA" b="0" i="1" smtClean="0">
                        <a:latin typeface="Cambria Math" panose="02040503050406030204" pitchFamily="18" charset="0"/>
                        <a:ea typeface="Cambria Math" panose="02040503050406030204" pitchFamily="18" charset="0"/>
                      </a:rPr>
                      <m:t> </m:t>
                    </m:r>
                    <m:r>
                      <a:rPr lang="fr-CA" b="0" i="1" smtClean="0">
                        <a:latin typeface="Cambria Math" panose="02040503050406030204" pitchFamily="18" charset="0"/>
                        <a:ea typeface="Cambria Math" panose="02040503050406030204" pitchFamily="18" charset="0"/>
                      </a:rPr>
                      <m:t>𝑑𝑜𝑛𝑛𝑒</m:t>
                    </m:r>
                    <m:r>
                      <a:rPr lang="fr-CA" b="0" i="1" smtClean="0">
                        <a:latin typeface="Cambria Math" panose="02040503050406030204" pitchFamily="18" charset="0"/>
                        <a:ea typeface="Cambria Math" panose="02040503050406030204" pitchFamily="18" charset="0"/>
                      </a:rPr>
                      <m:t> </m:t>
                    </m:r>
                    <m:sSub>
                      <m:sSubPr>
                        <m:ctrlPr>
                          <a:rPr lang="fr-CA" b="0" i="1" smtClean="0">
                            <a:latin typeface="Cambria Math" panose="02040503050406030204" pitchFamily="18" charset="0"/>
                            <a:ea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𝑧</m:t>
                        </m:r>
                      </m:e>
                      <m:sub>
                        <m:r>
                          <a:rPr lang="fr-CA" b="0" i="1" smtClean="0">
                            <a:latin typeface="Cambria Math" panose="02040503050406030204" pitchFamily="18" charset="0"/>
                            <a:ea typeface="Cambria Math" panose="02040503050406030204" pitchFamily="18" charset="0"/>
                          </a:rPr>
                          <m:t>0,025</m:t>
                        </m:r>
                      </m:sub>
                    </m:sSub>
                    <m:r>
                      <a:rPr lang="fr-CA" b="0" i="1" smtClean="0">
                        <a:latin typeface="Cambria Math" panose="02040503050406030204" pitchFamily="18" charset="0"/>
                        <a:ea typeface="Cambria Math" panose="02040503050406030204" pitchFamily="18" charset="0"/>
                      </a:rPr>
                      <m:t>=1,96</m:t>
                    </m:r>
                  </m:oMath>
                </a14:m>
                <a:endParaRPr lang="fr-CA" dirty="0"/>
              </a:p>
              <a:p>
                <a:r>
                  <a:rPr lang="fr-CA" dirty="0"/>
                  <a:t>La marge d’erreur est </a:t>
                </a:r>
                <a14:m>
                  <m:oMath xmlns:m="http://schemas.openxmlformats.org/officeDocument/2006/math">
                    <m:r>
                      <a:rPr lang="fr-CA" b="0" i="1" smtClean="0">
                        <a:latin typeface="Cambria Math" panose="02040503050406030204" pitchFamily="18" charset="0"/>
                      </a:rPr>
                      <m:t>𝐸</m:t>
                    </m:r>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𝑧</m:t>
                        </m:r>
                      </m:e>
                      <m:sub>
                        <m:r>
                          <a:rPr lang="fr-CA" b="0" i="1" smtClean="0">
                            <a:latin typeface="Cambria Math" panose="02040503050406030204" pitchFamily="18" charset="0"/>
                          </a:rPr>
                          <m:t>0,025</m:t>
                        </m:r>
                      </m:sub>
                    </m:sSub>
                    <m:f>
                      <m:fPr>
                        <m:ctrlPr>
                          <a:rPr lang="fr-CA" b="0" i="1" smtClean="0">
                            <a:latin typeface="Cambria Math" panose="02040503050406030204" pitchFamily="18" charset="0"/>
                          </a:rPr>
                        </m:ctrlPr>
                      </m:fPr>
                      <m:num>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Sub>
                      </m:num>
                      <m:den>
                        <m:rad>
                          <m:radPr>
                            <m:degHide m:val="on"/>
                            <m:ctrlPr>
                              <a:rPr lang="fr-CA" b="0" i="1" smtClean="0">
                                <a:latin typeface="Cambria Math" panose="02040503050406030204" pitchFamily="18" charset="0"/>
                              </a:rPr>
                            </m:ctrlPr>
                          </m:radPr>
                          <m:deg/>
                          <m:e>
                            <m:r>
                              <a:rPr lang="fr-CA" b="0" i="1" smtClean="0">
                                <a:latin typeface="Cambria Math" panose="02040503050406030204" pitchFamily="18" charset="0"/>
                              </a:rPr>
                              <m:t>𝑛</m:t>
                            </m:r>
                          </m:e>
                        </m:rad>
                      </m:den>
                    </m:f>
                    <m:r>
                      <a:rPr lang="fr-CA" b="0" i="1" smtClean="0">
                        <a:latin typeface="Cambria Math" panose="02040503050406030204" pitchFamily="18" charset="0"/>
                      </a:rPr>
                      <m:t>=1,96</m:t>
                    </m:r>
                    <m:f>
                      <m:fPr>
                        <m:ctrlPr>
                          <a:rPr lang="fr-CA" b="0" i="1" smtClean="0">
                            <a:latin typeface="Cambria Math" panose="02040503050406030204" pitchFamily="18" charset="0"/>
                          </a:rPr>
                        </m:ctrlPr>
                      </m:fPr>
                      <m:num>
                        <m:r>
                          <a:rPr lang="fr-CA" b="0" i="1" smtClean="0">
                            <a:latin typeface="Cambria Math" panose="02040503050406030204" pitchFamily="18" charset="0"/>
                          </a:rPr>
                          <m:t>18</m:t>
                        </m:r>
                      </m:num>
                      <m:den>
                        <m:rad>
                          <m:radPr>
                            <m:degHide m:val="on"/>
                            <m:ctrlPr>
                              <a:rPr lang="fr-CA" b="0" i="1" smtClean="0">
                                <a:latin typeface="Cambria Math" panose="02040503050406030204" pitchFamily="18" charset="0"/>
                              </a:rPr>
                            </m:ctrlPr>
                          </m:radPr>
                          <m:deg/>
                          <m:e>
                            <m:r>
                              <a:rPr lang="fr-CA" b="0" i="1" smtClean="0">
                                <a:latin typeface="Cambria Math" panose="02040503050406030204" pitchFamily="18" charset="0"/>
                              </a:rPr>
                              <m:t>15</m:t>
                            </m:r>
                          </m:e>
                        </m:rad>
                      </m:den>
                    </m:f>
                    <m:r>
                      <a:rPr lang="fr-CA" b="0" i="1" smtClean="0">
                        <a:latin typeface="Cambria Math" panose="02040503050406030204" pitchFamily="18" charset="0"/>
                      </a:rPr>
                      <m:t>=9,1093</m:t>
                    </m:r>
                  </m:oMath>
                </a14:m>
                <a:r>
                  <a:rPr lang="fr-CA" dirty="0"/>
                  <a:t> et donc un intervalle de confiance de niveau 95% pour la taille moyenne des arbres de cette forêt est: </a:t>
                </a:r>
              </a:p>
              <a:p>
                <a:pPr/>
                <a14:m>
                  <m:oMathPara xmlns:m="http://schemas.openxmlformats.org/officeDocument/2006/math">
                    <m:oMathParaPr>
                      <m:jc m:val="centerGroup"/>
                    </m:oMathParaPr>
                    <m:oMath xmlns:m="http://schemas.openxmlformats.org/officeDocument/2006/math">
                      <m:d>
                        <m:dPr>
                          <m:begChr m:val="["/>
                          <m:endChr m:val="]"/>
                          <m:ctrlPr>
                            <a:rPr lang="fr-CA" i="1" smtClean="0">
                              <a:latin typeface="Cambria Math" panose="02040503050406030204" pitchFamily="18" charset="0"/>
                            </a:rPr>
                          </m:ctrlPr>
                        </m:dPr>
                        <m:e>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𝑥</m:t>
                              </m:r>
                            </m:e>
                          </m:acc>
                          <m:r>
                            <a:rPr lang="fr-CA" b="0" i="1" smtClean="0">
                              <a:latin typeface="Cambria Math" panose="02040503050406030204" pitchFamily="18" charset="0"/>
                            </a:rPr>
                            <m:t>−</m:t>
                          </m:r>
                          <m:r>
                            <a:rPr lang="fr-CA" b="0" i="1" smtClean="0">
                              <a:latin typeface="Cambria Math" panose="02040503050406030204" pitchFamily="18" charset="0"/>
                            </a:rPr>
                            <m:t>𝐸</m:t>
                          </m:r>
                          <m:r>
                            <a:rPr lang="fr-CA" b="0" i="1" smtClean="0">
                              <a:latin typeface="Cambria Math" panose="02040503050406030204" pitchFamily="18" charset="0"/>
                            </a:rPr>
                            <m:t>; </m:t>
                          </m:r>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𝑥</m:t>
                              </m:r>
                            </m:e>
                          </m:acc>
                          <m:r>
                            <a:rPr lang="fr-CA" b="0" i="1" smtClean="0">
                              <a:latin typeface="Cambria Math" panose="02040503050406030204" pitchFamily="18" charset="0"/>
                            </a:rPr>
                            <m:t>+</m:t>
                          </m:r>
                          <m:r>
                            <a:rPr lang="fr-CA" b="0" i="1" smtClean="0">
                              <a:latin typeface="Cambria Math" panose="02040503050406030204" pitchFamily="18" charset="0"/>
                            </a:rPr>
                            <m:t>𝐸</m:t>
                          </m:r>
                        </m:e>
                      </m:d>
                      <m:r>
                        <a:rPr lang="fr-CA" b="0" i="1" smtClean="0">
                          <a:latin typeface="Cambria Math" panose="02040503050406030204" pitchFamily="18" charset="0"/>
                        </a:rPr>
                        <m:t>=</m:t>
                      </m:r>
                      <m:d>
                        <m:dPr>
                          <m:begChr m:val="["/>
                          <m:endChr m:val="]"/>
                          <m:ctrlPr>
                            <a:rPr lang="fr-CA" b="0" i="1" smtClean="0">
                              <a:latin typeface="Cambria Math" panose="02040503050406030204" pitchFamily="18" charset="0"/>
                            </a:rPr>
                          </m:ctrlPr>
                        </m:dPr>
                        <m:e>
                          <m:r>
                            <a:rPr lang="fr-CA" b="0" i="1" smtClean="0">
                              <a:latin typeface="Cambria Math" panose="02040503050406030204" pitchFamily="18" charset="0"/>
                            </a:rPr>
                            <m:t>145−9,1093;145+9,1093</m:t>
                          </m:r>
                        </m:e>
                      </m:d>
                      <m:r>
                        <a:rPr lang="fr-CA" b="0" i="1" smtClean="0">
                          <a:latin typeface="Cambria Math" panose="02040503050406030204" pitchFamily="18" charset="0"/>
                        </a:rPr>
                        <m:t>=</m:t>
                      </m:r>
                      <m:d>
                        <m:dPr>
                          <m:begChr m:val="["/>
                          <m:endChr m:val="]"/>
                          <m:ctrlPr>
                            <a:rPr lang="fr-CA" b="0" i="1" smtClean="0">
                              <a:latin typeface="Cambria Math" panose="02040503050406030204" pitchFamily="18" charset="0"/>
                            </a:rPr>
                          </m:ctrlPr>
                        </m:dPr>
                        <m:e>
                          <m:r>
                            <a:rPr lang="fr-CA" b="0" i="1" smtClean="0">
                              <a:latin typeface="Cambria Math" panose="02040503050406030204" pitchFamily="18" charset="0"/>
                            </a:rPr>
                            <m:t>135.89;  154,11</m:t>
                          </m:r>
                        </m:e>
                      </m:d>
                    </m:oMath>
                  </m:oMathPara>
                </a14:m>
                <a:endParaRPr lang="fr-CA" dirty="0"/>
              </a:p>
              <a:p>
                <a:endParaRPr lang="fr-CA" dirty="0"/>
              </a:p>
              <a:p>
                <a:r>
                  <a:rPr lang="fr-CA" dirty="0"/>
                  <a:t>(b) Sur la base de cet intervalle de confiance, on est confiant à 95% que la taille moyenne des arbres de cette forêt dépasse 135 cm. </a:t>
                </a:r>
              </a:p>
            </p:txBody>
          </p:sp>
        </mc:Choice>
        <mc:Fallback xmlns="">
          <p:sp>
            <p:nvSpPr>
              <p:cNvPr id="5" name="ZoneTexte 4">
                <a:extLst>
                  <a:ext uri="{FF2B5EF4-FFF2-40B4-BE49-F238E27FC236}">
                    <a16:creationId xmlns:a16="http://schemas.microsoft.com/office/drawing/2014/main" id="{17CE723E-9BC1-472B-A1E4-487E03A5E551}"/>
                  </a:ext>
                </a:extLst>
              </p:cNvPr>
              <p:cNvSpPr txBox="1">
                <a:spLocks noRot="1" noChangeAspect="1" noMove="1" noResize="1" noEditPoints="1" noAdjustHandles="1" noChangeArrowheads="1" noChangeShapeType="1" noTextEdit="1"/>
              </p:cNvSpPr>
              <p:nvPr/>
            </p:nvSpPr>
            <p:spPr>
              <a:xfrm>
                <a:off x="1089212" y="3429000"/>
                <a:ext cx="9749117" cy="2833276"/>
              </a:xfrm>
              <a:prstGeom prst="rect">
                <a:avLst/>
              </a:prstGeom>
              <a:blipFill>
                <a:blip r:embed="rId2"/>
                <a:stretch>
                  <a:fillRect l="-563" t="-1293" r="-250" b="-2371"/>
                </a:stretch>
              </a:blipFill>
            </p:spPr>
            <p:txBody>
              <a:bodyPr/>
              <a:lstStyle/>
              <a:p>
                <a:r>
                  <a:rPr lang="fr-CA">
                    <a:noFill/>
                  </a:rPr>
                  <a:t> </a:t>
                </a:r>
              </a:p>
            </p:txBody>
          </p:sp>
        </mc:Fallback>
      </mc:AlternateContent>
    </p:spTree>
    <p:extLst>
      <p:ext uri="{BB962C8B-B14F-4D97-AF65-F5344CB8AC3E}">
        <p14:creationId xmlns:p14="http://schemas.microsoft.com/office/powerpoint/2010/main" val="293035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EC002D-DA92-4BB3-A1CE-23A0708FA88C}"/>
              </a:ext>
            </a:extLst>
          </p:cNvPr>
          <p:cNvSpPr>
            <a:spLocks noGrp="1"/>
          </p:cNvSpPr>
          <p:nvPr>
            <p:ph type="title"/>
          </p:nvPr>
        </p:nvSpPr>
        <p:spPr>
          <a:xfrm>
            <a:off x="838200" y="365125"/>
            <a:ext cx="10515600" cy="3857251"/>
          </a:xfrm>
        </p:spPr>
        <p:txBody>
          <a:bodyPr>
            <a:normAutofit fontScale="90000"/>
          </a:bodyPr>
          <a:lstStyle/>
          <a:p>
            <a:pPr marL="226695" indent="-226695" algn="l">
              <a:lnSpc>
                <a:spcPct val="200000"/>
              </a:lnSpc>
              <a:spcBef>
                <a:spcPts val="1300"/>
              </a:spcBef>
              <a:spcAft>
                <a:spcPts val="300"/>
              </a:spcAft>
              <a:tabLst>
                <a:tab pos="152400" algn="r"/>
                <a:tab pos="449580" algn="l"/>
              </a:tabLst>
            </a:pPr>
            <a:r>
              <a:rPr lang="fr-CA" dirty="0"/>
              <a:t>Exemple 2: </a:t>
            </a:r>
            <a:r>
              <a:rPr lang="fr-FR" sz="1800" dirty="0">
                <a:solidFill>
                  <a:srgbClr val="000000"/>
                </a:solidFill>
                <a:effectLst/>
                <a:latin typeface="Times New Roman" panose="02020603050405020304" pitchFamily="18" charset="0"/>
                <a:ea typeface="Times New Roman" panose="02020603050405020304" pitchFamily="18" charset="0"/>
              </a:rPr>
              <a:t>Soit </a:t>
            </a:r>
            <a:r>
              <a:rPr lang="fr-FR" sz="1800" i="1" dirty="0">
                <a:solidFill>
                  <a:srgbClr val="000000"/>
                </a:solidFill>
                <a:effectLst/>
                <a:latin typeface="Times New Roman" panose="02020603050405020304" pitchFamily="18" charset="0"/>
                <a:ea typeface="Times New Roman" panose="02020603050405020304" pitchFamily="18" charset="0"/>
              </a:rPr>
              <a:t>X :</a:t>
            </a:r>
            <a:r>
              <a:rPr lang="fr-FR" sz="1800" dirty="0">
                <a:solidFill>
                  <a:srgbClr val="000000"/>
                </a:solidFill>
                <a:effectLst/>
                <a:latin typeface="Times New Roman" panose="02020603050405020304" pitchFamily="18" charset="0"/>
                <a:ea typeface="Times New Roman" panose="02020603050405020304" pitchFamily="18" charset="0"/>
              </a:rPr>
              <a:t> une variable normalement distribuée. Un intervalle de confiance pour sa moyenne présente une largeur de 165,8.</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Déterminez la marge d’erreur associée à cet intervalle.</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Si la moyenne de l’échantillon est de 645,8, déterminez cet intervalle de confiance.</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c)	Si on sait que l’écart-type de cette variable est égal à 198, quelle est la taille de l’échantillon qui a été utilisé pour trouver cet intervalle de confiance de niveau 95 % ?</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024EC1C7-8143-4D65-A03B-1B0BD496EFC7}"/>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21568455-AFD5-4EE9-81EB-BF8258D68C6D}"/>
              </a:ext>
            </a:extLst>
          </p:cNvPr>
          <p:cNvSpPr>
            <a:spLocks noGrp="1"/>
          </p:cNvSpPr>
          <p:nvPr>
            <p:ph type="sldNum" sz="quarter" idx="12"/>
          </p:nvPr>
        </p:nvSpPr>
        <p:spPr/>
        <p:txBody>
          <a:bodyPr/>
          <a:lstStyle/>
          <a:p>
            <a:fld id="{26377AD9-CE17-438C-A638-C64D2D42D7CF}" type="slidenum">
              <a:rPr lang="fr-CA" smtClean="0"/>
              <a:t>11</a:t>
            </a:fld>
            <a:endParaRPr lang="fr-CA"/>
          </a:p>
        </p:txBody>
      </p:sp>
      <p:sp>
        <p:nvSpPr>
          <p:cNvPr id="5" name="ZoneTexte 4">
            <a:extLst>
              <a:ext uri="{FF2B5EF4-FFF2-40B4-BE49-F238E27FC236}">
                <a16:creationId xmlns:a16="http://schemas.microsoft.com/office/drawing/2014/main" id="{A527B37E-0785-43CA-A503-E4F0DD08D567}"/>
              </a:ext>
            </a:extLst>
          </p:cNvPr>
          <p:cNvSpPr txBox="1"/>
          <p:nvPr/>
        </p:nvSpPr>
        <p:spPr>
          <a:xfrm>
            <a:off x="1129553" y="3913094"/>
            <a:ext cx="9977718" cy="2164977"/>
          </a:xfrm>
          <a:prstGeom prst="rect">
            <a:avLst/>
          </a:prstGeom>
          <a:noFill/>
        </p:spPr>
        <p:txBody>
          <a:bodyPr wrap="square" rtlCol="0">
            <a:spAutoFit/>
          </a:bodyPr>
          <a:lstStyle/>
          <a:p>
            <a:endParaRPr lang="fr-CA" dirty="0"/>
          </a:p>
        </p:txBody>
      </p:sp>
      <mc:AlternateContent xmlns:mc="http://schemas.openxmlformats.org/markup-compatibility/2006" xmlns:a14="http://schemas.microsoft.com/office/drawing/2010/main">
        <mc:Choice Requires="a14">
          <p:sp>
            <p:nvSpPr>
              <p:cNvPr id="6" name="ZoneTexte 5">
                <a:extLst>
                  <a:ext uri="{FF2B5EF4-FFF2-40B4-BE49-F238E27FC236}">
                    <a16:creationId xmlns:a16="http://schemas.microsoft.com/office/drawing/2014/main" id="{1B4912AB-0D95-4B96-91D4-85BC680B2380}"/>
                  </a:ext>
                </a:extLst>
              </p:cNvPr>
              <p:cNvSpPr txBox="1"/>
              <p:nvPr/>
            </p:nvSpPr>
            <p:spPr>
              <a:xfrm>
                <a:off x="1250576" y="3913094"/>
                <a:ext cx="10394577" cy="1066959"/>
              </a:xfrm>
              <a:prstGeom prst="rect">
                <a:avLst/>
              </a:prstGeom>
              <a:noFill/>
            </p:spPr>
            <p:txBody>
              <a:bodyPr wrap="square" rtlCol="0">
                <a:spAutoFit/>
              </a:bodyPr>
              <a:lstStyle/>
              <a:p>
                <a:pPr marL="342900" indent="-342900">
                  <a:buAutoNum type="alphaLcParenR"/>
                </a:pPr>
                <a:r>
                  <a:rPr lang="fr-CA" dirty="0"/>
                  <a:t>La largeur d’un intervalle de confiance est égale à </a:t>
                </a:r>
                <a14:m>
                  <m:oMath xmlns:m="http://schemas.openxmlformats.org/officeDocument/2006/math">
                    <m:r>
                      <a:rPr lang="fr-CA" b="0" i="1" smtClean="0">
                        <a:latin typeface="Cambria Math" panose="02040503050406030204" pitchFamily="18" charset="0"/>
                      </a:rPr>
                      <m:t>𝐿</m:t>
                    </m:r>
                    <m:r>
                      <a:rPr lang="fr-CA" b="0" i="1" smtClean="0">
                        <a:latin typeface="Cambria Math" panose="02040503050406030204" pitchFamily="18" charset="0"/>
                      </a:rPr>
                      <m:t>=2</m:t>
                    </m:r>
                    <m:r>
                      <a:rPr lang="fr-CA" b="0" i="1" smtClean="0">
                        <a:latin typeface="Cambria Math" panose="02040503050406030204" pitchFamily="18" charset="0"/>
                      </a:rPr>
                      <m:t>𝐸</m:t>
                    </m:r>
                    <m:r>
                      <a:rPr lang="fr-CA" b="0" i="1" smtClean="0">
                        <a:latin typeface="Cambria Math" panose="02040503050406030204" pitchFamily="18" charset="0"/>
                      </a:rPr>
                      <m:t>=165,8→</m:t>
                    </m:r>
                    <m:r>
                      <a:rPr lang="fr-CA" b="0" i="1" smtClean="0">
                        <a:latin typeface="Cambria Math" panose="02040503050406030204" pitchFamily="18" charset="0"/>
                        <a:ea typeface="Cambria Math" panose="02040503050406030204" pitchFamily="18" charset="0"/>
                      </a:rPr>
                      <m:t>𝐸</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𝑚𝑎𝑟𝑔𝑒</m:t>
                    </m:r>
                    <m:r>
                      <a:rPr lang="fr-CA" b="0" i="1" smtClean="0">
                        <a:latin typeface="Cambria Math" panose="02040503050406030204" pitchFamily="18" charset="0"/>
                        <a:ea typeface="Cambria Math" panose="02040503050406030204" pitchFamily="18" charset="0"/>
                      </a:rPr>
                      <m:t> </m:t>
                    </m:r>
                    <m:sSup>
                      <m:sSupPr>
                        <m:ctrlPr>
                          <a:rPr lang="fr-CA" b="0" i="1" smtClean="0">
                            <a:latin typeface="Cambria Math" panose="02040503050406030204" pitchFamily="18" charset="0"/>
                            <a:ea typeface="Cambria Math" panose="02040503050406030204" pitchFamily="18" charset="0"/>
                          </a:rPr>
                        </m:ctrlPr>
                      </m:sSupPr>
                      <m:e>
                        <m:r>
                          <a:rPr lang="fr-CA" b="0" i="1" smtClean="0">
                            <a:latin typeface="Cambria Math" panose="02040503050406030204" pitchFamily="18" charset="0"/>
                            <a:ea typeface="Cambria Math" panose="02040503050406030204" pitchFamily="18" charset="0"/>
                          </a:rPr>
                          <m:t>𝑑</m:t>
                        </m:r>
                      </m:e>
                      <m:sup>
                        <m:r>
                          <a:rPr lang="fr-CA" b="0" i="1" smtClean="0">
                            <a:latin typeface="Cambria Math" panose="02040503050406030204" pitchFamily="18" charset="0"/>
                            <a:ea typeface="Cambria Math" panose="02040503050406030204" pitchFamily="18" charset="0"/>
                          </a:rPr>
                          <m:t>′</m:t>
                        </m:r>
                      </m:sup>
                    </m:sSup>
                    <m:r>
                      <a:rPr lang="fr-CA" b="0" i="1" smtClean="0">
                        <a:latin typeface="Cambria Math" panose="02040503050406030204" pitchFamily="18" charset="0"/>
                        <a:ea typeface="Cambria Math" panose="02040503050406030204" pitchFamily="18" charset="0"/>
                      </a:rPr>
                      <m:t>𝑒𝑟𝑟𝑒𝑢𝑟</m:t>
                    </m:r>
                    <m:r>
                      <a:rPr lang="fr-CA" b="0" i="1" smtClean="0">
                        <a:latin typeface="Cambria Math" panose="02040503050406030204" pitchFamily="18" charset="0"/>
                        <a:ea typeface="Cambria Math" panose="02040503050406030204" pitchFamily="18" charset="0"/>
                      </a:rPr>
                      <m:t>=82,9 </m:t>
                    </m:r>
                  </m:oMath>
                </a14:m>
                <a:endParaRPr lang="fr-CA" dirty="0"/>
              </a:p>
              <a:p>
                <a:pPr marL="342900" indent="-342900">
                  <a:buAutoNum type="alphaLcParenR"/>
                </a:pPr>
                <a:r>
                  <a:rPr lang="fr-CA" dirty="0"/>
                  <a:t>Cet intervalle de confiance sera </a:t>
                </a:r>
                <a14:m>
                  <m:oMath xmlns:m="http://schemas.openxmlformats.org/officeDocument/2006/math">
                    <m:d>
                      <m:dPr>
                        <m:begChr m:val="["/>
                        <m:endChr m:val="]"/>
                        <m:ctrlPr>
                          <a:rPr lang="fr-CA" i="1" smtClean="0">
                            <a:latin typeface="Cambria Math" panose="02040503050406030204" pitchFamily="18" charset="0"/>
                          </a:rPr>
                        </m:ctrlPr>
                      </m:dPr>
                      <m:e>
                        <m:acc>
                          <m:accPr>
                            <m:chr m:val="̅"/>
                            <m:ctrlPr>
                              <a:rPr lang="fr-CA" i="1" smtClean="0">
                                <a:latin typeface="Cambria Math" panose="02040503050406030204" pitchFamily="18" charset="0"/>
                              </a:rPr>
                            </m:ctrlPr>
                          </m:accPr>
                          <m:e>
                            <m:r>
                              <a:rPr lang="fr-CA" b="0" i="1" smtClean="0">
                                <a:latin typeface="Cambria Math" panose="02040503050406030204" pitchFamily="18" charset="0"/>
                              </a:rPr>
                              <m:t>𝑥</m:t>
                            </m:r>
                          </m:e>
                        </m:acc>
                        <m:r>
                          <a:rPr lang="fr-CA" b="0" i="1" smtClean="0">
                            <a:latin typeface="Cambria Math" panose="02040503050406030204" pitchFamily="18" charset="0"/>
                          </a:rPr>
                          <m:t>−</m:t>
                        </m:r>
                        <m:r>
                          <a:rPr lang="fr-CA" b="0" i="1" smtClean="0">
                            <a:latin typeface="Cambria Math" panose="02040503050406030204" pitchFamily="18" charset="0"/>
                          </a:rPr>
                          <m:t>𝐸</m:t>
                        </m:r>
                        <m:r>
                          <a:rPr lang="fr-CA" b="0" i="1" smtClean="0">
                            <a:latin typeface="Cambria Math" panose="02040503050406030204" pitchFamily="18" charset="0"/>
                          </a:rPr>
                          <m:t>; </m:t>
                        </m:r>
                        <m:acc>
                          <m:accPr>
                            <m:chr m:val="̅"/>
                            <m:ctrlPr>
                              <a:rPr lang="fr-CA" b="0" i="1" smtClean="0">
                                <a:latin typeface="Cambria Math" panose="02040503050406030204" pitchFamily="18" charset="0"/>
                              </a:rPr>
                            </m:ctrlPr>
                          </m:accPr>
                          <m:e>
                            <m:r>
                              <a:rPr lang="fr-CA" b="0" i="1" smtClean="0">
                                <a:latin typeface="Cambria Math" panose="02040503050406030204" pitchFamily="18" charset="0"/>
                              </a:rPr>
                              <m:t>𝑥</m:t>
                            </m:r>
                          </m:e>
                        </m:acc>
                        <m:r>
                          <a:rPr lang="fr-CA" b="0" i="1" smtClean="0">
                            <a:latin typeface="Cambria Math" panose="02040503050406030204" pitchFamily="18" charset="0"/>
                          </a:rPr>
                          <m:t>+</m:t>
                        </m:r>
                        <m:r>
                          <a:rPr lang="fr-CA" b="0" i="1" smtClean="0">
                            <a:latin typeface="Cambria Math" panose="02040503050406030204" pitchFamily="18" charset="0"/>
                          </a:rPr>
                          <m:t>𝐸</m:t>
                        </m:r>
                      </m:e>
                    </m:d>
                    <m:r>
                      <a:rPr lang="fr-CA" b="0" i="1" smtClean="0">
                        <a:latin typeface="Cambria Math" panose="02040503050406030204" pitchFamily="18" charset="0"/>
                      </a:rPr>
                      <m:t>=</m:t>
                    </m:r>
                    <m:d>
                      <m:dPr>
                        <m:begChr m:val="["/>
                        <m:endChr m:val="]"/>
                        <m:ctrlPr>
                          <a:rPr lang="fr-CA" b="0" i="1" smtClean="0">
                            <a:latin typeface="Cambria Math" panose="02040503050406030204" pitchFamily="18" charset="0"/>
                          </a:rPr>
                        </m:ctrlPr>
                      </m:dPr>
                      <m:e>
                        <m:r>
                          <a:rPr lang="fr-CA" b="0" i="1" smtClean="0">
                            <a:latin typeface="Cambria Math" panose="02040503050406030204" pitchFamily="18" charset="0"/>
                          </a:rPr>
                          <m:t>645,8−82,9;645,8+82,9</m:t>
                        </m:r>
                      </m:e>
                    </m:d>
                    <m:r>
                      <a:rPr lang="fr-CA" b="0" i="1" smtClean="0">
                        <a:latin typeface="Cambria Math" panose="02040503050406030204" pitchFamily="18" charset="0"/>
                      </a:rPr>
                      <m:t>=</m:t>
                    </m:r>
                    <m:d>
                      <m:dPr>
                        <m:begChr m:val="["/>
                        <m:endChr m:val="]"/>
                        <m:ctrlPr>
                          <a:rPr lang="fr-CA" b="0" i="1" smtClean="0">
                            <a:latin typeface="Cambria Math" panose="02040503050406030204" pitchFamily="18" charset="0"/>
                          </a:rPr>
                        </m:ctrlPr>
                      </m:dPr>
                      <m:e>
                        <m:r>
                          <a:rPr lang="fr-CA" b="0" i="1" smtClean="0">
                            <a:latin typeface="Cambria Math" panose="02040503050406030204" pitchFamily="18" charset="0"/>
                          </a:rPr>
                          <m:t>562,9;727,9</m:t>
                        </m:r>
                      </m:e>
                    </m:d>
                  </m:oMath>
                </a14:m>
                <a:endParaRPr lang="fr-CA" dirty="0"/>
              </a:p>
              <a:p>
                <a:pPr marL="342900" indent="-342900">
                  <a:buAutoNum type="alphaLcParenR"/>
                </a:pPr>
                <a14:m>
                  <m:oMath xmlns:m="http://schemas.openxmlformats.org/officeDocument/2006/math">
                    <m:r>
                      <a:rPr lang="fr-CA" b="0" i="1" smtClean="0">
                        <a:latin typeface="Cambria Math" panose="02040503050406030204" pitchFamily="18" charset="0"/>
                      </a:rPr>
                      <m:t>𝐿𝑎</m:t>
                    </m:r>
                    <m:r>
                      <a:rPr lang="fr-CA" b="0" i="1" smtClean="0">
                        <a:latin typeface="Cambria Math" panose="02040503050406030204" pitchFamily="18" charset="0"/>
                      </a:rPr>
                      <m:t> </m:t>
                    </m:r>
                    <m:r>
                      <a:rPr lang="fr-CA" b="0" i="1" smtClean="0">
                        <a:latin typeface="Cambria Math" panose="02040503050406030204" pitchFamily="18" charset="0"/>
                      </a:rPr>
                      <m:t>𝑚𝑎𝑟𝑔𝑒</m:t>
                    </m:r>
                    <m:r>
                      <a:rPr lang="fr-CA" b="0" i="1" smtClean="0">
                        <a:latin typeface="Cambria Math" panose="02040503050406030204" pitchFamily="18" charset="0"/>
                      </a:rPr>
                      <m:t> </m:t>
                    </m:r>
                    <m:sSup>
                      <m:sSupPr>
                        <m:ctrlPr>
                          <a:rPr lang="fr-CA" b="0" i="1" smtClean="0">
                            <a:latin typeface="Cambria Math" panose="02040503050406030204" pitchFamily="18" charset="0"/>
                          </a:rPr>
                        </m:ctrlPr>
                      </m:sSupPr>
                      <m:e>
                        <m:r>
                          <a:rPr lang="fr-CA" b="0" i="1" smtClean="0">
                            <a:latin typeface="Cambria Math" panose="02040503050406030204" pitchFamily="18" charset="0"/>
                          </a:rPr>
                          <m:t>𝑑</m:t>
                        </m:r>
                      </m:e>
                      <m:sup>
                        <m:r>
                          <a:rPr lang="fr-CA" b="0" i="1" smtClean="0">
                            <a:latin typeface="Cambria Math" panose="02040503050406030204" pitchFamily="18" charset="0"/>
                          </a:rPr>
                          <m:t>′</m:t>
                        </m:r>
                      </m:sup>
                    </m:sSup>
                    <m:r>
                      <a:rPr lang="fr-CA" b="0" i="1" smtClean="0">
                        <a:latin typeface="Cambria Math" panose="02040503050406030204" pitchFamily="18" charset="0"/>
                      </a:rPr>
                      <m:t>𝑒𝑟𝑟𝑒𝑢𝑟</m:t>
                    </m:r>
                    <m:r>
                      <a:rPr lang="fr-CA" b="0" i="1" smtClean="0">
                        <a:latin typeface="Cambria Math" panose="02040503050406030204" pitchFamily="18" charset="0"/>
                      </a:rPr>
                      <m:t> </m:t>
                    </m:r>
                    <m:r>
                      <a:rPr lang="fr-CA" b="0" i="1" smtClean="0">
                        <a:latin typeface="Cambria Math" panose="02040503050406030204" pitchFamily="18" charset="0"/>
                      </a:rPr>
                      <m:t>𝑒𝑠𝑡</m:t>
                    </m:r>
                    <m:r>
                      <a:rPr lang="fr-CA" b="0" i="1" smtClean="0">
                        <a:latin typeface="Cambria Math" panose="02040503050406030204" pitchFamily="18" charset="0"/>
                      </a:rPr>
                      <m:t> </m:t>
                    </m:r>
                    <m:r>
                      <a:rPr lang="fr-CA" b="0" i="1" smtClean="0">
                        <a:latin typeface="Cambria Math" panose="02040503050406030204" pitchFamily="18" charset="0"/>
                      </a:rPr>
                      <m:t>𝐸</m:t>
                    </m:r>
                    <m:r>
                      <a:rPr lang="fr-CA" b="0" i="1" smtClean="0">
                        <a:latin typeface="Cambria Math" panose="02040503050406030204" pitchFamily="18" charset="0"/>
                      </a:rPr>
                      <m:t>=</m:t>
                    </m:r>
                    <m:sSub>
                      <m:sSubPr>
                        <m:ctrlPr>
                          <a:rPr lang="fr-CA" b="0" i="1" smtClean="0">
                            <a:latin typeface="Cambria Math" panose="02040503050406030204" pitchFamily="18" charset="0"/>
                          </a:rPr>
                        </m:ctrlPr>
                      </m:sSubPr>
                      <m:e>
                        <m:r>
                          <a:rPr lang="fr-CA" b="0" i="1" smtClean="0">
                            <a:latin typeface="Cambria Math" panose="02040503050406030204" pitchFamily="18" charset="0"/>
                          </a:rPr>
                          <m:t>𝑧</m:t>
                        </m:r>
                      </m:e>
                      <m:sub>
                        <m:r>
                          <a:rPr lang="fr-CA" b="0" i="1" smtClean="0">
                            <a:latin typeface="Cambria Math" panose="02040503050406030204" pitchFamily="18" charset="0"/>
                          </a:rPr>
                          <m:t>0,025</m:t>
                        </m:r>
                      </m:sub>
                    </m:sSub>
                    <m:f>
                      <m:fPr>
                        <m:ctrlPr>
                          <a:rPr lang="fr-CA" b="0" i="1" smtClean="0">
                            <a:latin typeface="Cambria Math" panose="02040503050406030204" pitchFamily="18" charset="0"/>
                          </a:rPr>
                        </m:ctrlPr>
                      </m:fPr>
                      <m:num>
                        <m:sSub>
                          <m:sSubPr>
                            <m:ctrlPr>
                              <a:rPr lang="fr-CA" b="0" i="1" smtClean="0">
                                <a:latin typeface="Cambria Math" panose="02040503050406030204" pitchFamily="18" charset="0"/>
                              </a:rPr>
                            </m:ctrlPr>
                          </m:sSubPr>
                          <m:e>
                            <m:r>
                              <a:rPr lang="fr-CA" b="0" i="1" smtClean="0">
                                <a:latin typeface="Cambria Math" panose="02040503050406030204" pitchFamily="18" charset="0"/>
                                <a:ea typeface="Cambria Math" panose="02040503050406030204" pitchFamily="18" charset="0"/>
                              </a:rPr>
                              <m:t>𝜎</m:t>
                            </m:r>
                          </m:e>
                          <m:sub>
                            <m:r>
                              <a:rPr lang="fr-CA" b="0" i="1" smtClean="0">
                                <a:latin typeface="Cambria Math" panose="02040503050406030204" pitchFamily="18" charset="0"/>
                              </a:rPr>
                              <m:t>𝑋</m:t>
                            </m:r>
                          </m:sub>
                        </m:sSub>
                      </m:num>
                      <m:den>
                        <m:rad>
                          <m:radPr>
                            <m:degHide m:val="on"/>
                            <m:ctrlPr>
                              <a:rPr lang="fr-CA" b="0" i="1" smtClean="0">
                                <a:latin typeface="Cambria Math" panose="02040503050406030204" pitchFamily="18" charset="0"/>
                              </a:rPr>
                            </m:ctrlPr>
                          </m:radPr>
                          <m:deg/>
                          <m:e>
                            <m:r>
                              <a:rPr lang="fr-CA" b="0" i="1" smtClean="0">
                                <a:latin typeface="Cambria Math" panose="02040503050406030204" pitchFamily="18" charset="0"/>
                              </a:rPr>
                              <m:t>𝑛</m:t>
                            </m:r>
                          </m:e>
                        </m:rad>
                      </m:den>
                    </m:f>
                    <m:r>
                      <a:rPr lang="fr-CA" b="0" i="1" smtClean="0">
                        <a:latin typeface="Cambria Math" panose="02040503050406030204" pitchFamily="18" charset="0"/>
                      </a:rPr>
                      <m:t>=1,96</m:t>
                    </m:r>
                    <m:f>
                      <m:fPr>
                        <m:ctrlPr>
                          <a:rPr lang="fr-CA" b="0" i="1" smtClean="0">
                            <a:latin typeface="Cambria Math" panose="02040503050406030204" pitchFamily="18" charset="0"/>
                          </a:rPr>
                        </m:ctrlPr>
                      </m:fPr>
                      <m:num>
                        <m:r>
                          <a:rPr lang="fr-CA" b="0" i="1" smtClean="0">
                            <a:latin typeface="Cambria Math" panose="02040503050406030204" pitchFamily="18" charset="0"/>
                          </a:rPr>
                          <m:t>198</m:t>
                        </m:r>
                      </m:num>
                      <m:den>
                        <m:rad>
                          <m:radPr>
                            <m:degHide m:val="on"/>
                            <m:ctrlPr>
                              <a:rPr lang="fr-CA" b="0" i="1" smtClean="0">
                                <a:latin typeface="Cambria Math" panose="02040503050406030204" pitchFamily="18" charset="0"/>
                              </a:rPr>
                            </m:ctrlPr>
                          </m:radPr>
                          <m:deg/>
                          <m:e>
                            <m:r>
                              <a:rPr lang="fr-CA" b="0" i="1" smtClean="0">
                                <a:latin typeface="Cambria Math" panose="02040503050406030204" pitchFamily="18" charset="0"/>
                              </a:rPr>
                              <m:t>𝑛</m:t>
                            </m:r>
                          </m:e>
                        </m:rad>
                      </m:den>
                    </m:f>
                    <m:r>
                      <a:rPr lang="fr-CA" b="0" i="1" smtClean="0">
                        <a:latin typeface="Cambria Math" panose="02040503050406030204" pitchFamily="18" charset="0"/>
                      </a:rPr>
                      <m:t>=82,9</m:t>
                    </m:r>
                    <m:r>
                      <a:rPr lang="fr-CA" b="0" i="1" smtClean="0">
                        <a:latin typeface="Cambria Math" panose="02040503050406030204" pitchFamily="18" charset="0"/>
                        <a:ea typeface="Cambria Math" panose="02040503050406030204" pitchFamily="18" charset="0"/>
                      </a:rPr>
                      <m:t>→</m:t>
                    </m:r>
                    <m:r>
                      <a:rPr lang="fr-CA" b="0" i="1" smtClean="0">
                        <a:latin typeface="Cambria Math" panose="02040503050406030204" pitchFamily="18" charset="0"/>
                        <a:ea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=21,91~22</m:t>
                    </m:r>
                  </m:oMath>
                </a14:m>
                <a:endParaRPr lang="fr-CA" dirty="0"/>
              </a:p>
            </p:txBody>
          </p:sp>
        </mc:Choice>
        <mc:Fallback xmlns="">
          <p:sp>
            <p:nvSpPr>
              <p:cNvPr id="6" name="ZoneTexte 5">
                <a:extLst>
                  <a:ext uri="{FF2B5EF4-FFF2-40B4-BE49-F238E27FC236}">
                    <a16:creationId xmlns:a16="http://schemas.microsoft.com/office/drawing/2014/main" id="{1B4912AB-0D95-4B96-91D4-85BC680B2380}"/>
                  </a:ext>
                </a:extLst>
              </p:cNvPr>
              <p:cNvSpPr txBox="1">
                <a:spLocks noRot="1" noChangeAspect="1" noMove="1" noResize="1" noEditPoints="1" noAdjustHandles="1" noChangeArrowheads="1" noChangeShapeType="1" noTextEdit="1"/>
              </p:cNvSpPr>
              <p:nvPr/>
            </p:nvSpPr>
            <p:spPr>
              <a:xfrm>
                <a:off x="1250576" y="3913094"/>
                <a:ext cx="10394577" cy="1066959"/>
              </a:xfrm>
              <a:prstGeom prst="rect">
                <a:avLst/>
              </a:prstGeom>
              <a:blipFill>
                <a:blip r:embed="rId2"/>
                <a:stretch>
                  <a:fillRect l="-469" t="-3429"/>
                </a:stretch>
              </a:blipFill>
            </p:spPr>
            <p:txBody>
              <a:bodyPr/>
              <a:lstStyle/>
              <a:p>
                <a:r>
                  <a:rPr lang="fr-CA">
                    <a:noFill/>
                  </a:rPr>
                  <a:t> </a:t>
                </a:r>
              </a:p>
            </p:txBody>
          </p:sp>
        </mc:Fallback>
      </mc:AlternateContent>
    </p:spTree>
    <p:extLst>
      <p:ext uri="{BB962C8B-B14F-4D97-AF65-F5344CB8AC3E}">
        <p14:creationId xmlns:p14="http://schemas.microsoft.com/office/powerpoint/2010/main" val="18121598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6C264E-8B2B-4F49-8D9C-F6CC010B4173}"/>
              </a:ext>
            </a:extLst>
          </p:cNvPr>
          <p:cNvSpPr>
            <a:spLocks noGrp="1"/>
          </p:cNvSpPr>
          <p:nvPr>
            <p:ph type="title"/>
          </p:nvPr>
        </p:nvSpPr>
        <p:spPr>
          <a:xfrm>
            <a:off x="94130" y="365125"/>
            <a:ext cx="11120718" cy="3063875"/>
          </a:xfrm>
        </p:spPr>
        <p:txBody>
          <a:bodyPr>
            <a:normAutofit fontScale="90000"/>
          </a:bodyPr>
          <a:lstStyle/>
          <a:p>
            <a:pPr marL="226695" indent="-226695" algn="l">
              <a:lnSpc>
                <a:spcPct val="200000"/>
              </a:lnSpc>
              <a:spcBef>
                <a:spcPts val="1300"/>
              </a:spcBef>
              <a:spcAft>
                <a:spcPts val="300"/>
              </a:spcAft>
              <a:tabLst>
                <a:tab pos="152400" algn="r"/>
                <a:tab pos="449580" algn="l"/>
              </a:tabLst>
            </a:pPr>
            <a:r>
              <a:rPr lang="fr-CA" b="1" dirty="0"/>
              <a:t>Exemple3</a:t>
            </a:r>
            <a:r>
              <a:rPr lang="fr-CA" dirty="0"/>
              <a:t>: </a:t>
            </a:r>
            <a:r>
              <a:rPr lang="fr-FR" sz="1800" dirty="0">
                <a:solidFill>
                  <a:srgbClr val="000000"/>
                </a:solidFill>
                <a:effectLst/>
                <a:latin typeface="Times New Roman" panose="02020603050405020304" pitchFamily="18" charset="0"/>
                <a:ea typeface="Times New Roman" panose="02020603050405020304" pitchFamily="18" charset="0"/>
              </a:rPr>
              <a:t>Expliquez l’effet sur la marge d’erreur et, par conséquent, sur la précision pour estimer la moyenne d’une variable si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a)	on augmente le niveau de confiance sans modifier la taille </a:t>
            </a:r>
            <a:r>
              <a:rPr lang="fr-FR" sz="1800" dirty="0" err="1">
                <a:solidFill>
                  <a:srgbClr val="000000"/>
                </a:solidFill>
                <a:effectLst/>
                <a:latin typeface="Times New Roman" panose="02020603050405020304" pitchFamily="18" charset="0"/>
                <a:ea typeface="Times New Roman" panose="02020603050405020304" pitchFamily="18" charset="0"/>
              </a:rPr>
              <a:t>échantillonnale</a:t>
            </a:r>
            <a:r>
              <a:rPr lang="fr-FR" sz="1800" dirty="0">
                <a:solidFill>
                  <a:srgbClr val="000000"/>
                </a:solidFill>
                <a:effectLst/>
                <a:latin typeface="Times New Roman" panose="02020603050405020304" pitchFamily="18" charset="0"/>
                <a:ea typeface="Times New Roman" panose="02020603050405020304" pitchFamily="18" charset="0"/>
              </a:rPr>
              <a:t> ;</a:t>
            </a:r>
            <a:br>
              <a:rPr lang="fr-CA" sz="1800" dirty="0">
                <a:solidFill>
                  <a:srgbClr val="000000"/>
                </a:solidFill>
                <a:effectLst/>
                <a:latin typeface="Times New Roman" panose="02020603050405020304" pitchFamily="18" charset="0"/>
                <a:ea typeface="Times New Roman" panose="02020603050405020304" pitchFamily="18" charset="0"/>
              </a:rPr>
            </a:br>
            <a:r>
              <a:rPr lang="fr-FR" sz="1800" dirty="0">
                <a:solidFill>
                  <a:srgbClr val="000000"/>
                </a:solidFill>
                <a:effectLst/>
                <a:latin typeface="Times New Roman" panose="02020603050405020304" pitchFamily="18" charset="0"/>
                <a:ea typeface="Times New Roman" panose="02020603050405020304" pitchFamily="18" charset="0"/>
              </a:rPr>
              <a:t>b)	on augmente la taille </a:t>
            </a:r>
            <a:r>
              <a:rPr lang="fr-FR" sz="1800" dirty="0" err="1">
                <a:solidFill>
                  <a:srgbClr val="000000"/>
                </a:solidFill>
                <a:effectLst/>
                <a:latin typeface="Times New Roman" panose="02020603050405020304" pitchFamily="18" charset="0"/>
                <a:ea typeface="Times New Roman" panose="02020603050405020304" pitchFamily="18" charset="0"/>
              </a:rPr>
              <a:t>échantillonnale</a:t>
            </a:r>
            <a:r>
              <a:rPr lang="fr-FR" sz="1800" dirty="0">
                <a:solidFill>
                  <a:srgbClr val="000000"/>
                </a:solidFill>
                <a:effectLst/>
                <a:latin typeface="Times New Roman" panose="02020603050405020304" pitchFamily="18" charset="0"/>
                <a:ea typeface="Times New Roman" panose="02020603050405020304" pitchFamily="18" charset="0"/>
              </a:rPr>
              <a:t> sans modifier le niveau de confiance.</a:t>
            </a:r>
            <a:br>
              <a:rPr lang="fr-CA" sz="1800" dirty="0">
                <a:solidFill>
                  <a:srgbClr val="000000"/>
                </a:solidFill>
                <a:effectLst/>
                <a:latin typeface="Times New Roman" panose="02020603050405020304" pitchFamily="18" charset="0"/>
                <a:ea typeface="Times New Roman" panose="02020603050405020304" pitchFamily="18" charset="0"/>
              </a:rPr>
            </a:br>
            <a:endParaRPr lang="fr-CA" dirty="0"/>
          </a:p>
        </p:txBody>
      </p:sp>
      <p:sp>
        <p:nvSpPr>
          <p:cNvPr id="3" name="Espace réservé du pied de page 2">
            <a:extLst>
              <a:ext uri="{FF2B5EF4-FFF2-40B4-BE49-F238E27FC236}">
                <a16:creationId xmlns:a16="http://schemas.microsoft.com/office/drawing/2014/main" id="{30D8B7EB-226B-4444-8E68-3043CD574323}"/>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DAB33824-5B04-4497-AA06-5C3A6361863A}"/>
              </a:ext>
            </a:extLst>
          </p:cNvPr>
          <p:cNvSpPr>
            <a:spLocks noGrp="1"/>
          </p:cNvSpPr>
          <p:nvPr>
            <p:ph type="sldNum" sz="quarter" idx="12"/>
          </p:nvPr>
        </p:nvSpPr>
        <p:spPr/>
        <p:txBody>
          <a:bodyPr/>
          <a:lstStyle/>
          <a:p>
            <a:fld id="{26377AD9-CE17-438C-A638-C64D2D42D7CF}" type="slidenum">
              <a:rPr lang="fr-CA" smtClean="0"/>
              <a:t>12</a:t>
            </a:fld>
            <a:endParaRPr lang="fr-CA"/>
          </a:p>
        </p:txBody>
      </p:sp>
      <p:sp>
        <p:nvSpPr>
          <p:cNvPr id="5" name="ZoneTexte 4">
            <a:extLst>
              <a:ext uri="{FF2B5EF4-FFF2-40B4-BE49-F238E27FC236}">
                <a16:creationId xmlns:a16="http://schemas.microsoft.com/office/drawing/2014/main" id="{7433F58B-FCA5-44AF-8B3C-B0CF4472A590}"/>
              </a:ext>
            </a:extLst>
          </p:cNvPr>
          <p:cNvSpPr txBox="1"/>
          <p:nvPr/>
        </p:nvSpPr>
        <p:spPr>
          <a:xfrm>
            <a:off x="578224" y="3334871"/>
            <a:ext cx="10636624" cy="2031325"/>
          </a:xfrm>
          <a:prstGeom prst="rect">
            <a:avLst/>
          </a:prstGeom>
          <a:noFill/>
        </p:spPr>
        <p:txBody>
          <a:bodyPr wrap="square" rtlCol="0">
            <a:spAutoFit/>
          </a:bodyPr>
          <a:lstStyle/>
          <a:p>
            <a:r>
              <a:rPr lang="fr-CA" b="1" dirty="0"/>
              <a:t>Réponse: </a:t>
            </a:r>
          </a:p>
          <a:p>
            <a:endParaRPr lang="fr-CA" b="1" dirty="0"/>
          </a:p>
          <a:p>
            <a:pPr marL="342900" indent="-342900">
              <a:buAutoNum type="alphaLcParenBoth"/>
            </a:pPr>
            <a:r>
              <a:rPr lang="fr-CA" dirty="0"/>
              <a:t>Si on augmente le niveau de confiance, alors la marge d’erreur va augmenter donc l’intervalle de confiance va être plus large (la précision va être moindre). Par exemple un intervalle de confiance de niveau 99% va être plus large que celui de niveau 95%.</a:t>
            </a:r>
          </a:p>
          <a:p>
            <a:pPr marL="342900" indent="-342900">
              <a:buAutoNum type="alphaLcParenBoth"/>
            </a:pPr>
            <a:r>
              <a:rPr lang="fr-CA" dirty="0"/>
              <a:t>Si on augmente la taille de l’échantillon, la marge d’erreur va diminuer et par conséquent l’intervalle de confiance va être plus court (La précision va être meilleure).</a:t>
            </a:r>
          </a:p>
        </p:txBody>
      </p:sp>
    </p:spTree>
    <p:extLst>
      <p:ext uri="{BB962C8B-B14F-4D97-AF65-F5344CB8AC3E}">
        <p14:creationId xmlns:p14="http://schemas.microsoft.com/office/powerpoint/2010/main" val="1730195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re 1">
                <a:extLst>
                  <a:ext uri="{FF2B5EF4-FFF2-40B4-BE49-F238E27FC236}">
                    <a16:creationId xmlns:a16="http://schemas.microsoft.com/office/drawing/2014/main" id="{B7F5658D-0D79-4A56-918B-1954A9329095}"/>
                  </a:ext>
                </a:extLst>
              </p:cNvPr>
              <p:cNvSpPr>
                <a:spLocks noGrp="1"/>
              </p:cNvSpPr>
              <p:nvPr>
                <p:ph type="title"/>
              </p:nvPr>
            </p:nvSpPr>
            <p:spPr/>
            <p:txBody>
              <a:bodyPr>
                <a:normAutofit fontScale="90000"/>
              </a:bodyPr>
              <a:lstStyle/>
              <a:p>
                <a:r>
                  <a:rPr lang="fr-CA" b="1" dirty="0">
                    <a:solidFill>
                      <a:srgbClr val="FF0000"/>
                    </a:solidFill>
                  </a:rPr>
                  <a:t>Cas 2:</a:t>
                </a:r>
                <a:r>
                  <a:rPr lang="fr-CA" dirty="0"/>
                  <a:t> La variable est normale avec un écart type inconnu et la taille de l’échantillon </a:t>
                </a:r>
                <a14:m>
                  <m:oMath xmlns:m="http://schemas.openxmlformats.org/officeDocument/2006/math">
                    <m:r>
                      <a:rPr lang="fr-CA" b="0" i="1" smtClean="0">
                        <a:latin typeface="Cambria Math" panose="02040503050406030204" pitchFamily="18" charset="0"/>
                      </a:rPr>
                      <m:t>𝑛</m:t>
                    </m:r>
                    <m:r>
                      <a:rPr lang="fr-CA" b="0" i="1" smtClean="0">
                        <a:latin typeface="Cambria Math" panose="02040503050406030204" pitchFamily="18" charset="0"/>
                        <a:ea typeface="Cambria Math" panose="02040503050406030204" pitchFamily="18" charset="0"/>
                      </a:rPr>
                      <m:t>&lt;30</m:t>
                    </m:r>
                  </m:oMath>
                </a14:m>
                <a:endParaRPr lang="fr-CA" dirty="0"/>
              </a:p>
            </p:txBody>
          </p:sp>
        </mc:Choice>
        <mc:Fallback xmlns="">
          <p:sp>
            <p:nvSpPr>
              <p:cNvPr id="2" name="Titre 1">
                <a:extLst>
                  <a:ext uri="{FF2B5EF4-FFF2-40B4-BE49-F238E27FC236}">
                    <a16:creationId xmlns:a16="http://schemas.microsoft.com/office/drawing/2014/main" id="{B7F5658D-0D79-4A56-918B-1954A9329095}"/>
                  </a:ext>
                </a:extLst>
              </p:cNvPr>
              <p:cNvSpPr>
                <a:spLocks noGrp="1" noRot="1" noChangeAspect="1" noMove="1" noResize="1" noEditPoints="1" noAdjustHandles="1" noChangeArrowheads="1" noChangeShapeType="1" noTextEdit="1"/>
              </p:cNvSpPr>
              <p:nvPr>
                <p:ph type="title"/>
              </p:nvPr>
            </p:nvSpPr>
            <p:spPr>
              <a:blipFill>
                <a:blip r:embed="rId2"/>
                <a:stretch>
                  <a:fillRect l="-2087" t="-7834" b="-14747"/>
                </a:stretch>
              </a:blipFill>
            </p:spPr>
            <p:txBody>
              <a:bodyPr/>
              <a:lstStyle/>
              <a:p>
                <a:r>
                  <a:rPr lang="fr-CA">
                    <a:noFill/>
                  </a:rPr>
                  <a:t> </a:t>
                </a:r>
              </a:p>
            </p:txBody>
          </p:sp>
        </mc:Fallback>
      </mc:AlternateContent>
      <p:sp>
        <p:nvSpPr>
          <p:cNvPr id="3" name="Espace réservé du pied de page 2">
            <a:extLst>
              <a:ext uri="{FF2B5EF4-FFF2-40B4-BE49-F238E27FC236}">
                <a16:creationId xmlns:a16="http://schemas.microsoft.com/office/drawing/2014/main" id="{58019DFD-53CA-42F4-83A0-02EB1B9B9D1E}"/>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9020C614-888E-4FBD-A56E-4A82AEA7BB15}"/>
              </a:ext>
            </a:extLst>
          </p:cNvPr>
          <p:cNvSpPr>
            <a:spLocks noGrp="1"/>
          </p:cNvSpPr>
          <p:nvPr>
            <p:ph type="sldNum" sz="quarter" idx="12"/>
          </p:nvPr>
        </p:nvSpPr>
        <p:spPr/>
        <p:txBody>
          <a:bodyPr/>
          <a:lstStyle/>
          <a:p>
            <a:fld id="{26377AD9-CE17-438C-A638-C64D2D42D7CF}" type="slidenum">
              <a:rPr lang="fr-CA" smtClean="0"/>
              <a:t>13</a:t>
            </a:fld>
            <a:endParaRPr lang="fr-CA"/>
          </a:p>
        </p:txBody>
      </p:sp>
      <p:sp>
        <p:nvSpPr>
          <p:cNvPr id="5" name="ZoneTexte 4">
            <a:extLst>
              <a:ext uri="{FF2B5EF4-FFF2-40B4-BE49-F238E27FC236}">
                <a16:creationId xmlns:a16="http://schemas.microsoft.com/office/drawing/2014/main" id="{699C4002-EB82-4B51-92A1-886CE5FF5CD3}"/>
              </a:ext>
            </a:extLst>
          </p:cNvPr>
          <p:cNvSpPr txBox="1"/>
          <p:nvPr/>
        </p:nvSpPr>
        <p:spPr>
          <a:xfrm>
            <a:off x="2124635" y="2541494"/>
            <a:ext cx="6669741" cy="707886"/>
          </a:xfrm>
          <a:prstGeom prst="rect">
            <a:avLst/>
          </a:prstGeom>
          <a:noFill/>
        </p:spPr>
        <p:txBody>
          <a:bodyPr wrap="square" rtlCol="0">
            <a:spAutoFit/>
          </a:bodyPr>
          <a:lstStyle/>
          <a:p>
            <a:r>
              <a:rPr lang="fr-CA" sz="4000" dirty="0"/>
              <a:t>Au mois de Novembre.</a:t>
            </a:r>
          </a:p>
        </p:txBody>
      </p:sp>
    </p:spTree>
    <p:extLst>
      <p:ext uri="{BB962C8B-B14F-4D97-AF65-F5344CB8AC3E}">
        <p14:creationId xmlns:p14="http://schemas.microsoft.com/office/powerpoint/2010/main" val="607753425"/>
      </p:ext>
    </p:extLst>
  </p:cSld>
  <p:clrMapOvr>
    <a:masterClrMapping/>
  </p:clrMapOvr>
</p:sld>
</file>

<file path=ppt/theme/theme1.xml><?xml version="1.0" encoding="utf-8"?>
<a:theme xmlns:a="http://schemas.openxmlformats.org/drawingml/2006/main" name="Office Them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1320</TotalTime>
  <Words>1830</Words>
  <Application>Microsoft Office PowerPoint</Application>
  <PresentationFormat>Grand écran</PresentationFormat>
  <Paragraphs>95</Paragraphs>
  <Slides>13</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13</vt:i4>
      </vt:variant>
    </vt:vector>
  </HeadingPairs>
  <TitlesOfParts>
    <vt:vector size="19" baseType="lpstr">
      <vt:lpstr>Arial</vt:lpstr>
      <vt:lpstr>Calibri</vt:lpstr>
      <vt:lpstr>Calibri Light</vt:lpstr>
      <vt:lpstr>Cambria Math</vt:lpstr>
      <vt:lpstr>Times New Roman</vt:lpstr>
      <vt:lpstr>Office Theme</vt:lpstr>
      <vt:lpstr>Méthodes d’estimation</vt:lpstr>
      <vt:lpstr>Exemples</vt:lpstr>
      <vt:lpstr> La distribution des estimateurs échantillonnaux</vt:lpstr>
      <vt:lpstr>Exemple1: La masse du cerveau des individus d’une certaine population est distribuée normalement avec une moyenne de 1,435 kg et un écart-type de 0,350 kg. a) Déterminez la distribution (forme et valeurs de ses paramètres) de la masse moyenne des cerveaux d’un échantillon aléatoire de cinq personnes choisies dans cette population. b) Quelle est la probabilité que la masse moyenne des cerveaux d’un tel échantillon dépasse 1,450 kg ? </vt:lpstr>
      <vt:lpstr>Exemple 2: Dans un grand hôpital, la durée de séjour des patients est distribuée avec une moyenne de 8,3 jours et un écart-type de 3,6 jours. a) Caractérisez la distribution de la durée de séjour moyenne d’un échantillon aléatoire de 49 patients. b) Déterminez la probabilité que la durée de séjour moyenne d’un tel échantillon dépasse 9 jours. </vt:lpstr>
      <vt:lpstr>Exemple 3: On suppose que 78 % des graines d’un certain type de blé germent. Si on sélectionne au hasard 340 graines de ce type de blé, quelle est la probabilité que la proportion de graines de cet échantillon qui germera soit comprise entre 77,8 % et 78,5 % ? </vt:lpstr>
      <vt:lpstr>Estimation par intervalle de confiance.</vt:lpstr>
      <vt:lpstr>Présentation PowerPoint</vt:lpstr>
      <vt:lpstr>Voila un exemple pour α=5%</vt:lpstr>
      <vt:lpstr>Exemple1:  La taille des arbres d’une forêt est distribuée normalement avec un écart-type de 18 cm. Un échantillon aléatoire de taille 15 de ces arbres a donné une moyenne de 145 cm. a) Déterminez un intervalle de confiance de 95 % pour la taille moyenne de la population des arbres de cette forêt. b) Sur la base de cet intervalle de confiance, peut-on dire que la taille moyenne de cette population d’arbres est au moins égale à une certaine valeur ? Expliquez pourquoi. </vt:lpstr>
      <vt:lpstr>Exemple 2: Soit X : une variable normalement distribuée. Un intervalle de confiance pour sa moyenne présente une largeur de 165,8. a) Déterminez la marge d’erreur associée à cet intervalle. b) Si la moyenne de l’échantillon est de 645,8, déterminez cet intervalle de confiance. c) Si on sait que l’écart-type de cette variable est égal à 198, quelle est la taille de l’échantillon qui a été utilisé pour trouver cet intervalle de confiance de niveau 95 % ? </vt:lpstr>
      <vt:lpstr>Exemple3: Expliquez l’effet sur la marge d’erreur et, par conséquent, sur la précision pour estimer la moyenne d’une variable si : a) on augmente le niveau de confiance sans modifier la taille échantillonnale ; b) on augmente la taille échantillonnale sans modifier le niveau de confiance. </vt:lpstr>
      <vt:lpstr>Cas 2: La variable est normale avec un écart type inconnu et la taille de l’échantillon n&lt;30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Méthodes d’estimation</dc:title>
  <dc:creator>Mhammed Mountassir</dc:creator>
  <cp:lastModifiedBy>Mhammed Mountassir</cp:lastModifiedBy>
  <cp:revision>18</cp:revision>
  <dcterms:created xsi:type="dcterms:W3CDTF">2020-10-14T14:10:41Z</dcterms:created>
  <dcterms:modified xsi:type="dcterms:W3CDTF">2021-10-13T17:53:40Z</dcterms:modified>
</cp:coreProperties>
</file>