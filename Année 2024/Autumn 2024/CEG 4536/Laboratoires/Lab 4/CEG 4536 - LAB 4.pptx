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eague Spartan"/>
      <p:regular r:id="rId16"/>
      <p:bold r:id="rId17"/>
    </p:embeddedFont>
    <p:embeddedFont>
      <p:font typeface="Montserrat"/>
      <p:bold r:id="rId18"/>
      <p:boldItalic r:id="rId19"/>
    </p:embeddedFont>
    <p:embeddedFont>
      <p:font typeface="Montserrat Black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ontserratBlack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918ec9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1d918ec9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d918ec93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1d918ec932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d918ec93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1d918ec93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d918ec93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1d918ec93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d918ec93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1d918ec93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d918ec93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1d918ec932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d918ec93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1d918ec932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d918ec93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1d918ec932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d918ec932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1d918ec932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617919" y="682655"/>
            <a:ext cx="4526081" cy="4486478"/>
          </a:xfrm>
          <a:custGeom>
            <a:rect b="b" l="l" r="r" t="t"/>
            <a:pathLst>
              <a:path extrusionOk="0" h="8972956" w="9052162">
                <a:moveTo>
                  <a:pt x="0" y="0"/>
                </a:moveTo>
                <a:lnTo>
                  <a:pt x="9052162" y="0"/>
                </a:lnTo>
                <a:lnTo>
                  <a:pt x="9052162" y="8972956"/>
                </a:lnTo>
                <a:lnTo>
                  <a:pt x="0" y="8972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4631821" y="305662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6153357" y="1450285"/>
            <a:ext cx="3462043" cy="4438517"/>
          </a:xfrm>
          <a:custGeom>
            <a:rect b="b" l="l" r="r" t="t"/>
            <a:pathLst>
              <a:path extrusionOk="0" h="8877034" w="6924086">
                <a:moveTo>
                  <a:pt x="0" y="0"/>
                </a:moveTo>
                <a:lnTo>
                  <a:pt x="6924086" y="0"/>
                </a:lnTo>
                <a:lnTo>
                  <a:pt x="6924086" y="8877033"/>
                </a:lnTo>
                <a:lnTo>
                  <a:pt x="0" y="8877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25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-461349" y="340936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5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5"/>
          <p:cNvSpPr/>
          <p:nvPr/>
        </p:nvSpPr>
        <p:spPr>
          <a:xfrm rot="10800000">
            <a:off x="7090669" y="91322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4"/>
                </a:moveTo>
                <a:lnTo>
                  <a:pt x="0" y="2519304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4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6" name="Google Shape;136;p25"/>
          <p:cNvGrpSpPr/>
          <p:nvPr/>
        </p:nvGrpSpPr>
        <p:grpSpPr>
          <a:xfrm>
            <a:off x="5076842" y="4691750"/>
            <a:ext cx="226443" cy="289684"/>
            <a:chOff x="0" y="-28575"/>
            <a:chExt cx="99900" cy="127800"/>
          </a:xfrm>
        </p:grpSpPr>
        <p:sp>
          <p:nvSpPr>
            <p:cNvPr id="137" name="Google Shape;137;p25"/>
            <p:cNvSpPr/>
            <p:nvPr/>
          </p:nvSpPr>
          <p:spPr>
            <a:xfrm>
              <a:off x="0" y="0"/>
              <a:ext cx="99846" cy="99175"/>
            </a:xfrm>
            <a:custGeom>
              <a:rect b="b" l="l" r="r" t="t"/>
              <a:pathLst>
                <a:path extrusionOk="0" h="99175" w="99846">
                  <a:moveTo>
                    <a:pt x="0" y="0"/>
                  </a:moveTo>
                  <a:lnTo>
                    <a:pt x="99846" y="0"/>
                  </a:lnTo>
                  <a:lnTo>
                    <a:pt x="99846" y="99175"/>
                  </a:lnTo>
                  <a:lnTo>
                    <a:pt x="0" y="991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5"/>
            <p:cNvSpPr txBox="1"/>
            <p:nvPr/>
          </p:nvSpPr>
          <p:spPr>
            <a:xfrm>
              <a:off x="0" y="-28575"/>
              <a:ext cx="999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5"/>
          <p:cNvSpPr txBox="1"/>
          <p:nvPr/>
        </p:nvSpPr>
        <p:spPr>
          <a:xfrm>
            <a:off x="606846" y="4346127"/>
            <a:ext cx="3672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CEG </a:t>
            </a:r>
            <a:r>
              <a:rPr b="1" lang="fr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4536 </a:t>
            </a:r>
            <a:r>
              <a:rPr b="1" i="0" lang="fr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b="1" lang="fr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Architecture des ordinateurs III</a:t>
            </a:r>
            <a:endParaRPr sz="700"/>
          </a:p>
        </p:txBody>
      </p:sp>
      <p:sp>
        <p:nvSpPr>
          <p:cNvPr id="140" name="Google Shape;140;p25"/>
          <p:cNvSpPr/>
          <p:nvPr/>
        </p:nvSpPr>
        <p:spPr>
          <a:xfrm rot="10800000">
            <a:off x="5851020" y="-1085145"/>
            <a:ext cx="4057557" cy="3508864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1" name="Google Shape;141;p25"/>
          <p:cNvGrpSpPr/>
          <p:nvPr/>
        </p:nvGrpSpPr>
        <p:grpSpPr>
          <a:xfrm>
            <a:off x="6987234" y="4357935"/>
            <a:ext cx="1794507" cy="499116"/>
            <a:chOff x="12878855" y="1235771"/>
            <a:chExt cx="3589014" cy="998233"/>
          </a:xfrm>
        </p:grpSpPr>
        <p:grpSp>
          <p:nvGrpSpPr>
            <p:cNvPr id="142" name="Google Shape;142;p25"/>
            <p:cNvGrpSpPr/>
            <p:nvPr/>
          </p:nvGrpSpPr>
          <p:grpSpPr>
            <a:xfrm>
              <a:off x="12878855" y="1235771"/>
              <a:ext cx="3589014" cy="998233"/>
              <a:chOff x="0" y="-28575"/>
              <a:chExt cx="791700" cy="220200"/>
            </a:xfrm>
          </p:grpSpPr>
          <p:sp>
            <p:nvSpPr>
              <p:cNvPr id="143" name="Google Shape;143;p25"/>
              <p:cNvSpPr/>
              <p:nvPr/>
            </p:nvSpPr>
            <p:spPr>
              <a:xfrm>
                <a:off x="0" y="0"/>
                <a:ext cx="791578" cy="191498"/>
              </a:xfrm>
              <a:custGeom>
                <a:rect b="b" l="l" r="r" t="t"/>
                <a:pathLst>
                  <a:path extrusionOk="0" h="191498" w="791578">
                    <a:moveTo>
                      <a:pt x="0" y="0"/>
                    </a:moveTo>
                    <a:lnTo>
                      <a:pt x="791578" y="0"/>
                    </a:lnTo>
                    <a:lnTo>
                      <a:pt x="791578" y="191498"/>
                    </a:lnTo>
                    <a:lnTo>
                      <a:pt x="0" y="1914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4" name="Google Shape;144;p25"/>
              <p:cNvSpPr txBox="1"/>
              <p:nvPr/>
            </p:nvSpPr>
            <p:spPr>
              <a:xfrm>
                <a:off x="0" y="-28575"/>
                <a:ext cx="791700" cy="22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6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" name="Google Shape;145;p25"/>
            <p:cNvSpPr txBox="1"/>
            <p:nvPr/>
          </p:nvSpPr>
          <p:spPr>
            <a:xfrm>
              <a:off x="12878855" y="1550300"/>
              <a:ext cx="3588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" sz="1400" u="none" cap="none" strike="noStrike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GROUP </a:t>
              </a:r>
              <a:r>
                <a:rPr b="1" lang="fr" sz="1400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9</a:t>
              </a:r>
              <a:r>
                <a:rPr b="1" i="0" lang="fr" sz="1400" u="none" cap="none" strike="noStrike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</a:t>
              </a:r>
              <a:endParaRPr sz="700"/>
            </a:p>
          </p:txBody>
        </p:sp>
      </p:grpSp>
      <p:sp>
        <p:nvSpPr>
          <p:cNvPr id="146" name="Google Shape;146;p25"/>
          <p:cNvSpPr txBox="1"/>
          <p:nvPr/>
        </p:nvSpPr>
        <p:spPr>
          <a:xfrm>
            <a:off x="606851" y="340938"/>
            <a:ext cx="6221100" cy="3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Optimisation des kernels CUDA pour une utilisation efficace de la mémoire partagée </a:t>
            </a:r>
            <a:endParaRPr b="1" sz="10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0" y="2707100"/>
            <a:ext cx="2286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-1043575" y="-83937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26"/>
          <p:cNvSpPr/>
          <p:nvPr/>
        </p:nvSpPr>
        <p:spPr>
          <a:xfrm flipH="1" rot="10800000">
            <a:off x="-900273" y="2373255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26"/>
          <p:cNvSpPr/>
          <p:nvPr/>
        </p:nvSpPr>
        <p:spPr>
          <a:xfrm rot="10800000">
            <a:off x="5855601" y="-841208"/>
            <a:ext cx="4057557" cy="3508864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26"/>
          <p:cNvSpPr/>
          <p:nvPr/>
        </p:nvSpPr>
        <p:spPr>
          <a:xfrm>
            <a:off x="6523566" y="323230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26"/>
          <p:cNvSpPr/>
          <p:nvPr/>
        </p:nvSpPr>
        <p:spPr>
          <a:xfrm>
            <a:off x="6836850" y="2571750"/>
            <a:ext cx="3157049" cy="3129424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26"/>
          <p:cNvSpPr/>
          <p:nvPr/>
        </p:nvSpPr>
        <p:spPr>
          <a:xfrm>
            <a:off x="8514122" y="2667656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6"/>
          <p:cNvSpPr/>
          <p:nvPr/>
        </p:nvSpPr>
        <p:spPr>
          <a:xfrm rot="10800000">
            <a:off x="7278740" y="1254948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9" name="Google Shape;159;p26"/>
          <p:cNvCxnSpPr/>
          <p:nvPr/>
        </p:nvCxnSpPr>
        <p:spPr>
          <a:xfrm rot="10800000">
            <a:off x="-353101" y="-6719"/>
            <a:ext cx="10347000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6"/>
          <p:cNvSpPr txBox="1"/>
          <p:nvPr/>
        </p:nvSpPr>
        <p:spPr>
          <a:xfrm>
            <a:off x="413938" y="299081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  <a:endParaRPr sz="700">
              <a:solidFill>
                <a:srgbClr val="FFBD59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883688" y="-121152"/>
            <a:ext cx="493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62" name="Google Shape;162;p26"/>
          <p:cNvSpPr txBox="1"/>
          <p:nvPr/>
        </p:nvSpPr>
        <p:spPr>
          <a:xfrm>
            <a:off x="134550" y="912700"/>
            <a:ext cx="9009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Dans le domaine du calcul haute performance, l’utilisation des accélérateurs GPU est devenue essentielle pour répondre aux besoins croissants en puissance de calcul.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L'un des aspects fondamentaux pour maximiser les performances dans ce contexte est une gestion efficace de la mémoire.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•"/>
            </a:pPr>
            <a:r>
              <a:rPr b="1" lang="f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CUDA, une plateforme et un modèle de programmation GPU largement utilisés, propose une hiérarchie de mémoire sophistiquée qui vise à minimiser la latence et à maximiser la bande passante.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Cette hiérarchie inclut des types de mémoire distincts : Les registres, La mémoire partagée, La mémoire globale.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Chaque type de mémoire joue un rôle spécifique dans l'exécution des programmes parallèles.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-1043575" y="-83937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27"/>
          <p:cNvSpPr/>
          <p:nvPr/>
        </p:nvSpPr>
        <p:spPr>
          <a:xfrm flipH="1" rot="10800000">
            <a:off x="-900273" y="2373255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7"/>
          <p:cNvSpPr/>
          <p:nvPr/>
        </p:nvSpPr>
        <p:spPr>
          <a:xfrm rot="10800000">
            <a:off x="5855601" y="-841208"/>
            <a:ext cx="4057557" cy="3508864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7"/>
          <p:cNvSpPr/>
          <p:nvPr/>
        </p:nvSpPr>
        <p:spPr>
          <a:xfrm>
            <a:off x="6523566" y="323230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7"/>
          <p:cNvSpPr/>
          <p:nvPr/>
        </p:nvSpPr>
        <p:spPr>
          <a:xfrm>
            <a:off x="6836850" y="2571750"/>
            <a:ext cx="3157049" cy="3129424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7"/>
          <p:cNvSpPr/>
          <p:nvPr/>
        </p:nvSpPr>
        <p:spPr>
          <a:xfrm>
            <a:off x="8514122" y="2667656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7"/>
          <p:cNvSpPr/>
          <p:nvPr/>
        </p:nvSpPr>
        <p:spPr>
          <a:xfrm rot="10800000">
            <a:off x="7278740" y="1254948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4" name="Google Shape;174;p27"/>
          <p:cNvCxnSpPr/>
          <p:nvPr/>
        </p:nvCxnSpPr>
        <p:spPr>
          <a:xfrm rot="10800000">
            <a:off x="-353101" y="-6719"/>
            <a:ext cx="10347000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7"/>
          <p:cNvSpPr txBox="1"/>
          <p:nvPr/>
        </p:nvSpPr>
        <p:spPr>
          <a:xfrm>
            <a:off x="413938" y="299081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  <a:endParaRPr sz="700">
              <a:solidFill>
                <a:srgbClr val="FFBD59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883688" y="-121152"/>
            <a:ext cx="493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77" name="Google Shape;177;p27"/>
          <p:cNvSpPr txBox="1"/>
          <p:nvPr/>
        </p:nvSpPr>
        <p:spPr>
          <a:xfrm>
            <a:off x="134550" y="912700"/>
            <a:ext cx="9009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 projet explore l'optimisation des kernels CUDA pour améliorer l'efficacité des programmes accélérés par GPU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Objectif principal : Une gestion avancée de la mémoire partagée pour réduire les conflits de banque, améliorer les performances, et exploiter les techniques de padding et d'instructions de shuffle de warp.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1" marL="368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Concepts explorés :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■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étudiants acquerront une compréhension pratique de la hiérarchie mémoire CUDA.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■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Ils apprendront à transformer les performances des applications dans un environnement parallèle grâce à une utilisation optimisée de la mémoire partagée.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■"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 approfondiront leurs connaissances sur la réduction des accès couteux à la mémoire globale.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8"/>
          <p:cNvSpPr/>
          <p:nvPr/>
        </p:nvSpPr>
        <p:spPr>
          <a:xfrm>
            <a:off x="-521511" y="68265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8"/>
          <p:cNvSpPr/>
          <p:nvPr/>
        </p:nvSpPr>
        <p:spPr>
          <a:xfrm flipH="1" rot="10800000">
            <a:off x="-521511" y="2007367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8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8"/>
          <p:cNvSpPr/>
          <p:nvPr/>
        </p:nvSpPr>
        <p:spPr>
          <a:xfrm>
            <a:off x="7041451" y="3086891"/>
            <a:ext cx="3157049" cy="3129425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8"/>
          <p:cNvSpPr/>
          <p:nvPr/>
        </p:nvSpPr>
        <p:spPr>
          <a:xfrm>
            <a:off x="7833783" y="2866417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28"/>
          <p:cNvSpPr/>
          <p:nvPr/>
        </p:nvSpPr>
        <p:spPr>
          <a:xfrm>
            <a:off x="7652543" y="-1150506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28"/>
          <p:cNvSpPr/>
          <p:nvPr/>
        </p:nvSpPr>
        <p:spPr>
          <a:xfrm rot="10800000">
            <a:off x="8354875" y="470189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0" name="Google Shape;190;p28"/>
          <p:cNvCxnSpPr/>
          <p:nvPr/>
        </p:nvCxnSpPr>
        <p:spPr>
          <a:xfrm>
            <a:off x="10878168" y="1657825"/>
            <a:ext cx="9387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8"/>
          <p:cNvSpPr txBox="1"/>
          <p:nvPr/>
        </p:nvSpPr>
        <p:spPr>
          <a:xfrm>
            <a:off x="430050" y="302471"/>
            <a:ext cx="661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Objectifs : </a:t>
            </a:r>
            <a:endParaRPr b="1" sz="700">
              <a:solidFill>
                <a:srgbClr val="FFBD59"/>
              </a:solidFill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262775" y="996875"/>
            <a:ext cx="855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1" marL="45720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fr" sz="1900">
                <a:latin typeface="Montserrat"/>
                <a:ea typeface="Montserrat"/>
                <a:cs typeface="Montserrat"/>
                <a:sym typeface="Montserrat"/>
              </a:rPr>
              <a:t>Comprendre et implémenter les opérations de mémoire partagée dans les kernels CUDA.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1" marL="45720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fr" sz="1900">
                <a:latin typeface="Montserrat"/>
                <a:ea typeface="Montserrat"/>
                <a:cs typeface="Montserrat"/>
                <a:sym typeface="Montserrat"/>
              </a:rPr>
              <a:t>Réduire les conflits de banque et optimiser les accès mémoire.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  <a:p>
            <a:pPr indent="-196850" lvl="1" marL="3937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lang="fr" sz="1900">
                <a:latin typeface="Montserrat"/>
                <a:ea typeface="Montserrat"/>
                <a:cs typeface="Montserrat"/>
                <a:sym typeface="Montserrat"/>
              </a:rPr>
              <a:t>Analyser l’impact du padding et des instructions de shuffle de warp dans les opérations parallèles</a:t>
            </a:r>
            <a:r>
              <a:rPr b="1" lang="fr" sz="19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  <a:p>
            <a:pPr indent="-196850" lvl="1" marL="3937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lang="fr" sz="1900">
                <a:latin typeface="Montserrat"/>
                <a:ea typeface="Montserrat"/>
                <a:cs typeface="Montserrat"/>
                <a:sym typeface="Montserrat"/>
              </a:rPr>
              <a:t>Comparer les performances des implémentations optimisées et non optimisées.</a:t>
            </a:r>
            <a:endParaRPr sz="1900"/>
          </a:p>
          <a:p>
            <a:pPr indent="0" lvl="0" marL="4572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93" name="Google Shape;193;p28"/>
          <p:cNvSpPr txBox="1"/>
          <p:nvPr/>
        </p:nvSpPr>
        <p:spPr>
          <a:xfrm>
            <a:off x="4569619" y="2469595"/>
            <a:ext cx="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29"/>
          <p:cNvSpPr/>
          <p:nvPr/>
        </p:nvSpPr>
        <p:spPr>
          <a:xfrm>
            <a:off x="-521511" y="68265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29"/>
          <p:cNvSpPr/>
          <p:nvPr/>
        </p:nvSpPr>
        <p:spPr>
          <a:xfrm flipH="1" rot="10800000">
            <a:off x="-521511" y="2007367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29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29"/>
          <p:cNvSpPr/>
          <p:nvPr/>
        </p:nvSpPr>
        <p:spPr>
          <a:xfrm>
            <a:off x="7041388" y="-743234"/>
            <a:ext cx="3157049" cy="3129425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3" name="Google Shape;203;p29"/>
          <p:cNvCxnSpPr/>
          <p:nvPr/>
        </p:nvCxnSpPr>
        <p:spPr>
          <a:xfrm>
            <a:off x="691218" y="4701894"/>
            <a:ext cx="9387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9"/>
          <p:cNvSpPr txBox="1"/>
          <p:nvPr/>
        </p:nvSpPr>
        <p:spPr>
          <a:xfrm>
            <a:off x="395200" y="321471"/>
            <a:ext cx="677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 utilisés</a:t>
            </a:r>
            <a:endParaRPr b="1" sz="700">
              <a:solidFill>
                <a:srgbClr val="FFBD59"/>
              </a:solidFill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569619" y="2469595"/>
            <a:ext cx="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593550" y="1212313"/>
            <a:ext cx="79569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22250" lvl="1" marL="36830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fr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 Studio 2022 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1" marL="36830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•"/>
            </a:pPr>
            <a:r>
              <a:rPr b="1" lang="fr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Carte Nvidia GPU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1" marL="36830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fr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CUDA ToolKit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1" marL="36830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•"/>
            </a:pPr>
            <a:r>
              <a:rPr b="1" lang="fr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NvProf (Nvidia Profiler)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1" marL="36830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•"/>
            </a:pPr>
            <a:r>
              <a:rPr b="1" lang="fr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CUDA Debugger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7833793" y="-1195325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29"/>
          <p:cNvSpPr/>
          <p:nvPr/>
        </p:nvSpPr>
        <p:spPr>
          <a:xfrm rot="10800000">
            <a:off x="8354875" y="470189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29"/>
          <p:cNvSpPr/>
          <p:nvPr/>
        </p:nvSpPr>
        <p:spPr>
          <a:xfrm>
            <a:off x="7833783" y="308689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0" name="Google Shape;210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5345" y="1115591"/>
            <a:ext cx="5147856" cy="2898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77213" y="2805206"/>
            <a:ext cx="1477664" cy="147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/>
          <p:nvPr/>
        </p:nvSpPr>
        <p:spPr>
          <a:xfrm>
            <a:off x="-1043575" y="-83937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30"/>
          <p:cNvSpPr/>
          <p:nvPr/>
        </p:nvSpPr>
        <p:spPr>
          <a:xfrm flipH="1" rot="10800000">
            <a:off x="-900273" y="2373255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30"/>
          <p:cNvSpPr/>
          <p:nvPr/>
        </p:nvSpPr>
        <p:spPr>
          <a:xfrm rot="10800000">
            <a:off x="5855601" y="-841208"/>
            <a:ext cx="4057557" cy="3508864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30"/>
          <p:cNvSpPr/>
          <p:nvPr/>
        </p:nvSpPr>
        <p:spPr>
          <a:xfrm>
            <a:off x="6523566" y="323230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30"/>
          <p:cNvSpPr/>
          <p:nvPr/>
        </p:nvSpPr>
        <p:spPr>
          <a:xfrm>
            <a:off x="6836850" y="2571750"/>
            <a:ext cx="3157049" cy="3129424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30"/>
          <p:cNvSpPr/>
          <p:nvPr/>
        </p:nvSpPr>
        <p:spPr>
          <a:xfrm>
            <a:off x="8514122" y="2667656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30"/>
          <p:cNvSpPr/>
          <p:nvPr/>
        </p:nvSpPr>
        <p:spPr>
          <a:xfrm rot="10800000">
            <a:off x="7278740" y="1254948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23" name="Google Shape;223;p30"/>
          <p:cNvCxnSpPr/>
          <p:nvPr/>
        </p:nvCxnSpPr>
        <p:spPr>
          <a:xfrm rot="10800000">
            <a:off x="-353101" y="-6719"/>
            <a:ext cx="10347000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30"/>
          <p:cNvSpPr txBox="1"/>
          <p:nvPr/>
        </p:nvSpPr>
        <p:spPr>
          <a:xfrm>
            <a:off x="413938" y="299081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Réalisation du laboratoire </a:t>
            </a:r>
            <a:endParaRPr sz="700">
              <a:solidFill>
                <a:srgbClr val="FFBD59"/>
              </a:solidFill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7883688" y="-121152"/>
            <a:ext cx="493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6" name="Google Shape;226;p30"/>
          <p:cNvSpPr txBox="1"/>
          <p:nvPr/>
        </p:nvSpPr>
        <p:spPr>
          <a:xfrm>
            <a:off x="134550" y="741300"/>
            <a:ext cx="9009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03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lang="fr" sz="2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1</a:t>
            </a:r>
            <a:r>
              <a:rPr b="1" lang="fr" sz="23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Implémentation de kernels CUDA :</a:t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Char char="❏"/>
            </a:pP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Transposition de matrice avec mémoire partagée et padding.</a:t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Char char="❏"/>
            </a:pP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Réductions parallèles optimisées.</a:t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lang="fr" sz="2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2</a:t>
            </a: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Profilage des performances :</a:t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Char char="❏"/>
            </a:pP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Utilisation de nvprof ou d'autres outils pour analyser les conflits de banque et les accès mémoire.</a:t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•"/>
            </a:pPr>
            <a:r>
              <a:rPr b="1" lang="fr" sz="2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Analyse comparative :</a:t>
            </a:r>
            <a:endParaRPr b="1" sz="23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Char char="❏"/>
            </a:pPr>
            <a:r>
              <a:rPr b="1" lang="fr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Temps d'exécution entre versions optimisées et non optimisées.</a:t>
            </a:r>
            <a:endParaRPr b="1"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31"/>
          <p:cNvSpPr/>
          <p:nvPr/>
        </p:nvSpPr>
        <p:spPr>
          <a:xfrm>
            <a:off x="-521511" y="68265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31"/>
          <p:cNvSpPr/>
          <p:nvPr/>
        </p:nvSpPr>
        <p:spPr>
          <a:xfrm flipH="1" rot="10800000">
            <a:off x="-521511" y="2007367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31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31"/>
          <p:cNvSpPr/>
          <p:nvPr/>
        </p:nvSpPr>
        <p:spPr>
          <a:xfrm>
            <a:off x="7041388" y="-743234"/>
            <a:ext cx="3157049" cy="3129425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6" name="Google Shape;236;p31"/>
          <p:cNvCxnSpPr/>
          <p:nvPr/>
        </p:nvCxnSpPr>
        <p:spPr>
          <a:xfrm>
            <a:off x="691218" y="4701894"/>
            <a:ext cx="9387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31"/>
          <p:cNvSpPr txBox="1"/>
          <p:nvPr/>
        </p:nvSpPr>
        <p:spPr>
          <a:xfrm>
            <a:off x="395200" y="321471"/>
            <a:ext cx="677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1 :  </a:t>
            </a:r>
            <a:endParaRPr b="1" sz="700">
              <a:solidFill>
                <a:srgbClr val="FFBD59"/>
              </a:solidFill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4569619" y="2469595"/>
            <a:ext cx="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7833793" y="-1195325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31"/>
          <p:cNvSpPr/>
          <p:nvPr/>
        </p:nvSpPr>
        <p:spPr>
          <a:xfrm rot="10800000">
            <a:off x="8354875" y="470189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31"/>
          <p:cNvSpPr/>
          <p:nvPr/>
        </p:nvSpPr>
        <p:spPr>
          <a:xfrm>
            <a:off x="7833783" y="308689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2" name="Google Shape;24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7471" y="989826"/>
            <a:ext cx="8916529" cy="3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32"/>
          <p:cNvSpPr/>
          <p:nvPr/>
        </p:nvSpPr>
        <p:spPr>
          <a:xfrm>
            <a:off x="-521511" y="68265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32"/>
          <p:cNvSpPr/>
          <p:nvPr/>
        </p:nvSpPr>
        <p:spPr>
          <a:xfrm flipH="1" rot="10800000">
            <a:off x="-521511" y="2007367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32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32"/>
          <p:cNvSpPr/>
          <p:nvPr/>
        </p:nvSpPr>
        <p:spPr>
          <a:xfrm>
            <a:off x="7041388" y="-743234"/>
            <a:ext cx="3157049" cy="3129425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2" name="Google Shape;252;p32"/>
          <p:cNvCxnSpPr/>
          <p:nvPr/>
        </p:nvCxnSpPr>
        <p:spPr>
          <a:xfrm>
            <a:off x="691218" y="4701894"/>
            <a:ext cx="9387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32"/>
          <p:cNvSpPr txBox="1"/>
          <p:nvPr/>
        </p:nvSpPr>
        <p:spPr>
          <a:xfrm>
            <a:off x="395200" y="321471"/>
            <a:ext cx="677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2 :  </a:t>
            </a:r>
            <a:endParaRPr b="1" sz="700">
              <a:solidFill>
                <a:srgbClr val="FFBD59"/>
              </a:solidFill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569619" y="2469595"/>
            <a:ext cx="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7833793" y="-1195325"/>
            <a:ext cx="2414857" cy="309597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32"/>
          <p:cNvSpPr/>
          <p:nvPr/>
        </p:nvSpPr>
        <p:spPr>
          <a:xfrm rot="10800000">
            <a:off x="8354875" y="470189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32"/>
          <p:cNvSpPr/>
          <p:nvPr/>
        </p:nvSpPr>
        <p:spPr>
          <a:xfrm>
            <a:off x="7833783" y="3086892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8" name="Google Shape;258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219" y="906479"/>
            <a:ext cx="7663650" cy="393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/>
          <p:nvPr/>
        </p:nvSpPr>
        <p:spPr>
          <a:xfrm>
            <a:off x="4617919" y="682655"/>
            <a:ext cx="4526081" cy="4486478"/>
          </a:xfrm>
          <a:custGeom>
            <a:rect b="b" l="l" r="r" t="t"/>
            <a:pathLst>
              <a:path extrusionOk="0" h="8972956" w="9052162">
                <a:moveTo>
                  <a:pt x="0" y="0"/>
                </a:moveTo>
                <a:lnTo>
                  <a:pt x="9052162" y="0"/>
                </a:lnTo>
                <a:lnTo>
                  <a:pt x="9052162" y="8972956"/>
                </a:lnTo>
                <a:lnTo>
                  <a:pt x="0" y="8972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33"/>
          <p:cNvSpPr/>
          <p:nvPr/>
        </p:nvSpPr>
        <p:spPr>
          <a:xfrm>
            <a:off x="4631821" y="305662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33"/>
          <p:cNvSpPr/>
          <p:nvPr/>
        </p:nvSpPr>
        <p:spPr>
          <a:xfrm>
            <a:off x="6153357" y="1450285"/>
            <a:ext cx="3462043" cy="4438517"/>
          </a:xfrm>
          <a:custGeom>
            <a:rect b="b" l="l" r="r" t="t"/>
            <a:pathLst>
              <a:path extrusionOk="0" h="8877034" w="6924086">
                <a:moveTo>
                  <a:pt x="0" y="0"/>
                </a:moveTo>
                <a:lnTo>
                  <a:pt x="6924086" y="0"/>
                </a:lnTo>
                <a:lnTo>
                  <a:pt x="6924086" y="8877033"/>
                </a:lnTo>
                <a:lnTo>
                  <a:pt x="0" y="8877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-194634" y="-207914"/>
            <a:ext cx="2620435" cy="2465305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33"/>
          <p:cNvSpPr/>
          <p:nvPr/>
        </p:nvSpPr>
        <p:spPr>
          <a:xfrm>
            <a:off x="-521511" y="682655"/>
            <a:ext cx="2425459" cy="2404237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33"/>
          <p:cNvSpPr/>
          <p:nvPr/>
        </p:nvSpPr>
        <p:spPr>
          <a:xfrm flipH="1" rot="10800000">
            <a:off x="-521511" y="2007367"/>
            <a:ext cx="2592995" cy="3324352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33"/>
          <p:cNvSpPr/>
          <p:nvPr/>
        </p:nvSpPr>
        <p:spPr>
          <a:xfrm rot="10800000">
            <a:off x="5855601" y="-841208"/>
            <a:ext cx="4057557" cy="3508864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33"/>
          <p:cNvSpPr/>
          <p:nvPr/>
        </p:nvSpPr>
        <p:spPr>
          <a:xfrm>
            <a:off x="-272301" y="-207914"/>
            <a:ext cx="1404703" cy="1121138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33"/>
          <p:cNvSpPr/>
          <p:nvPr/>
        </p:nvSpPr>
        <p:spPr>
          <a:xfrm rot="10800000">
            <a:off x="7090669" y="913224"/>
            <a:ext cx="1578250" cy="1259652"/>
          </a:xfrm>
          <a:custGeom>
            <a:rect b="b" l="l" r="r" t="t"/>
            <a:pathLst>
              <a:path extrusionOk="0" h="2519303" w="3156500">
                <a:moveTo>
                  <a:pt x="3156500" y="2519304"/>
                </a:moveTo>
                <a:lnTo>
                  <a:pt x="0" y="2519304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4"/>
                </a:lnTo>
                <a:close/>
              </a:path>
            </a:pathLst>
          </a:custGeom>
          <a:blipFill rotWithShape="1">
            <a:blip r:embed="rId8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33"/>
          <p:cNvSpPr txBox="1"/>
          <p:nvPr/>
        </p:nvSpPr>
        <p:spPr>
          <a:xfrm>
            <a:off x="2776770" y="2155288"/>
            <a:ext cx="27372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7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  <a:r>
              <a:rPr b="0" i="0" lang="fr" sz="67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  <a:endParaRPr sz="700"/>
          </a:p>
        </p:txBody>
      </p:sp>
      <p:grpSp>
        <p:nvGrpSpPr>
          <p:cNvPr id="273" name="Google Shape;273;p33"/>
          <p:cNvGrpSpPr/>
          <p:nvPr/>
        </p:nvGrpSpPr>
        <p:grpSpPr>
          <a:xfrm>
            <a:off x="2818749" y="1324134"/>
            <a:ext cx="1794546" cy="499127"/>
            <a:chOff x="0" y="-28575"/>
            <a:chExt cx="791700" cy="220200"/>
          </a:xfrm>
        </p:grpSpPr>
        <p:sp>
          <p:nvSpPr>
            <p:cNvPr id="274" name="Google Shape;274;p33"/>
            <p:cNvSpPr/>
            <p:nvPr/>
          </p:nvSpPr>
          <p:spPr>
            <a:xfrm>
              <a:off x="0" y="0"/>
              <a:ext cx="791578" cy="191498"/>
            </a:xfrm>
            <a:custGeom>
              <a:rect b="b" l="l" r="r" t="t"/>
              <a:pathLst>
                <a:path extrusionOk="0" h="191498" w="791578">
                  <a:moveTo>
                    <a:pt x="0" y="0"/>
                  </a:moveTo>
                  <a:lnTo>
                    <a:pt x="791578" y="0"/>
                  </a:lnTo>
                  <a:lnTo>
                    <a:pt x="791578" y="191498"/>
                  </a:lnTo>
                  <a:lnTo>
                    <a:pt x="0" y="1914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5" name="Google Shape;275;p33"/>
            <p:cNvSpPr txBox="1"/>
            <p:nvPr/>
          </p:nvSpPr>
          <p:spPr>
            <a:xfrm>
              <a:off x="0" y="-28575"/>
              <a:ext cx="7917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33"/>
          <p:cNvGrpSpPr/>
          <p:nvPr/>
        </p:nvGrpSpPr>
        <p:grpSpPr>
          <a:xfrm>
            <a:off x="4603724" y="1099336"/>
            <a:ext cx="226443" cy="289684"/>
            <a:chOff x="0" y="-28575"/>
            <a:chExt cx="99900" cy="127800"/>
          </a:xfrm>
        </p:grpSpPr>
        <p:sp>
          <p:nvSpPr>
            <p:cNvPr id="277" name="Google Shape;277;p33"/>
            <p:cNvSpPr/>
            <p:nvPr/>
          </p:nvSpPr>
          <p:spPr>
            <a:xfrm>
              <a:off x="0" y="0"/>
              <a:ext cx="99846" cy="99175"/>
            </a:xfrm>
            <a:custGeom>
              <a:rect b="b" l="l" r="r" t="t"/>
              <a:pathLst>
                <a:path extrusionOk="0" h="99175" w="99846">
                  <a:moveTo>
                    <a:pt x="0" y="0"/>
                  </a:moveTo>
                  <a:lnTo>
                    <a:pt x="99846" y="0"/>
                  </a:lnTo>
                  <a:lnTo>
                    <a:pt x="99846" y="99175"/>
                  </a:lnTo>
                  <a:lnTo>
                    <a:pt x="0" y="991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8" name="Google Shape;278;p33"/>
            <p:cNvSpPr txBox="1"/>
            <p:nvPr/>
          </p:nvSpPr>
          <p:spPr>
            <a:xfrm>
              <a:off x="0" y="-28575"/>
              <a:ext cx="99900" cy="1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33"/>
          <p:cNvSpPr txBox="1"/>
          <p:nvPr/>
        </p:nvSpPr>
        <p:spPr>
          <a:xfrm>
            <a:off x="2772159" y="3812808"/>
            <a:ext cx="274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Let's discuss!</a:t>
            </a:r>
            <a:endParaRPr sz="700"/>
          </a:p>
        </p:txBody>
      </p:sp>
      <p:sp>
        <p:nvSpPr>
          <p:cNvPr id="280" name="Google Shape;280;p33"/>
          <p:cNvSpPr txBox="1"/>
          <p:nvPr/>
        </p:nvSpPr>
        <p:spPr>
          <a:xfrm>
            <a:off x="2818749" y="1489740"/>
            <a:ext cx="179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2C174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GROUP </a:t>
            </a:r>
            <a:r>
              <a:rPr b="1" lang="fr" sz="1400">
                <a:solidFill>
                  <a:srgbClr val="2C174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9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