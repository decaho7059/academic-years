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57" r:id="rId8"/>
    <p:sldId id="258" r:id="rId9"/>
    <p:sldId id="266" r:id="rId10"/>
    <p:sldId id="259" r:id="rId11"/>
    <p:sldId id="260" r:id="rId12"/>
    <p:sldId id="261" r:id="rId13"/>
    <p:sldId id="262" r:id="rId14"/>
    <p:sldId id="263" r:id="rId15"/>
    <p:sldId id="267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3940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520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7869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3646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379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921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0375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0892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7290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7838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6013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2486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8857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6329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2577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0826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4554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1F830-8BBE-4E7D-93B5-DD23D6068B66}" type="datetimeFigureOut">
              <a:rPr lang="en-CA" smtClean="0"/>
              <a:t>2021-02-01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5103D-627D-472A-92DD-666102C8F2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1772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CF49-3216-4BEC-9ADB-B777EC21A9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Groupe </a:t>
            </a:r>
            <a:r>
              <a:rPr lang="en-CA" dirty="0" err="1"/>
              <a:t>d’etude</a:t>
            </a:r>
            <a:r>
              <a:rPr lang="en-CA" dirty="0"/>
              <a:t> 3/ study Group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ECC6E-4281-4253-9D51-24C7007F6F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58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B139-85FD-4A33-A70C-29419AEFE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Visibility / </a:t>
            </a:r>
            <a:r>
              <a:rPr lang="en-CA" dirty="0" err="1"/>
              <a:t>Visibilite</a:t>
            </a:r>
            <a:endParaRPr lang="en-CA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9D79B5D-1AAD-4F03-82E9-275A4D3D8B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1191671"/>
              </p:ext>
            </p:extLst>
          </p:nvPr>
        </p:nvGraphicFramePr>
        <p:xfrm>
          <a:off x="1141413" y="2202835"/>
          <a:ext cx="8907656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3828">
                  <a:extLst>
                    <a:ext uri="{9D8B030D-6E8A-4147-A177-3AD203B41FA5}">
                      <a16:colId xmlns:a16="http://schemas.microsoft.com/office/drawing/2014/main" val="1626649936"/>
                    </a:ext>
                  </a:extLst>
                </a:gridCol>
                <a:gridCol w="4453828">
                  <a:extLst>
                    <a:ext uri="{9D8B030D-6E8A-4147-A177-3AD203B41FA5}">
                      <a16:colId xmlns:a16="http://schemas.microsoft.com/office/drawing/2014/main" val="1945723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Modifier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069627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public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The code is accessible for all classes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1425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private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The code is only accessible within the declared class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440832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i="1">
                          <a:effectLst/>
                        </a:rPr>
                        <a:t>default</a:t>
                      </a:r>
                      <a:endParaRPr lang="en-CA">
                        <a:effectLst/>
                      </a:endParaRP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The code is only accessible in the same package. This is used when you don't specify a modifier. 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61125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protected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The code is accessible in the same package and </a:t>
                      </a:r>
                      <a:r>
                        <a:rPr lang="en-US" b="1" dirty="0">
                          <a:effectLst/>
                        </a:rPr>
                        <a:t>subclasses</a:t>
                      </a:r>
                      <a:r>
                        <a:rPr lang="en-US" dirty="0">
                          <a:effectLst/>
                        </a:rPr>
                        <a:t>. 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35006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065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179B-F63C-4AC1-8124-C36283663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D77E367-626E-4539-8D54-5A25C92306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437447"/>
              </p:ext>
            </p:extLst>
          </p:nvPr>
        </p:nvGraphicFramePr>
        <p:xfrm>
          <a:off x="1141413" y="2249487"/>
          <a:ext cx="9905998" cy="370872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52999">
                  <a:extLst>
                    <a:ext uri="{9D8B030D-6E8A-4147-A177-3AD203B41FA5}">
                      <a16:colId xmlns:a16="http://schemas.microsoft.com/office/drawing/2014/main" val="4050597437"/>
                    </a:ext>
                  </a:extLst>
                </a:gridCol>
                <a:gridCol w="4952999">
                  <a:extLst>
                    <a:ext uri="{9D8B030D-6E8A-4147-A177-3AD203B41FA5}">
                      <a16:colId xmlns:a16="http://schemas.microsoft.com/office/drawing/2014/main" val="3314622584"/>
                    </a:ext>
                  </a:extLst>
                </a:gridCol>
              </a:tblGrid>
              <a:tr h="855625">
                <a:tc>
                  <a:txBody>
                    <a:bodyPr/>
                    <a:lstStyle/>
                    <a:p>
                      <a:pPr algn="l" fontAlgn="t"/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class cannot be inherited by other classes.</a:t>
                      </a:r>
                    </a:p>
                    <a:p>
                      <a:pPr algn="l" fontAlgn="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Attributes and methods cannot be overridden/modified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735998741"/>
                  </a:ext>
                </a:extLst>
              </a:tr>
              <a:tr h="1381921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abstract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The class cannot be used to create objects (To access an abstract class, it must be inherited from another class.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183710943"/>
                  </a:ext>
                </a:extLst>
              </a:tr>
              <a:tr h="1381921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static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Attributes and methods belongs to the class, rather than an object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796306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29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6DFB-C35D-4E5F-9A0C-C6C04DE7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Inheritance  / heritage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2A4-4987-4A2E-9EA7-3A220B6D7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Keyword/mot </a:t>
            </a:r>
            <a:r>
              <a:rPr lang="en-CA" dirty="0" err="1"/>
              <a:t>cle</a:t>
            </a:r>
            <a:r>
              <a:rPr lang="en-CA" dirty="0"/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extends</a:t>
            </a: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altLang="en-US" dirty="0"/>
              <a:t>How to tell? Keywork: is A 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Why? Reuse code</a:t>
            </a:r>
          </a:p>
          <a:p>
            <a:r>
              <a:rPr lang="en-US" altLang="en-US" sz="2000" dirty="0" err="1">
                <a:latin typeface="Arial" panose="020B0604020202020204" pitchFamily="34" charset="0"/>
              </a:rPr>
              <a:t>Pourquoi</a:t>
            </a:r>
            <a:r>
              <a:rPr lang="en-US" altLang="en-US" sz="2000" dirty="0">
                <a:latin typeface="Arial" panose="020B0604020202020204" pitchFamily="34" charset="0"/>
              </a:rPr>
              <a:t>? </a:t>
            </a:r>
            <a:r>
              <a:rPr lang="en-US" altLang="en-US" sz="2000" dirty="0" err="1">
                <a:latin typeface="Arial" panose="020B0604020202020204" pitchFamily="34" charset="0"/>
              </a:rPr>
              <a:t>Reutiliser</a:t>
            </a:r>
            <a:r>
              <a:rPr lang="en-US" altLang="en-US" sz="2000" dirty="0">
                <a:latin typeface="Arial" panose="020B0604020202020204" pitchFamily="34" charset="0"/>
              </a:rPr>
              <a:t> le code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</a:t>
            </a:r>
            <a:r>
              <a:rPr lang="en-US" altLang="en-US" sz="2000" dirty="0">
                <a:latin typeface="Arial" panose="020B0604020202020204" pitchFamily="34" charset="0"/>
              </a:rPr>
              <a:t> in java a class can only have 1 superclass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refer to superclass, use the keywork super()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47970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05467-68C0-4B43-8D20-D512EF37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774387"/>
            <a:ext cx="9905999" cy="3666931"/>
          </a:xfrm>
        </p:spPr>
        <p:txBody>
          <a:bodyPr/>
          <a:lstStyle/>
          <a:p>
            <a:pPr marL="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"Mustang"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Car attribute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honk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C371D-651D-4D8E-9453-46CC73BAD5E5}"/>
              </a:ext>
            </a:extLst>
          </p:cNvPr>
          <p:cNvSpPr txBox="1"/>
          <p:nvPr/>
        </p:nvSpPr>
        <p:spPr>
          <a:xfrm>
            <a:off x="2024742" y="705931"/>
            <a:ext cx="71048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class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brand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Vehicle attribute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	public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honk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Vehicle 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Tuut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tuut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	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1710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A0C8-F431-4449-9E9D-390F3A562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Polymorphism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CBEC1-A239-48BC-8A43-A15D89878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Overriding methods (inheritance)/ </a:t>
            </a:r>
            <a:r>
              <a:rPr lang="en-CA" dirty="0">
                <a:solidFill>
                  <a:srgbClr val="002060"/>
                </a:solidFill>
              </a:rPr>
              <a:t>using different arguments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public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honk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Tuut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tuut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en-CA" dirty="0"/>
          </a:p>
          <a:p>
            <a:pPr marL="457200" indent="-457200"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public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honk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“car, car!"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);}}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;}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20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7362-1040-43F2-96B5-DAEDE007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40624"/>
            <a:ext cx="9905998" cy="1478570"/>
          </a:xfrm>
        </p:spPr>
        <p:txBody>
          <a:bodyPr/>
          <a:lstStyle/>
          <a:p>
            <a:r>
              <a:rPr lang="en-CA" dirty="0"/>
              <a:t>Challenge 1: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Shiritori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86670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5AD9-8570-49B8-B297-3523C9D3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Rules: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C450D-0573-4189-B1E2-FE9D3EEA3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This challenge is an English twist on the Japanese word game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Shiritori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. The basic premise is to follow two rules: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First character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of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next word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must match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last character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of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previous word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The word must not have already been said.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Below is an example of a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Shiritori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game: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161C2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["word", "dowry", "yodel", "leader", "righteous", "serpent"] // valid!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["motive", "beach"] // invalid! - beach should start with "e"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["hive", "eh", "hive"] // invalid! - "hive" has already been said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Write a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Shiritori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class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that has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two instance properties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words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an array of words already said.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game_over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a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boolean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that is true if the game is over.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and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three instance methods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play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a method that takes in a word as an argument and checks if it is valid (the word should follow rules #1 and #2 above).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If it is valid, it adds the word to the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words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array, and returns the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words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array.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If it is invalid (either rule is broken), it returns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"game over"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and sets the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game_over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boolean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to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true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restart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a method that sets the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words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array to an empty one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and sets the 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game_over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boolean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to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. It should return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"game restarted"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getWords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a method that returns the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words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array.</a:t>
            </a:r>
          </a:p>
        </p:txBody>
      </p:sp>
    </p:spTree>
    <p:extLst>
      <p:ext uri="{BB962C8B-B14F-4D97-AF65-F5344CB8AC3E}">
        <p14:creationId xmlns:p14="http://schemas.microsoft.com/office/powerpoint/2010/main" val="404293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0D8D-2EFF-4854-BB49-A8ED77074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Regles</a:t>
            </a:r>
            <a:r>
              <a:rPr lang="en-CA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F24CE-C64A-42E3-BE7A-8EE8778B9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58212"/>
            <a:ext cx="9905999" cy="501053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Ce défi est une version anglaise du jeu de mots japonais Shiritori. Le principe de base est de suivre deux règles: </a:t>
            </a:r>
          </a:p>
          <a:p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Le premier caractère du mot suivant doit correspondre au dernier caractère du mot précédent. </a:t>
            </a:r>
          </a:p>
          <a:p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Le mot ne doit pas avoir déjà été dit. </a:t>
            </a:r>
          </a:p>
          <a:p>
            <a:pPr marL="0" indent="0">
              <a:buNone/>
            </a:pP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Voici un exemple de jeu Shiritori: </a:t>
            </a:r>
          </a:p>
          <a:p>
            <a:pPr marL="0" indent="0">
              <a:buNone/>
            </a:pP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["mot", "dot", "yodel", "chef", "juste", "serpent"] // valide! </a:t>
            </a:r>
          </a:p>
          <a:p>
            <a:pPr marL="0" indent="0">
              <a:buNone/>
            </a:pP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["motif", "plage"] // invalide! - la plage doit commencer par "e" </a:t>
            </a:r>
          </a:p>
          <a:p>
            <a:pPr marL="0" indent="0">
              <a:buNone/>
            </a:pP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["ruche", "eh", "ruche"] // invalide! - "ruche" a déjà été dit </a:t>
            </a:r>
          </a:p>
          <a:p>
            <a:pPr marL="0" indent="0">
              <a:buNone/>
            </a:pP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Écrivez une classe Shiritori qui a deux propriétés d'instance: </a:t>
            </a:r>
          </a:p>
          <a:p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mots: un tableau de mots déjà prononcés. </a:t>
            </a:r>
          </a:p>
          <a:p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game_over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un booléen qui est vrai si le jeu est terminé. et trois méthodes d'instance: </a:t>
            </a:r>
          </a:p>
          <a:p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play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une méthode qui prend un mot comme argument et vérifie s'il est valide (le mot doit suivre les règles n ° 1 et n ° 2 ci-dessus). </a:t>
            </a:r>
          </a:p>
          <a:p>
            <a:pPr lvl="1"/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S'il est valide, il ajoute le mot au tableau de mots et renvoie le tableau de mots. </a:t>
            </a:r>
          </a:p>
          <a:p>
            <a:pPr lvl="1"/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S'il n'est pas valide (l'une ou l'autre des règles est enfreinte), il renvoie "</a:t>
            </a:r>
            <a:r>
              <a:rPr kumimoji="0" lang="fr-FR" altLang="en-US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game</a:t>
            </a:r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 over" et définit le booléen </a:t>
            </a:r>
            <a:r>
              <a:rPr kumimoji="0" lang="fr-FR" altLang="en-US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game_over</a:t>
            </a:r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 sur </a:t>
            </a:r>
            <a:r>
              <a:rPr kumimoji="0" lang="fr-FR" altLang="en-US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true</a:t>
            </a:r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. </a:t>
            </a:r>
          </a:p>
          <a:p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restart: une méthode qui définit le tableau de mots sur un tableau vide [] et définit le booléen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game_over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 sur false. Il devrait renvoyer "jeu redémarré". </a:t>
            </a:r>
          </a:p>
          <a:p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getWords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une méthode qui renvoie le tableau de mots.</a:t>
            </a:r>
            <a:r>
              <a:rPr kumimoji="0" lang="fr-F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14726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C3F89-CCCA-4734-B689-448869889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Examples / Notes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2508-2924-4295-9E13-C1E744199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Examples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my_shiritori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Shiritori.new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my_shiritori.play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("apple") ➞ ["apple"]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my_shiritori.play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("ear") ➞ ["apple", "ear"]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my_shiritori.play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("rhino") ➞ ["apple", "ear", "rhino"]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my_shiritori.play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("corn") ➞ "game over" // Corn does not start with an "o".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my_shiritori.getWords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➞ ["apple", "ear", "rhino"] // Words should be accessible.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my_shiritori.restart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➞ "game restarted"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my_shiritori.getWords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➞ [] // Words array should be set back to empty.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my_shiritori.play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("hostess") ➞ ["hostess"]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my_shiritori.play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("stash") ➞ ["hostess", "stash"]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my_shiritori.play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("hostess") ➞ "game over" // Words cannot have already been said.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161C2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Notes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The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play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method should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not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add an invalid word to the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words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array.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You don't need to worry about capitalization or white spaces for the inputs for the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play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There will only be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single inputs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for the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play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method.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54811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3BC6-1493-4256-932D-A1D79AFC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Challenge 2: </a:t>
            </a:r>
            <a:r>
              <a:rPr lang="en-US" altLang="en-US" sz="3600" dirty="0">
                <a:solidFill>
                  <a:srgbClr val="161C20"/>
                </a:solidFill>
                <a:latin typeface="Lato"/>
              </a:rPr>
              <a:t>sum of people's budgets.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DF67F7-0CE5-4C58-9145-96C9AC344A97}"/>
              </a:ext>
            </a:extLst>
          </p:cNvPr>
          <p:cNvSpPr txBox="1">
            <a:spLocks/>
          </p:cNvSpPr>
          <p:nvPr/>
        </p:nvSpPr>
        <p:spPr>
          <a:xfrm>
            <a:off x="1293812" y="24018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2000" dirty="0">
                <a:solidFill>
                  <a:srgbClr val="161C20"/>
                </a:solidFill>
                <a:latin typeface="Lato"/>
              </a:rPr>
              <a:t>Create the method that takes an array with objects and returns the sum of people's budgets.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fr-FR" altLang="en-US" sz="2000" dirty="0">
                <a:solidFill>
                  <a:srgbClr val="161C20"/>
                </a:solidFill>
                <a:latin typeface="Lato"/>
              </a:rPr>
              <a:t>Créez la méthode qui prend un tableau avec des objets et renvoie la somme des budgets des personnes.</a:t>
            </a:r>
            <a:endParaRPr lang="en-US" altLang="en-US" sz="2000" dirty="0">
              <a:solidFill>
                <a:srgbClr val="161C20"/>
              </a:solidFill>
              <a:latin typeface="Lat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2000" b="1" dirty="0">
                <a:solidFill>
                  <a:srgbClr val="161C20"/>
                </a:solidFill>
                <a:latin typeface="Lato"/>
              </a:rPr>
              <a:t>Examples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1800" dirty="0" err="1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getBudgets</a:t>
            </a:r>
            <a:r>
              <a:rPr lang="en-US" altLang="en-US" sz="18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18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name: "John", age: 21, budget: 23000 },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18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name: "Steve", age: 32, budget: 40000 },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18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name: "Martin", age: 16, budget: 2700 } ]) ➞ 65700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1800" dirty="0" err="1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getBudgets</a:t>
            </a:r>
            <a:r>
              <a:rPr lang="en-US" altLang="en-US" sz="18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18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name: "John", age: 21, budget: 29000 },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18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name: "Steve", age: 32, budget: 32000 },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18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name: "Martin", age: 16, budget: 1600 } ]) ➞ 62600</a:t>
            </a:r>
            <a:r>
              <a:rPr lang="en-US" altLang="en-US" sz="1400" dirty="0"/>
              <a:t> </a:t>
            </a:r>
            <a:endParaRPr lang="en-US" altLang="en-US" sz="4000" dirty="0">
              <a:latin typeface="Arial" panose="020B0604020202020204" pitchFamily="34" charset="0"/>
            </a:endParaRPr>
          </a:p>
          <a:p>
            <a:endParaRPr lang="en-CA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29C435F-75F7-4AA9-90F7-81987C70C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45"/>
            <a:ext cx="65" cy="40011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fr-F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24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FCBAB-B4DB-4BFA-BCCB-4533F64C4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14604"/>
            <a:ext cx="9905999" cy="6251510"/>
          </a:xfrm>
        </p:spPr>
        <p:txBody>
          <a:bodyPr>
            <a:normAutofit fontScale="6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public class Program {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public static double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getBudgets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(Person[] persons)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61C2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}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61C2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class Person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private String name;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private int age;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private double budget;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public Person(String name, int age, double budget)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	super();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	this.name = name;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this.age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= age;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this.budget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= budget;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public 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getName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	return name;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public void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setName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(String name)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	this.name = name;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public int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getAge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	return age;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public void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setAge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(int age)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this.age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= age;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public double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getBudget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	return budget;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public void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setBudget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(double budget)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this.budget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= budget;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	}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61C20"/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12345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24D7-5AF7-4454-9BCB-82DC8742C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115" y="2689715"/>
            <a:ext cx="9905998" cy="1478570"/>
          </a:xfrm>
        </p:spPr>
        <p:txBody>
          <a:bodyPr/>
          <a:lstStyle/>
          <a:p>
            <a:r>
              <a:rPr lang="en-CA" dirty="0"/>
              <a:t>Challenge 3: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CoffeeShop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40529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3BFDD-94B3-47C4-90AB-ECB13B6A3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Rules: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0818D-D666-4B3C-AFB6-D3EDBEB88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Write a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called 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CoffeeShop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, which has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three instance variables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: a string (basically, of the shop)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menu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: an array of items (of type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MenuItem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), with each item containing 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item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(name of the item),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(whether a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food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or a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drink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) and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price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orders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: an empty array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and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seven methods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addOrder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adds 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of the item to the end of 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orders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array if it exists on 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menu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. Otherwise, return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"This item is currently unavailable!"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161C2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fulfillOrder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if 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orders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array is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not empty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, return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"The {item} is ready!"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. If 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orders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array is empty, return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"All orders have been fulfilled!"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161C2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listOrders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returns the list of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orders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taken, otherwise, an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empty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array.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dueAmount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returns the total amount due for 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orders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taken.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cheapestItem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returns 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of the cheapest item on the menu.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drinksOnly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returns only the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item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names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of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drink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from the menu.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foodOnly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returns only the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item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names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of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food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from the menu.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IMPORTANT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: Orders are fulfilled in a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FIFO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(first-in, first-out) order.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00781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A0610-D861-4EBD-B14F-887BCA65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Regles</a:t>
            </a:r>
            <a:r>
              <a:rPr lang="en-CA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247B8-8404-41B1-AD9A-34B2FF044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48270"/>
            <a:ext cx="9905999" cy="458052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Écrivez une classe appelée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CoffeeShop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, qui a trois variables d'instance: </a:t>
            </a:r>
          </a:p>
          <a:p>
            <a:pPr marL="457200" indent="-457200">
              <a:buFont typeface="+mj-lt"/>
              <a:buAutoNum type="arabicPeriod"/>
            </a:pPr>
            <a:r>
              <a:rPr lang="fr-FR" altLang="en-US" sz="2100" b="1" dirty="0" err="1">
                <a:solidFill>
                  <a:srgbClr val="161C20"/>
                </a:solidFill>
                <a:latin typeface="Lato"/>
              </a:rPr>
              <a:t>name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une chaîne (essentiellement, de la boutique) </a:t>
            </a:r>
          </a:p>
          <a:p>
            <a:pPr marL="457200" indent="-457200">
              <a:buFont typeface="+mj-lt"/>
              <a:buAutoNum type="arabicPeriod"/>
            </a:pPr>
            <a:r>
              <a:rPr lang="fr-FR" altLang="en-US" sz="2100" b="1" dirty="0">
                <a:solidFill>
                  <a:srgbClr val="161C20"/>
                </a:solidFill>
                <a:latin typeface="Lato"/>
              </a:rPr>
              <a:t>menu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un tableau d'articles (de type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MenuItem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), chaque article contenant l'article (nom de l'article), le type (qu'il s'agisse d'un aliment ou d'une boisson) et le prix. </a:t>
            </a:r>
          </a:p>
          <a:p>
            <a:pPr marL="457200" indent="-457200">
              <a:buFont typeface="+mj-lt"/>
              <a:buAutoNum type="arabicPeriod"/>
            </a:pPr>
            <a:r>
              <a:rPr lang="fr-FR" altLang="en-US" sz="2100" b="1" dirty="0">
                <a:solidFill>
                  <a:srgbClr val="161C20"/>
                </a:solidFill>
                <a:latin typeface="Lato"/>
              </a:rPr>
              <a:t>commandes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un tableau vide et sept méthodes: </a:t>
            </a:r>
          </a:p>
          <a:p>
            <a:pPr lvl="1"/>
            <a:r>
              <a:rPr lang="fr-FR" altLang="en-US" b="1" dirty="0" err="1">
                <a:solidFill>
                  <a:srgbClr val="161C20"/>
                </a:solidFill>
                <a:latin typeface="Lato"/>
              </a:rPr>
              <a:t>addOrder</a:t>
            </a:r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ajoute le nom de l'article à la fin du tableau des commandes s'il existe dans le menu. Sinon, retournez "Cet article est actuellement indisponible!" </a:t>
            </a:r>
          </a:p>
          <a:p>
            <a:pPr lvl="1"/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fulfillOrder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si le tableau des commandes n'est pas vide, retournez "L'élément {item} est prêt!". Si le tableau des commandes est vide, renvoyez "Toutes les commandes ont été exécutées!" </a:t>
            </a:r>
          </a:p>
          <a:p>
            <a:pPr lvl="1"/>
            <a:r>
              <a:rPr lang="fr-FR" altLang="en-US" sz="2100" b="1" dirty="0" err="1">
                <a:solidFill>
                  <a:srgbClr val="161C20"/>
                </a:solidFill>
                <a:latin typeface="Lato"/>
              </a:rPr>
              <a:t>listOrders</a:t>
            </a:r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retourne la liste des commandes prises, sinon, un tableau vide. </a:t>
            </a:r>
          </a:p>
          <a:p>
            <a:pPr lvl="1"/>
            <a:r>
              <a:rPr lang="fr-FR" altLang="en-US" sz="2100" b="1" dirty="0" err="1">
                <a:solidFill>
                  <a:srgbClr val="161C20"/>
                </a:solidFill>
                <a:latin typeface="Lato"/>
              </a:rPr>
              <a:t>dueAmount</a:t>
            </a:r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retourne le montant total dû pour les commandes prises. </a:t>
            </a:r>
          </a:p>
          <a:p>
            <a:pPr lvl="1"/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cheapestItem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renvoie le nom de l'élément le moins cher du menu. </a:t>
            </a:r>
          </a:p>
          <a:p>
            <a:pPr lvl="1"/>
            <a:r>
              <a:rPr lang="fr-FR" altLang="en-US" sz="2100" b="1" dirty="0" err="1">
                <a:solidFill>
                  <a:srgbClr val="161C20"/>
                </a:solidFill>
                <a:latin typeface="Lato"/>
              </a:rPr>
              <a:t>drinksOnly</a:t>
            </a:r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: renvoie uniquement les noms des éléments de type drink du menu. </a:t>
            </a:r>
          </a:p>
          <a:p>
            <a:pPr lvl="1"/>
            <a:r>
              <a:rPr lang="fr-FR" altLang="en-US" sz="2100" b="1" dirty="0" err="1">
                <a:solidFill>
                  <a:srgbClr val="161C20"/>
                </a:solidFill>
                <a:latin typeface="Lato"/>
              </a:rPr>
              <a:t>foodOnly</a:t>
            </a:r>
            <a:r>
              <a:rPr lang="fr-FR" altLang="en-US" sz="2100" b="1" dirty="0">
                <a:solidFill>
                  <a:srgbClr val="161C20"/>
                </a:solidFill>
                <a:latin typeface="Lato"/>
              </a:rPr>
              <a:t>: </a:t>
            </a:r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renvoie uniquement les noms des éléments de type </a:t>
            </a:r>
            <a:r>
              <a:rPr kumimoji="0" lang="fr-FR" altLang="en-US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food</a:t>
            </a:r>
            <a:r>
              <a:rPr kumimoji="0" lang="fr-FR" altLang="en-US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 du menu. </a:t>
            </a:r>
          </a:p>
          <a:p>
            <a:pPr marL="0" indent="0">
              <a:buNone/>
            </a:pPr>
            <a:r>
              <a:rPr lang="fr-FR" altLang="en-US" sz="2500" b="1" dirty="0">
                <a:solidFill>
                  <a:srgbClr val="161C20"/>
                </a:solidFill>
                <a:latin typeface="Lato"/>
              </a:rPr>
              <a:t>IMPORTANT: les commandes sont traitées dans un ordre FIFO (premier entré, premier sorti).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8775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00B2-2EC8-434D-980E-FEF22CCD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BB19B-C0B9-424F-ABCB-B4FFABD64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Examples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tcs.addOrder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("hot cocoa") ➞ "This item is currently unavailable!" // Tesha's coffee shop does not sell hot cocoa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tcs.addOrder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("iced tea") ➞ "This item is currently unavailable!" // specifying the variant of "iced tea" will help the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tcs.addOrder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("cinnamon roll") ➞ "Order added!"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tcs.addOrder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("iced coffee") ➞ "Order added!"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tcs.listOrders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➞ ["cinnamon roll", "iced coffee"] // the list of all the items in the current order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tcs.dueAmount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➞ 2.17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tcs.fulfillOrder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➞ "The cinnamon roll is ready!"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tcs.fulfillOrder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➞ "The iced coffee is ready!"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tcs.fulfillOrder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➞ "All orders have been fulfilled!"; // all orders have been presumably served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tcs.listOrders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➞ [] // an empty array is returned if all orders have been exhausted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tcs.dueAmount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➞ 0.0 // no new orders taken, expect a zero payable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tcs.cheapestItem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➞ "lemonade"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tcs.drinksOnly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➞ ["orange juice", "lemonade", "cranberry juice", "pineapple juice", "lemon iced tea", "vanilla chai latte", "hot chocolate", "iced coffee"]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tcs.foodOnly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➞ ["tuna sandwich", "ham 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565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E16FC-9BA7-4534-922C-F40D34EFD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45233"/>
            <a:ext cx="9905999" cy="60648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CA" sz="2300" dirty="0" err="1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CoffeeShop</a:t>
            </a: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	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CA" sz="2300" dirty="0" err="1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MenuItem</a:t>
            </a: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private String item;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private String type;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private double price;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</a:t>
            </a:r>
            <a:r>
              <a:rPr lang="en-CA" sz="2300" dirty="0" err="1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MenuItem</a:t>
            </a: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item, String type, double price) {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CA" sz="2300" dirty="0" err="1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this.item</a:t>
            </a: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item;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CA" sz="2300" dirty="0" err="1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this.type</a:t>
            </a: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type;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CA" sz="2300" dirty="0" err="1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this.price</a:t>
            </a: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price;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String </a:t>
            </a:r>
            <a:r>
              <a:rPr lang="en-CA" sz="2300" dirty="0" err="1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getItem</a:t>
            </a: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return item; }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String </a:t>
            </a:r>
            <a:r>
              <a:rPr lang="en-CA" sz="2300" dirty="0" err="1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getType</a:t>
            </a: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return type; }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double </a:t>
            </a:r>
            <a:r>
              <a:rPr lang="en-CA" sz="2300" dirty="0" err="1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getPrice</a:t>
            </a: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return price; }</a:t>
            </a:r>
          </a:p>
          <a:p>
            <a:pPr marL="0" indent="0">
              <a:buNone/>
            </a:pPr>
            <a:r>
              <a:rPr lang="en-CA" sz="2300" dirty="0">
                <a:solidFill>
                  <a:srgbClr val="161C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37911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A5C49B4473B8419CE77C07C3C64EE9" ma:contentTypeVersion="2" ma:contentTypeDescription="Create a new document." ma:contentTypeScope="" ma:versionID="dfbea94ce2401d2c771d976feb580810">
  <xsd:schema xmlns:xsd="http://www.w3.org/2001/XMLSchema" xmlns:xs="http://www.w3.org/2001/XMLSchema" xmlns:p="http://schemas.microsoft.com/office/2006/metadata/properties" xmlns:ns2="0f7ff7bc-ee60-4d9f-8f3b-bc66ca550297" targetNamespace="http://schemas.microsoft.com/office/2006/metadata/properties" ma:root="true" ma:fieldsID="b67f60b7c7c80e0c28518bee4e98a405" ns2:_="">
    <xsd:import namespace="0f7ff7bc-ee60-4d9f-8f3b-bc66ca5502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7ff7bc-ee60-4d9f-8f3b-bc66ca5502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B95282-5811-4E15-B5B7-50D69ED43C72}"/>
</file>

<file path=customXml/itemProps2.xml><?xml version="1.0" encoding="utf-8"?>
<ds:datastoreItem xmlns:ds="http://schemas.openxmlformats.org/officeDocument/2006/customXml" ds:itemID="{73AD595E-2A52-421E-8DAB-A906FB92A985}"/>
</file>

<file path=customXml/itemProps3.xml><?xml version="1.0" encoding="utf-8"?>
<ds:datastoreItem xmlns:ds="http://schemas.openxmlformats.org/officeDocument/2006/customXml" ds:itemID="{38702C40-A784-4335-9B37-705C185C3049}"/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57</TotalTime>
  <Words>2216</Words>
  <Application>Microsoft Office PowerPoint</Application>
  <PresentationFormat>Widescreen</PresentationFormat>
  <Paragraphs>206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Consolas</vt:lpstr>
      <vt:lpstr>Courier New</vt:lpstr>
      <vt:lpstr>Google Sans</vt:lpstr>
      <vt:lpstr>Lato</vt:lpstr>
      <vt:lpstr>Segoe UI</vt:lpstr>
      <vt:lpstr>Tw Cen MT</vt:lpstr>
      <vt:lpstr>Verdana</vt:lpstr>
      <vt:lpstr>Circuit</vt:lpstr>
      <vt:lpstr>Groupe d’etude 3/ study Group 3</vt:lpstr>
      <vt:lpstr>Visibility / Visibilite</vt:lpstr>
      <vt:lpstr>PowerPoint Presentation</vt:lpstr>
      <vt:lpstr>Inheritance  / heritage</vt:lpstr>
      <vt:lpstr>PowerPoint Presentation</vt:lpstr>
      <vt:lpstr>Polymorphism</vt:lpstr>
      <vt:lpstr>Challenge 1: Shiritori</vt:lpstr>
      <vt:lpstr>Rules:</vt:lpstr>
      <vt:lpstr>Regles:</vt:lpstr>
      <vt:lpstr>Examples / Notes</vt:lpstr>
      <vt:lpstr>Challenge 2: sum of people's budgets.</vt:lpstr>
      <vt:lpstr>PowerPoint Presentation</vt:lpstr>
      <vt:lpstr>Challenge 3: CoffeeShop</vt:lpstr>
      <vt:lpstr>Rules:</vt:lpstr>
      <vt:lpstr>Regles:</vt:lpstr>
      <vt:lpstr>Examples: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Groupe d’etude 3/ study Group 3</dc:title>
  <dc:creator>chedly rdissi</dc:creator>
  <cp:lastModifiedBy>chedly rdissi</cp:lastModifiedBy>
  <cp:revision>22</cp:revision>
  <dcterms:created xsi:type="dcterms:W3CDTF">2021-01-29T18:29:36Z</dcterms:created>
  <dcterms:modified xsi:type="dcterms:W3CDTF">2021-02-01T19:05:45Z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0x01010025A5C49B4473B8419CE77C07C3C64EE9</vt:lpwstr>
  </property>
</Properties>
</file>