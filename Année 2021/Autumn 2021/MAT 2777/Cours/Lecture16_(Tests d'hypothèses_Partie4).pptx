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notesMasterIdLst>
    <p:notesMasterId r:id="rId17"/>
  </p:notesMasterIdLst>
  <p:sldIdLst>
    <p:sldId id="269" r:id="rId2"/>
    <p:sldId id="270" r:id="rId3"/>
    <p:sldId id="271" r:id="rId4"/>
    <p:sldId id="256" r:id="rId5"/>
    <p:sldId id="257" r:id="rId6"/>
    <p:sldId id="258" r:id="rId7"/>
    <p:sldId id="259" r:id="rId8"/>
    <p:sldId id="260" r:id="rId9"/>
    <p:sldId id="261" r:id="rId10"/>
    <p:sldId id="262" r:id="rId11"/>
    <p:sldId id="263" r:id="rId12"/>
    <p:sldId id="264" r:id="rId13"/>
    <p:sldId id="265" r:id="rId14"/>
    <p:sldId id="266" r:id="rId15"/>
    <p:sldId id="2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44" autoAdjust="0"/>
    <p:restoredTop sz="86957" autoAdjust="0"/>
  </p:normalViewPr>
  <p:slideViewPr>
    <p:cSldViewPr snapToGrid="0">
      <p:cViewPr varScale="1">
        <p:scale>
          <a:sx n="97" d="100"/>
          <a:sy n="97" d="100"/>
        </p:scale>
        <p:origin x="112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A88AB8-1C01-41DC-AFCA-28305AC61B27}" type="datetimeFigureOut">
              <a:rPr lang="fr-CA" smtClean="0"/>
              <a:t>2021-11-18</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9F1DE7-72A5-40DE-843D-98ED1D33E9CB}" type="slidenum">
              <a:rPr lang="fr-CA" smtClean="0"/>
              <a:t>‹N°›</a:t>
            </a:fld>
            <a:endParaRPr lang="fr-CA"/>
          </a:p>
        </p:txBody>
      </p:sp>
    </p:spTree>
    <p:extLst>
      <p:ext uri="{BB962C8B-B14F-4D97-AF65-F5344CB8AC3E}">
        <p14:creationId xmlns:p14="http://schemas.microsoft.com/office/powerpoint/2010/main" val="711788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DEBCAADC-90C4-42A0-92DD-A3EB1E3F99BC}" type="datetime1">
              <a:rPr lang="fr-CA" smtClean="0"/>
              <a:t>2021-11-18</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971358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2FE81BE-FF7C-4713-86B5-98B3635F7575}" type="datetime1">
              <a:rPr lang="fr-CA" smtClean="0"/>
              <a:t>2021-11-18</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425666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307F1A6-A103-49CB-B28A-B5B8CE7CCF08}" type="datetime1">
              <a:rPr lang="fr-CA" smtClean="0"/>
              <a:t>2021-11-18</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818711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67FE57F-B680-462B-BBFD-7518F74AF714}" type="datetime1">
              <a:rPr lang="fr-CA" smtClean="0"/>
              <a:t>2021-11-18</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046219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91B3B4F-1CE8-448C-951A-2E287C7816DA}" type="datetime1">
              <a:rPr lang="fr-CA" smtClean="0"/>
              <a:t>2021-11-18</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474818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1F763F50-9144-44F9-A37F-D55A19808CF4}" type="datetime1">
              <a:rPr lang="fr-CA" smtClean="0"/>
              <a:t>2021-11-18</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937437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AB2447-19AC-45D2-83F5-5B12576F084D}" type="datetime1">
              <a:rPr lang="fr-CA" smtClean="0"/>
              <a:t>2021-11-18</a:t>
            </a:fld>
            <a:endParaRPr lang="fr-CA"/>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059948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B17A9AF-12D3-47FA-A0D6-97746BB8E776}" type="datetime1">
              <a:rPr lang="fr-CA" smtClean="0"/>
              <a:t>2021-11-18</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331655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CF19D18-3682-4189-B23C-B8B496B3307C}" type="datetime1">
              <a:rPr lang="fr-CA" smtClean="0"/>
              <a:t>2021-11-18</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309409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6BEAFDA-2171-49C0-B449-3733417EA82F}" type="datetime1">
              <a:rPr lang="fr-CA" smtClean="0"/>
              <a:t>2021-11-18</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371225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9EBD924-29A3-4FF2-B149-61A5377F8882}" type="datetime1">
              <a:rPr lang="fr-CA" smtClean="0"/>
              <a:t>2021-11-18</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402387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418466-3607-4A57-8167-9FAB5784D41C}" type="datetime1">
              <a:rPr lang="fr-CA" smtClean="0"/>
              <a:t>2021-11-18</a:t>
            </a:fld>
            <a:endParaRPr lang="fr-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77AD9-CE17-438C-A638-C64D2D42D7CF}" type="slidenum">
              <a:rPr lang="fr-CA" smtClean="0"/>
              <a:t>‹N°›</a:t>
            </a:fld>
            <a:endParaRPr lang="fr-CA"/>
          </a:p>
        </p:txBody>
      </p:sp>
    </p:spTree>
    <p:extLst>
      <p:ext uri="{BB962C8B-B14F-4D97-AF65-F5344CB8AC3E}">
        <p14:creationId xmlns:p14="http://schemas.microsoft.com/office/powerpoint/2010/main" val="1533741373"/>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56F5A5-858F-46CA-9BFD-D00A43A1C7B4}"/>
              </a:ext>
            </a:extLst>
          </p:cNvPr>
          <p:cNvSpPr>
            <a:spLocks noGrp="1"/>
          </p:cNvSpPr>
          <p:nvPr>
            <p:ph type="title"/>
          </p:nvPr>
        </p:nvSpPr>
        <p:spPr/>
        <p:txBody>
          <a:bodyPr/>
          <a:lstStyle/>
          <a:p>
            <a:r>
              <a:rPr lang="fr-CA" b="1" dirty="0"/>
              <a:t>Estimation d’une proportion par intervalle de confiance</a:t>
            </a:r>
          </a:p>
        </p:txBody>
      </p:sp>
      <p:sp>
        <p:nvSpPr>
          <p:cNvPr id="3" name="Espace réservé du pied de page 2">
            <a:extLst>
              <a:ext uri="{FF2B5EF4-FFF2-40B4-BE49-F238E27FC236}">
                <a16:creationId xmlns:a16="http://schemas.microsoft.com/office/drawing/2014/main" id="{720947A4-826B-445D-9AAA-AD54C03FFEDF}"/>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FD5C86AC-1A2A-4FC8-8B54-D33F8080B939}"/>
              </a:ext>
            </a:extLst>
          </p:cNvPr>
          <p:cNvSpPr>
            <a:spLocks noGrp="1"/>
          </p:cNvSpPr>
          <p:nvPr>
            <p:ph type="sldNum" sz="quarter" idx="12"/>
          </p:nvPr>
        </p:nvSpPr>
        <p:spPr/>
        <p:txBody>
          <a:bodyPr/>
          <a:lstStyle/>
          <a:p>
            <a:fld id="{26377AD9-CE17-438C-A638-C64D2D42D7CF}" type="slidenum">
              <a:rPr lang="fr-CA" smtClean="0"/>
              <a:t>1</a:t>
            </a:fld>
            <a:endParaRPr lang="fr-CA"/>
          </a:p>
        </p:txBody>
      </p:sp>
      <p:sp>
        <p:nvSpPr>
          <p:cNvPr id="5" name="ZoneTexte 4">
            <a:extLst>
              <a:ext uri="{FF2B5EF4-FFF2-40B4-BE49-F238E27FC236}">
                <a16:creationId xmlns:a16="http://schemas.microsoft.com/office/drawing/2014/main" id="{8C14A59C-59DF-4D94-B2B1-4BAB8A5098E4}"/>
              </a:ext>
            </a:extLst>
          </p:cNvPr>
          <p:cNvSpPr txBox="1"/>
          <p:nvPr/>
        </p:nvSpPr>
        <p:spPr>
          <a:xfrm>
            <a:off x="1264025" y="1690689"/>
            <a:ext cx="9762564" cy="369332"/>
          </a:xfrm>
          <a:prstGeom prst="rect">
            <a:avLst/>
          </a:prstGeom>
          <a:noFill/>
        </p:spPr>
        <p:txBody>
          <a:bodyPr wrap="square" rtlCol="0">
            <a:spAutoFit/>
          </a:bodyPr>
          <a:lstStyle/>
          <a:p>
            <a:r>
              <a:rPr lang="fr-CA" dirty="0"/>
              <a:t> </a:t>
            </a:r>
            <a:endParaRPr lang="fr-CA" b="1" dirty="0"/>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C10BA955-01C3-452A-998B-4086EF8FE738}"/>
                  </a:ext>
                </a:extLst>
              </p:cNvPr>
              <p:cNvSpPr txBox="1"/>
              <p:nvPr/>
            </p:nvSpPr>
            <p:spPr>
              <a:xfrm>
                <a:off x="1075766" y="1586753"/>
                <a:ext cx="9950824" cy="3753528"/>
              </a:xfrm>
              <a:prstGeom prst="rect">
                <a:avLst/>
              </a:prstGeom>
              <a:noFill/>
            </p:spPr>
            <p:txBody>
              <a:bodyPr wrap="square" rtlCol="0">
                <a:spAutoFit/>
              </a:bodyPr>
              <a:lstStyle/>
              <a:p>
                <a:r>
                  <a:rPr lang="fr-CA" dirty="0"/>
                  <a:t>Lorsqu’on s’intéresse à une proportion p (inconnue) dans une population, on a vu que si on prend un échantillon aléatoire de taille n et qu’on calcule la proportion de l’échantillon </a:t>
                </a:r>
                <a14:m>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𝑝</m:t>
                        </m:r>
                      </m:e>
                    </m:acc>
                  </m:oMath>
                </a14:m>
                <a:r>
                  <a:rPr lang="fr-CA" dirty="0"/>
                  <a:t> et que si:</a:t>
                </a:r>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𝑛</m:t>
                      </m:r>
                      <m:r>
                        <a:rPr lang="fr-CA" b="0" i="1" smtClean="0">
                          <a:latin typeface="Cambria Math" panose="02040503050406030204" pitchFamily="18" charset="0"/>
                          <a:ea typeface="Cambria Math" panose="02040503050406030204" pitchFamily="18" charset="0"/>
                        </a:rPr>
                        <m:t>&gt;30;</m:t>
                      </m:r>
                      <m:r>
                        <a:rPr lang="fr-CA" b="0" i="1" smtClean="0">
                          <a:latin typeface="Cambria Math" panose="02040503050406030204" pitchFamily="18" charset="0"/>
                          <a:ea typeface="Cambria Math" panose="02040503050406030204" pitchFamily="18" charset="0"/>
                        </a:rPr>
                        <m:t>𝑛</m:t>
                      </m:r>
                      <m:r>
                        <a:rPr lang="fr-CA" b="0" i="1" smtClean="0">
                          <a:latin typeface="Cambria Math" panose="02040503050406030204" pitchFamily="18" charset="0"/>
                          <a:ea typeface="Cambria Math" panose="02040503050406030204" pitchFamily="18" charset="0"/>
                        </a:rPr>
                        <m:t>∗</m:t>
                      </m:r>
                      <m:acc>
                        <m:accPr>
                          <m:chr m:val="̂"/>
                          <m:ctrlPr>
                            <a:rPr lang="fr-CA" b="0" i="1" smtClean="0">
                              <a:latin typeface="Cambria Math" panose="02040503050406030204" pitchFamily="18" charset="0"/>
                              <a:ea typeface="Cambria Math" panose="02040503050406030204" pitchFamily="18" charset="0"/>
                            </a:rPr>
                          </m:ctrlPr>
                        </m:accPr>
                        <m:e>
                          <m:r>
                            <a:rPr lang="fr-CA" b="0" i="1" smtClean="0">
                              <a:latin typeface="Cambria Math" panose="02040503050406030204" pitchFamily="18" charset="0"/>
                              <a:ea typeface="Cambria Math" panose="02040503050406030204" pitchFamily="18" charset="0"/>
                            </a:rPr>
                            <m:t>𝑝</m:t>
                          </m:r>
                        </m:e>
                      </m:acc>
                      <m:r>
                        <a:rPr lang="fr-CA" b="0" i="1" smtClean="0">
                          <a:latin typeface="Cambria Math" panose="02040503050406030204" pitchFamily="18" charset="0"/>
                          <a:ea typeface="Cambria Math" panose="02040503050406030204" pitchFamily="18" charset="0"/>
                        </a:rPr>
                        <m:t>&gt;5 </m:t>
                      </m:r>
                      <m:r>
                        <a:rPr lang="fr-CA" b="0" i="1" smtClean="0">
                          <a:latin typeface="Cambria Math" panose="02040503050406030204" pitchFamily="18" charset="0"/>
                          <a:ea typeface="Cambria Math" panose="02040503050406030204" pitchFamily="18" charset="0"/>
                        </a:rPr>
                        <m:t>𝑒𝑡</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𝑛</m:t>
                      </m:r>
                      <m:r>
                        <a:rPr lang="fr-CA" b="0" i="1" smtClean="0">
                          <a:latin typeface="Cambria Math" panose="02040503050406030204" pitchFamily="18" charset="0"/>
                          <a:ea typeface="Cambria Math" panose="02040503050406030204" pitchFamily="18" charset="0"/>
                        </a:rPr>
                        <m:t>∗(1−</m:t>
                      </m:r>
                      <m:acc>
                        <m:accPr>
                          <m:chr m:val="̂"/>
                          <m:ctrlPr>
                            <a:rPr lang="fr-CA" b="0" i="1" smtClean="0">
                              <a:latin typeface="Cambria Math" panose="02040503050406030204" pitchFamily="18" charset="0"/>
                              <a:ea typeface="Cambria Math" panose="02040503050406030204" pitchFamily="18" charset="0"/>
                            </a:rPr>
                          </m:ctrlPr>
                        </m:accPr>
                        <m:e>
                          <m:r>
                            <a:rPr lang="fr-CA" b="0" i="1" smtClean="0">
                              <a:latin typeface="Cambria Math" panose="02040503050406030204" pitchFamily="18" charset="0"/>
                              <a:ea typeface="Cambria Math" panose="02040503050406030204" pitchFamily="18" charset="0"/>
                            </a:rPr>
                            <m:t>𝑝</m:t>
                          </m:r>
                        </m:e>
                      </m:acc>
                      <m:r>
                        <a:rPr lang="fr-CA" b="0" i="1" smtClean="0">
                          <a:latin typeface="Cambria Math" panose="02040503050406030204" pitchFamily="18" charset="0"/>
                        </a:rPr>
                        <m:t>)</m:t>
                      </m:r>
                      <m:r>
                        <a:rPr lang="fr-CA" b="0" i="1" smtClean="0">
                          <a:latin typeface="Cambria Math" panose="02040503050406030204" pitchFamily="18" charset="0"/>
                          <a:ea typeface="Cambria Math" panose="02040503050406030204" pitchFamily="18" charset="0"/>
                        </a:rPr>
                        <m:t>&gt;5</m:t>
                      </m:r>
                    </m:oMath>
                  </m:oMathPara>
                </a14:m>
                <a:endParaRPr lang="fr-CA" dirty="0"/>
              </a:p>
              <a:p>
                <a:r>
                  <a:rPr lang="fr-CA" dirty="0"/>
                  <a:t>Alors </a:t>
                </a:r>
                <a14:m>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𝑝</m:t>
                        </m:r>
                      </m:e>
                    </m:acc>
                  </m:oMath>
                </a14:m>
                <a:r>
                  <a:rPr lang="fr-CA" dirty="0"/>
                  <a:t> est un estimateur sans biais de p et en plus elle est normalement distribuée avec une moyenne p et un écart type </a:t>
                </a:r>
                <a14:m>
                  <m:oMath xmlns:m="http://schemas.openxmlformats.org/officeDocument/2006/math">
                    <m:rad>
                      <m:radPr>
                        <m:degHide m:val="on"/>
                        <m:ctrlPr>
                          <a:rPr lang="fr-CA" i="1" smtClean="0">
                            <a:latin typeface="Cambria Math" panose="02040503050406030204" pitchFamily="18" charset="0"/>
                          </a:rPr>
                        </m:ctrlPr>
                      </m:radPr>
                      <m:deg/>
                      <m:e>
                        <m:f>
                          <m:fPr>
                            <m:ctrlPr>
                              <a:rPr lang="fr-CA" i="1" smtClean="0">
                                <a:latin typeface="Cambria Math" panose="02040503050406030204" pitchFamily="18" charset="0"/>
                              </a:rPr>
                            </m:ctrlPr>
                          </m:fPr>
                          <m:num>
                            <m:r>
                              <a:rPr lang="fr-CA" b="0" i="1" smtClean="0">
                                <a:latin typeface="Cambria Math" panose="02040503050406030204" pitchFamily="18" charset="0"/>
                              </a:rPr>
                              <m:t>𝑝</m:t>
                            </m:r>
                            <m:r>
                              <a:rPr lang="fr-CA" b="0" i="1" smtClean="0">
                                <a:latin typeface="Cambria Math" panose="02040503050406030204" pitchFamily="18" charset="0"/>
                              </a:rPr>
                              <m:t>(1−</m:t>
                            </m:r>
                            <m:r>
                              <a:rPr lang="fr-CA" b="0" i="1" smtClean="0">
                                <a:latin typeface="Cambria Math" panose="02040503050406030204" pitchFamily="18" charset="0"/>
                              </a:rPr>
                              <m:t>𝑝</m:t>
                            </m:r>
                            <m:r>
                              <a:rPr lang="fr-CA" b="0" i="1" smtClean="0">
                                <a:latin typeface="Cambria Math" panose="02040503050406030204" pitchFamily="18" charset="0"/>
                              </a:rPr>
                              <m:t>)</m:t>
                            </m:r>
                          </m:num>
                          <m:den>
                            <m:r>
                              <a:rPr lang="fr-CA" b="0" i="1" smtClean="0">
                                <a:latin typeface="Cambria Math" panose="02040503050406030204" pitchFamily="18" charset="0"/>
                              </a:rPr>
                              <m:t>𝑛</m:t>
                            </m:r>
                          </m:den>
                        </m:f>
                      </m:e>
                    </m:rad>
                    <m:r>
                      <a:rPr lang="fr-CA" b="0" i="1" smtClean="0">
                        <a:latin typeface="Cambria Math" panose="02040503050406030204" pitchFamily="18" charset="0"/>
                      </a:rPr>
                      <m:t>  </m:t>
                    </m:r>
                  </m:oMath>
                </a14:m>
                <a:r>
                  <a:rPr lang="fr-CA" dirty="0"/>
                  <a:t>et alors si on la standardise on obtient:</a:t>
                </a:r>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𝑍</m:t>
                      </m:r>
                      <m:r>
                        <a:rPr lang="fr-CA" b="0" i="1" smtClean="0">
                          <a:latin typeface="Cambria Math" panose="02040503050406030204" pitchFamily="18" charset="0"/>
                        </a:rPr>
                        <m:t>=</m:t>
                      </m:r>
                      <m:f>
                        <m:fPr>
                          <m:ctrlPr>
                            <a:rPr lang="fr-CA" b="0" i="1" smtClean="0">
                              <a:latin typeface="Cambria Math" panose="02040503050406030204" pitchFamily="18" charset="0"/>
                            </a:rPr>
                          </m:ctrlPr>
                        </m:fPr>
                        <m:num>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𝑝</m:t>
                              </m:r>
                            </m:e>
                          </m:acc>
                          <m:r>
                            <a:rPr lang="fr-CA" b="0" i="1" smtClean="0">
                              <a:latin typeface="Cambria Math" panose="02040503050406030204" pitchFamily="18" charset="0"/>
                            </a:rPr>
                            <m:t>−</m:t>
                          </m:r>
                          <m:r>
                            <a:rPr lang="fr-CA" b="0" i="1" smtClean="0">
                              <a:latin typeface="Cambria Math" panose="02040503050406030204" pitchFamily="18" charset="0"/>
                            </a:rPr>
                            <m:t>𝑝</m:t>
                          </m:r>
                        </m:num>
                        <m:den>
                          <m:rad>
                            <m:radPr>
                              <m:degHide m:val="on"/>
                              <m:ctrlPr>
                                <a:rPr lang="fr-CA" i="1">
                                  <a:latin typeface="Cambria Math" panose="02040503050406030204" pitchFamily="18" charset="0"/>
                                </a:rPr>
                              </m:ctrlPr>
                            </m:radPr>
                            <m:deg/>
                            <m:e>
                              <m:f>
                                <m:fPr>
                                  <m:ctrlPr>
                                    <a:rPr lang="fr-CA" i="1">
                                      <a:latin typeface="Cambria Math" panose="02040503050406030204" pitchFamily="18" charset="0"/>
                                    </a:rPr>
                                  </m:ctrlPr>
                                </m:fPr>
                                <m:num>
                                  <m:r>
                                    <a:rPr lang="fr-CA" i="1">
                                      <a:latin typeface="Cambria Math" panose="02040503050406030204" pitchFamily="18" charset="0"/>
                                    </a:rPr>
                                    <m:t>𝑝</m:t>
                                  </m:r>
                                  <m:r>
                                    <a:rPr lang="fr-CA" i="1">
                                      <a:latin typeface="Cambria Math" panose="02040503050406030204" pitchFamily="18" charset="0"/>
                                    </a:rPr>
                                    <m:t>(1−</m:t>
                                  </m:r>
                                  <m:r>
                                    <a:rPr lang="fr-CA" i="1">
                                      <a:latin typeface="Cambria Math" panose="02040503050406030204" pitchFamily="18" charset="0"/>
                                    </a:rPr>
                                    <m:t>𝑝</m:t>
                                  </m:r>
                                  <m:r>
                                    <a:rPr lang="fr-CA" i="1">
                                      <a:latin typeface="Cambria Math" panose="02040503050406030204" pitchFamily="18" charset="0"/>
                                    </a:rPr>
                                    <m:t>)</m:t>
                                  </m:r>
                                </m:num>
                                <m:den>
                                  <m:r>
                                    <a:rPr lang="fr-CA" i="1">
                                      <a:latin typeface="Cambria Math" panose="02040503050406030204" pitchFamily="18" charset="0"/>
                                    </a:rPr>
                                    <m:t>𝑛</m:t>
                                  </m:r>
                                </m:den>
                              </m:f>
                            </m:e>
                          </m:rad>
                        </m:den>
                      </m:f>
                    </m:oMath>
                  </m:oMathPara>
                </a14:m>
                <a:endParaRPr lang="fr-CA" dirty="0"/>
              </a:p>
              <a:p>
                <a:r>
                  <a:rPr lang="fr-CA" dirty="0"/>
                  <a:t>Cette variable est symétrique par rapport à zéro, Donc si on se fixe un seuil de signification </a:t>
                </a:r>
                <a14:m>
                  <m:oMath xmlns:m="http://schemas.openxmlformats.org/officeDocument/2006/math">
                    <m:r>
                      <a:rPr lang="fr-CA" i="1" smtClean="0">
                        <a:latin typeface="Cambria Math" panose="02040503050406030204" pitchFamily="18" charset="0"/>
                        <a:ea typeface="Cambria Math" panose="02040503050406030204" pitchFamily="18" charset="0"/>
                      </a:rPr>
                      <m:t>𝛼</m:t>
                    </m:r>
                  </m:oMath>
                </a14:m>
                <a:r>
                  <a:rPr lang="fr-CA" dirty="0"/>
                  <a:t>. On peut démontrer qu’un intervalle de confiance de niveau </a:t>
                </a:r>
                <a14:m>
                  <m:oMath xmlns:m="http://schemas.openxmlformats.org/officeDocument/2006/math">
                    <m:d>
                      <m:dPr>
                        <m:ctrlPr>
                          <a:rPr lang="fr-CA" b="0" i="1" smtClean="0">
                            <a:latin typeface="Cambria Math" panose="02040503050406030204" pitchFamily="18" charset="0"/>
                          </a:rPr>
                        </m:ctrlPr>
                      </m:dPr>
                      <m:e>
                        <m:r>
                          <a:rPr lang="fr-CA" b="0" i="1" smtClean="0">
                            <a:latin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𝛼</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𝑝𝑜𝑢𝑟</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𝑒𝑠𝑡𝑖𝑚𝑒𝑟</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𝑝</m:t>
                    </m:r>
                  </m:oMath>
                </a14:m>
                <a:r>
                  <a:rPr lang="fr-CA" dirty="0"/>
                  <a:t> est:</a:t>
                </a:r>
              </a:p>
              <a:p>
                <a14:m>
                  <m:oMath xmlns:m="http://schemas.openxmlformats.org/officeDocument/2006/math">
                    <m:d>
                      <m:dPr>
                        <m:begChr m:val="["/>
                        <m:endChr m:val="]"/>
                        <m:ctrlPr>
                          <a:rPr lang="fr-CA" i="1" smtClean="0">
                            <a:latin typeface="Cambria Math" panose="02040503050406030204" pitchFamily="18" charset="0"/>
                          </a:rPr>
                        </m:ctrlPr>
                      </m:dPr>
                      <m:e>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𝑝</m:t>
                            </m:r>
                          </m:e>
                        </m:acc>
                        <m:r>
                          <a:rPr lang="fr-CA" b="0" i="1" smtClean="0">
                            <a:latin typeface="Cambria Math" panose="02040503050406030204" pitchFamily="18" charset="0"/>
                          </a:rPr>
                          <m:t>−</m:t>
                        </m:r>
                        <m:r>
                          <a:rPr lang="fr-CA" b="0" i="1" smtClean="0">
                            <a:latin typeface="Cambria Math" panose="02040503050406030204" pitchFamily="18" charset="0"/>
                          </a:rPr>
                          <m:t>𝐸</m:t>
                        </m:r>
                        <m:r>
                          <a:rPr lang="fr-CA" b="0" i="1" smtClean="0">
                            <a:latin typeface="Cambria Math" panose="02040503050406030204" pitchFamily="18" charset="0"/>
                          </a:rPr>
                          <m:t>: </m:t>
                        </m:r>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𝑝</m:t>
                            </m:r>
                          </m:e>
                        </m:acc>
                        <m:r>
                          <a:rPr lang="fr-CA" b="0" i="1" smtClean="0">
                            <a:latin typeface="Cambria Math" panose="02040503050406030204" pitchFamily="18" charset="0"/>
                          </a:rPr>
                          <m:t>+</m:t>
                        </m:r>
                        <m:r>
                          <a:rPr lang="fr-CA" b="0" i="1" smtClean="0">
                            <a:latin typeface="Cambria Math" panose="02040503050406030204" pitchFamily="18" charset="0"/>
                          </a:rPr>
                          <m:t>𝐸</m:t>
                        </m:r>
                      </m:e>
                    </m:d>
                  </m:oMath>
                </a14:m>
                <a:r>
                  <a:rPr lang="fr-CA" dirty="0"/>
                  <a:t> avec  </a:t>
                </a:r>
                <a14:m>
                  <m:oMath xmlns:m="http://schemas.openxmlformats.org/officeDocument/2006/math">
                    <m:r>
                      <a:rPr lang="fr-CA" b="0" i="1" smtClean="0">
                        <a:latin typeface="Cambria Math" panose="02040503050406030204" pitchFamily="18" charset="0"/>
                      </a:rPr>
                      <m:t>𝐸</m:t>
                    </m:r>
                    <m:r>
                      <a:rPr lang="fr-CA" b="0" i="1" smtClean="0">
                        <a:latin typeface="Cambria Math" panose="02040503050406030204" pitchFamily="18" charset="0"/>
                      </a:rPr>
                      <m:t>=</m:t>
                    </m:r>
                    <m:r>
                      <a:rPr lang="fr-CA" b="0" i="1" smtClean="0">
                        <a:latin typeface="Cambria Math" panose="02040503050406030204" pitchFamily="18" charset="0"/>
                      </a:rPr>
                      <m:t>𝑙𝑎</m:t>
                    </m:r>
                    <m:r>
                      <a:rPr lang="fr-CA" b="0" i="1" smtClean="0">
                        <a:latin typeface="Cambria Math" panose="02040503050406030204" pitchFamily="18" charset="0"/>
                      </a:rPr>
                      <m:t> </m:t>
                    </m:r>
                    <m:r>
                      <a:rPr lang="fr-CA" b="0" i="1" smtClean="0">
                        <a:latin typeface="Cambria Math" panose="02040503050406030204" pitchFamily="18" charset="0"/>
                      </a:rPr>
                      <m:t>𝑚𝑎𝑟𝑔𝑒</m:t>
                    </m:r>
                    <m:r>
                      <a:rPr lang="fr-CA" b="0" i="1" smtClean="0">
                        <a:latin typeface="Cambria Math" panose="02040503050406030204" pitchFamily="18" charset="0"/>
                      </a:rPr>
                      <m:t> </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𝑑</m:t>
                        </m:r>
                      </m:e>
                      <m:sup>
                        <m:r>
                          <a:rPr lang="fr-CA" b="0" i="1" smtClean="0">
                            <a:latin typeface="Cambria Math" panose="02040503050406030204" pitchFamily="18" charset="0"/>
                          </a:rPr>
                          <m:t>′</m:t>
                        </m:r>
                      </m:sup>
                    </m:sSup>
                    <m:r>
                      <a:rPr lang="fr-CA" b="0" i="1" smtClean="0">
                        <a:latin typeface="Cambria Math" panose="02040503050406030204" pitchFamily="18" charset="0"/>
                      </a:rPr>
                      <m:t>𝑒𝑟𝑟𝑒𝑢𝑟</m:t>
                    </m:r>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𝑧</m:t>
                        </m:r>
                      </m:e>
                      <m:sub>
                        <m:r>
                          <a:rPr lang="fr-CA" b="0" i="1" smtClean="0">
                            <a:latin typeface="Cambria Math" panose="02040503050406030204" pitchFamily="18" charset="0"/>
                            <a:ea typeface="Cambria Math" panose="02040503050406030204" pitchFamily="18" charset="0"/>
                          </a:rPr>
                          <m:t>𝛼</m:t>
                        </m:r>
                        <m:r>
                          <a:rPr lang="fr-CA" b="0" i="1" smtClean="0">
                            <a:latin typeface="Cambria Math" panose="02040503050406030204" pitchFamily="18" charset="0"/>
                            <a:ea typeface="Cambria Math" panose="02040503050406030204" pitchFamily="18" charset="0"/>
                          </a:rPr>
                          <m:t>/2</m:t>
                        </m:r>
                      </m:sub>
                    </m:sSub>
                    <m:rad>
                      <m:radPr>
                        <m:degHide m:val="on"/>
                        <m:ctrlPr>
                          <a:rPr lang="fr-CA" b="0" i="1" smtClean="0">
                            <a:latin typeface="Cambria Math" panose="02040503050406030204" pitchFamily="18" charset="0"/>
                          </a:rPr>
                        </m:ctrlPr>
                      </m:radPr>
                      <m:deg/>
                      <m:e>
                        <m:f>
                          <m:fPr>
                            <m:ctrlPr>
                              <a:rPr lang="fr-CA" b="0" i="1" smtClean="0">
                                <a:latin typeface="Cambria Math" panose="02040503050406030204" pitchFamily="18" charset="0"/>
                              </a:rPr>
                            </m:ctrlPr>
                          </m:fPr>
                          <m:num>
                            <m:r>
                              <a:rPr lang="fr-CA" b="0" i="1" smtClean="0">
                                <a:latin typeface="Cambria Math" panose="02040503050406030204" pitchFamily="18" charset="0"/>
                              </a:rPr>
                              <m:t>𝑝</m:t>
                            </m:r>
                            <m:r>
                              <a:rPr lang="fr-CA" b="0" i="1" smtClean="0">
                                <a:latin typeface="Cambria Math" panose="02040503050406030204" pitchFamily="18" charset="0"/>
                              </a:rPr>
                              <m:t>(1−</m:t>
                            </m:r>
                            <m:r>
                              <a:rPr lang="fr-CA" b="0" i="1" smtClean="0">
                                <a:latin typeface="Cambria Math" panose="02040503050406030204" pitchFamily="18" charset="0"/>
                              </a:rPr>
                              <m:t>𝑝</m:t>
                            </m:r>
                            <m:r>
                              <a:rPr lang="fr-CA" b="0" i="1" smtClean="0">
                                <a:latin typeface="Cambria Math" panose="02040503050406030204" pitchFamily="18" charset="0"/>
                              </a:rPr>
                              <m:t>)</m:t>
                            </m:r>
                          </m:num>
                          <m:den>
                            <m:r>
                              <a:rPr lang="fr-CA" b="0" i="1" smtClean="0">
                                <a:latin typeface="Cambria Math" panose="02040503050406030204" pitchFamily="18" charset="0"/>
                              </a:rPr>
                              <m:t>𝑛</m:t>
                            </m:r>
                          </m:den>
                        </m:f>
                      </m:e>
                    </m:rad>
                    <m:r>
                      <a:rPr lang="fr-CA" b="0" i="1" smtClean="0">
                        <a:latin typeface="Cambria Math" panose="02040503050406030204" pitchFamily="18" charset="0"/>
                        <a:ea typeface="Cambria Math" panose="02040503050406030204" pitchFamily="18" charset="0"/>
                      </a:rPr>
                      <m:t>~</m:t>
                    </m:r>
                  </m:oMath>
                </a14:m>
                <a:r>
                  <a:rPr lang="fr-CA" dirty="0"/>
                  <a:t> </a:t>
                </a:r>
                <a14:m>
                  <m:oMath xmlns:m="http://schemas.openxmlformats.org/officeDocument/2006/math">
                    <m:sSub>
                      <m:sSubPr>
                        <m:ctrlPr>
                          <a:rPr lang="fr-CA" i="1">
                            <a:latin typeface="Cambria Math" panose="02040503050406030204" pitchFamily="18" charset="0"/>
                          </a:rPr>
                        </m:ctrlPr>
                      </m:sSubPr>
                      <m:e>
                        <m:r>
                          <a:rPr lang="fr-CA" i="1">
                            <a:latin typeface="Cambria Math" panose="02040503050406030204" pitchFamily="18" charset="0"/>
                          </a:rPr>
                          <m:t>𝑧</m:t>
                        </m:r>
                      </m:e>
                      <m:sub>
                        <m:r>
                          <a:rPr lang="fr-CA" i="1">
                            <a:latin typeface="Cambria Math" panose="02040503050406030204" pitchFamily="18" charset="0"/>
                            <a:ea typeface="Cambria Math" panose="02040503050406030204" pitchFamily="18" charset="0"/>
                          </a:rPr>
                          <m:t>𝛼</m:t>
                        </m:r>
                        <m:r>
                          <a:rPr lang="fr-CA" i="1">
                            <a:latin typeface="Cambria Math" panose="02040503050406030204" pitchFamily="18" charset="0"/>
                            <a:ea typeface="Cambria Math" panose="02040503050406030204" pitchFamily="18" charset="0"/>
                          </a:rPr>
                          <m:t>/2</m:t>
                        </m:r>
                      </m:sub>
                    </m:sSub>
                    <m:rad>
                      <m:radPr>
                        <m:degHide m:val="on"/>
                        <m:ctrlPr>
                          <a:rPr lang="fr-CA" i="1" smtClean="0">
                            <a:latin typeface="Cambria Math" panose="02040503050406030204" pitchFamily="18" charset="0"/>
                            <a:ea typeface="Cambria Math" panose="02040503050406030204" pitchFamily="18" charset="0"/>
                          </a:rPr>
                        </m:ctrlPr>
                      </m:radPr>
                      <m:deg/>
                      <m:e>
                        <m:f>
                          <m:fPr>
                            <m:ctrlPr>
                              <a:rPr lang="fr-CA" i="1" smtClean="0">
                                <a:latin typeface="Cambria Math" panose="02040503050406030204" pitchFamily="18" charset="0"/>
                                <a:ea typeface="Cambria Math" panose="02040503050406030204" pitchFamily="18" charset="0"/>
                              </a:rPr>
                            </m:ctrlPr>
                          </m:fPr>
                          <m:num>
                            <m:acc>
                              <m:accPr>
                                <m:chr m:val="̂"/>
                                <m:ctrlPr>
                                  <a:rPr lang="fr-CA" i="1" smtClean="0">
                                    <a:latin typeface="Cambria Math" panose="02040503050406030204" pitchFamily="18" charset="0"/>
                                    <a:ea typeface="Cambria Math" panose="02040503050406030204" pitchFamily="18" charset="0"/>
                                  </a:rPr>
                                </m:ctrlPr>
                              </m:accPr>
                              <m:e>
                                <m:r>
                                  <a:rPr lang="fr-CA" b="0" i="1" smtClean="0">
                                    <a:latin typeface="Cambria Math" panose="02040503050406030204" pitchFamily="18" charset="0"/>
                                    <a:ea typeface="Cambria Math" panose="02040503050406030204" pitchFamily="18" charset="0"/>
                                  </a:rPr>
                                  <m:t>𝑝</m:t>
                                </m:r>
                              </m:e>
                            </m:acc>
                            <m:r>
                              <a:rPr lang="fr-CA" b="0" i="1" smtClean="0">
                                <a:latin typeface="Cambria Math" panose="02040503050406030204" pitchFamily="18" charset="0"/>
                              </a:rPr>
                              <m:t>(1−</m:t>
                            </m:r>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𝑝</m:t>
                                </m:r>
                              </m:e>
                            </m:acc>
                            <m:r>
                              <a:rPr lang="fr-CA" b="0" i="1" smtClean="0">
                                <a:latin typeface="Cambria Math" panose="02040503050406030204" pitchFamily="18" charset="0"/>
                              </a:rPr>
                              <m:t>)</m:t>
                            </m:r>
                          </m:num>
                          <m:den>
                            <m:r>
                              <a:rPr lang="fr-CA" b="0" i="1" smtClean="0">
                                <a:latin typeface="Cambria Math" panose="02040503050406030204" pitchFamily="18" charset="0"/>
                                <a:ea typeface="Cambria Math" panose="02040503050406030204" pitchFamily="18" charset="0"/>
                              </a:rPr>
                              <m:t>𝑛</m:t>
                            </m:r>
                          </m:den>
                        </m:f>
                      </m:e>
                    </m:rad>
                  </m:oMath>
                </a14:m>
                <a:endParaRPr lang="fr-CA" dirty="0"/>
              </a:p>
            </p:txBody>
          </p:sp>
        </mc:Choice>
        <mc:Fallback xmlns="">
          <p:sp>
            <p:nvSpPr>
              <p:cNvPr id="6" name="ZoneTexte 5">
                <a:extLst>
                  <a:ext uri="{FF2B5EF4-FFF2-40B4-BE49-F238E27FC236}">
                    <a16:creationId xmlns:a16="http://schemas.microsoft.com/office/drawing/2014/main" id="{C10BA955-01C3-452A-998B-4086EF8FE738}"/>
                  </a:ext>
                </a:extLst>
              </p:cNvPr>
              <p:cNvSpPr txBox="1">
                <a:spLocks noRot="1" noChangeAspect="1" noMove="1" noResize="1" noEditPoints="1" noAdjustHandles="1" noChangeArrowheads="1" noChangeShapeType="1" noTextEdit="1"/>
              </p:cNvSpPr>
              <p:nvPr/>
            </p:nvSpPr>
            <p:spPr>
              <a:xfrm>
                <a:off x="1075766" y="1586753"/>
                <a:ext cx="9950824" cy="3753528"/>
              </a:xfrm>
              <a:prstGeom prst="rect">
                <a:avLst/>
              </a:prstGeom>
              <a:blipFill>
                <a:blip r:embed="rId2"/>
                <a:stretch>
                  <a:fillRect l="-490" t="-812" r="-306"/>
                </a:stretch>
              </a:blipFill>
            </p:spPr>
            <p:txBody>
              <a:bodyPr/>
              <a:lstStyle/>
              <a:p>
                <a:r>
                  <a:rPr lang="fr-CA">
                    <a:noFill/>
                  </a:rPr>
                  <a:t> </a:t>
                </a:r>
              </a:p>
            </p:txBody>
          </p:sp>
        </mc:Fallback>
      </mc:AlternateContent>
    </p:spTree>
    <p:extLst>
      <p:ext uri="{BB962C8B-B14F-4D97-AF65-F5344CB8AC3E}">
        <p14:creationId xmlns:p14="http://schemas.microsoft.com/office/powerpoint/2010/main" val="3245808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64B356-6020-4BE8-8653-67768176ED92}"/>
              </a:ext>
            </a:extLst>
          </p:cNvPr>
          <p:cNvSpPr>
            <a:spLocks noGrp="1"/>
          </p:cNvSpPr>
          <p:nvPr>
            <p:ph type="title"/>
          </p:nvPr>
        </p:nvSpPr>
        <p:spPr>
          <a:xfrm>
            <a:off x="838200" y="365125"/>
            <a:ext cx="10515600" cy="2660463"/>
          </a:xfrm>
        </p:spPr>
        <p:txBody>
          <a:bodyPr>
            <a:normAutofit/>
          </a:bodyPr>
          <a:lstStyle/>
          <a:p>
            <a:r>
              <a:rPr lang="fr-CA" dirty="0"/>
              <a:t>Exemple 1: </a:t>
            </a:r>
            <a:r>
              <a:rPr lang="fr-FR" sz="1800" dirty="0">
                <a:solidFill>
                  <a:srgbClr val="000000"/>
                </a:solidFill>
                <a:effectLst/>
                <a:latin typeface="Times New Roman" panose="02020603050405020304" pitchFamily="18" charset="0"/>
                <a:ea typeface="Times New Roman" panose="02020603050405020304" pitchFamily="18" charset="0"/>
              </a:rPr>
              <a:t>Quelques jours avant les élections fédérales de mai 2011, un sondage a été mené auprès de 1 120 électeurs québécois ; parmi eux, 404 ont déclaré qu’ils allaient voter pour le Nouveau Parti démocratique (NPD). On doit déterminer un intervalle de confiance de niveau 95 % de la proportion des Québécois qui ont l’intention de voter pour ce parti (si la tendance se maintient).</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2A95E279-A754-4B40-BF0C-5BA3DD8724B3}"/>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564B1728-20AA-4244-A644-9CEE5D36D8A7}"/>
              </a:ext>
            </a:extLst>
          </p:cNvPr>
          <p:cNvSpPr>
            <a:spLocks noGrp="1"/>
          </p:cNvSpPr>
          <p:nvPr>
            <p:ph type="sldNum" sz="quarter" idx="12"/>
          </p:nvPr>
        </p:nvSpPr>
        <p:spPr/>
        <p:txBody>
          <a:bodyPr/>
          <a:lstStyle/>
          <a:p>
            <a:fld id="{26377AD9-CE17-438C-A638-C64D2D42D7CF}" type="slidenum">
              <a:rPr lang="fr-CA" smtClean="0"/>
              <a:t>2</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71470B97-4689-4CAC-8E37-E95A9EA434C3}"/>
                  </a:ext>
                </a:extLst>
              </p:cNvPr>
              <p:cNvSpPr txBox="1"/>
              <p:nvPr/>
            </p:nvSpPr>
            <p:spPr>
              <a:xfrm>
                <a:off x="1062318" y="2581835"/>
                <a:ext cx="10408023" cy="3268011"/>
              </a:xfrm>
              <a:prstGeom prst="rect">
                <a:avLst/>
              </a:prstGeom>
              <a:noFill/>
            </p:spPr>
            <p:txBody>
              <a:bodyPr wrap="square" rtlCol="0">
                <a:spAutoFit/>
              </a:bodyPr>
              <a:lstStyle/>
              <a:p>
                <a:r>
                  <a:rPr lang="fr-CA" dirty="0"/>
                  <a:t>Réponse: </a:t>
                </a:r>
                <a:r>
                  <a:rPr lang="fr-FR" sz="1800" dirty="0">
                    <a:solidFill>
                      <a:srgbClr val="000000"/>
                    </a:solidFill>
                    <a:effectLst/>
                    <a:latin typeface="Times New Roman" panose="02020603050405020304" pitchFamily="18" charset="0"/>
                    <a:ea typeface="Times New Roman" panose="02020603050405020304" pitchFamily="18" charset="0"/>
                  </a:rPr>
                  <a:t>La proportion de cet échantillon des électeurs favorables au NPD est : </a:t>
                </a:r>
                <a14:m>
                  <m:oMath xmlns:m="http://schemas.openxmlformats.org/officeDocument/2006/math">
                    <m:acc>
                      <m:accPr>
                        <m:chr m:val="̂"/>
                        <m:ctrlPr>
                          <a:rPr lang="fr-FR" sz="1800" i="1" smtClean="0">
                            <a:solidFill>
                              <a:srgbClr val="000000"/>
                            </a:solidFill>
                            <a:effectLst/>
                            <a:latin typeface="Cambria Math" panose="02040503050406030204" pitchFamily="18" charset="0"/>
                          </a:rPr>
                        </m:ctrlPr>
                      </m:accPr>
                      <m:e>
                        <m:r>
                          <a:rPr lang="fr-CA" sz="1800" b="0" i="1" smtClean="0">
                            <a:solidFill>
                              <a:srgbClr val="000000"/>
                            </a:solidFill>
                            <a:effectLst/>
                            <a:latin typeface="Cambria Math" panose="02040503050406030204" pitchFamily="18" charset="0"/>
                          </a:rPr>
                          <m:t>𝑝</m:t>
                        </m:r>
                      </m:e>
                    </m:acc>
                    <m:r>
                      <a:rPr lang="fr-CA" sz="1800" b="0" i="1" smtClean="0">
                        <a:solidFill>
                          <a:srgbClr val="000000"/>
                        </a:solidFill>
                        <a:effectLst/>
                        <a:latin typeface="Cambria Math" panose="02040503050406030204" pitchFamily="18" charset="0"/>
                      </a:rPr>
                      <m:t>=</m:t>
                    </m:r>
                    <m:f>
                      <m:fPr>
                        <m:ctrlPr>
                          <a:rPr lang="fr-CA" sz="1800" b="0" i="1" smtClean="0">
                            <a:solidFill>
                              <a:srgbClr val="000000"/>
                            </a:solidFill>
                            <a:effectLst/>
                            <a:latin typeface="Cambria Math" panose="02040503050406030204" pitchFamily="18" charset="0"/>
                          </a:rPr>
                        </m:ctrlPr>
                      </m:fPr>
                      <m:num>
                        <m:r>
                          <a:rPr lang="fr-CA" sz="1800" b="0" i="1" smtClean="0">
                            <a:solidFill>
                              <a:srgbClr val="000000"/>
                            </a:solidFill>
                            <a:effectLst/>
                            <a:latin typeface="Cambria Math" panose="02040503050406030204" pitchFamily="18" charset="0"/>
                          </a:rPr>
                          <m:t>404</m:t>
                        </m:r>
                      </m:num>
                      <m:den>
                        <m:r>
                          <a:rPr lang="fr-CA" sz="1800" b="0" i="1" smtClean="0">
                            <a:solidFill>
                              <a:srgbClr val="000000"/>
                            </a:solidFill>
                            <a:effectLst/>
                            <a:latin typeface="Cambria Math" panose="02040503050406030204" pitchFamily="18" charset="0"/>
                          </a:rPr>
                          <m:t>1120</m:t>
                        </m:r>
                      </m:den>
                    </m:f>
                    <m:r>
                      <a:rPr lang="fr-CA" sz="1800" b="0" i="1" smtClean="0">
                        <a:solidFill>
                          <a:srgbClr val="000000"/>
                        </a:solidFill>
                        <a:effectLst/>
                        <a:latin typeface="Cambria Math" panose="02040503050406030204" pitchFamily="18" charset="0"/>
                      </a:rPr>
                      <m:t>=0,3607</m:t>
                    </m:r>
                  </m:oMath>
                </a14:m>
                <a:r>
                  <a:rPr lang="fr-CA" sz="1800" dirty="0">
                    <a:solidFill>
                      <a:srgbClr val="000000"/>
                    </a:solidFill>
                    <a:effectLst/>
                    <a:latin typeface="Times New Roman" panose="02020603050405020304" pitchFamily="18" charset="0"/>
                    <a:ea typeface="Times New Roman" panose="02020603050405020304" pitchFamily="18" charset="0"/>
                  </a:rPr>
                  <a:t>.</a:t>
                </a:r>
              </a:p>
              <a:p>
                <a:r>
                  <a:rPr lang="fr-CA" dirty="0">
                    <a:solidFill>
                      <a:srgbClr val="000000"/>
                    </a:solidFill>
                    <a:latin typeface="Times New Roman" panose="02020603050405020304" pitchFamily="18" charset="0"/>
                    <a:ea typeface="Times New Roman" panose="02020603050405020304" pitchFamily="18" charset="0"/>
                  </a:rPr>
                  <a:t>On a </a:t>
                </a:r>
                <a14:m>
                  <m:oMath xmlns:m="http://schemas.openxmlformats.org/officeDocument/2006/math">
                    <m:r>
                      <a:rPr lang="fr-CA" b="0" i="1" smtClean="0">
                        <a:solidFill>
                          <a:srgbClr val="000000"/>
                        </a:solidFill>
                        <a:latin typeface="Cambria Math" panose="02040503050406030204" pitchFamily="18" charset="0"/>
                        <a:ea typeface="Times New Roman" panose="02020603050405020304" pitchFamily="18" charset="0"/>
                      </a:rPr>
                      <m:t>𝑛</m:t>
                    </m:r>
                    <m:r>
                      <a:rPr lang="fr-CA" b="0" i="1" smtClean="0">
                        <a:solidFill>
                          <a:srgbClr val="000000"/>
                        </a:solidFill>
                        <a:latin typeface="Cambria Math" panose="02040503050406030204" pitchFamily="18" charset="0"/>
                        <a:ea typeface="Times New Roman" panose="02020603050405020304" pitchFamily="18" charset="0"/>
                      </a:rPr>
                      <m:t>=1120&gt;30;</m:t>
                    </m:r>
                    <m:r>
                      <a:rPr lang="fr-CA" b="0" i="1" smtClean="0">
                        <a:solidFill>
                          <a:srgbClr val="000000"/>
                        </a:solidFill>
                        <a:latin typeface="Cambria Math" panose="02040503050406030204" pitchFamily="18" charset="0"/>
                        <a:ea typeface="Cambria Math" panose="02040503050406030204" pitchFamily="18" charset="0"/>
                      </a:rPr>
                      <m:t>𝑛</m:t>
                    </m:r>
                    <m:r>
                      <a:rPr lang="fr-CA" b="0" i="1" smtClean="0">
                        <a:solidFill>
                          <a:srgbClr val="000000"/>
                        </a:solidFill>
                        <a:latin typeface="Cambria Math" panose="02040503050406030204" pitchFamily="18" charset="0"/>
                        <a:ea typeface="Cambria Math" panose="02040503050406030204" pitchFamily="18" charset="0"/>
                      </a:rPr>
                      <m:t>∗</m:t>
                    </m:r>
                    <m:acc>
                      <m:accPr>
                        <m:chr m:val="̂"/>
                        <m:ctrlPr>
                          <a:rPr lang="fr-CA" b="0" i="1" smtClean="0">
                            <a:solidFill>
                              <a:srgbClr val="000000"/>
                            </a:solidFill>
                            <a:latin typeface="Cambria Math" panose="02040503050406030204" pitchFamily="18" charset="0"/>
                            <a:ea typeface="Cambria Math" panose="02040503050406030204" pitchFamily="18" charset="0"/>
                          </a:rPr>
                        </m:ctrlPr>
                      </m:accPr>
                      <m:e>
                        <m:r>
                          <a:rPr lang="fr-CA" b="0" i="1" smtClean="0">
                            <a:solidFill>
                              <a:srgbClr val="000000"/>
                            </a:solidFill>
                            <a:latin typeface="Cambria Math" panose="02040503050406030204" pitchFamily="18" charset="0"/>
                            <a:ea typeface="Cambria Math" panose="02040503050406030204" pitchFamily="18" charset="0"/>
                          </a:rPr>
                          <m:t>𝑝</m:t>
                        </m:r>
                      </m:e>
                    </m:acc>
                    <m:r>
                      <a:rPr lang="fr-CA" b="0" i="1" smtClean="0">
                        <a:solidFill>
                          <a:srgbClr val="000000"/>
                        </a:solidFill>
                        <a:latin typeface="Cambria Math" panose="02040503050406030204" pitchFamily="18" charset="0"/>
                      </a:rPr>
                      <m:t>=404</m:t>
                    </m:r>
                    <m:r>
                      <a:rPr lang="fr-CA" b="0" i="1" smtClean="0">
                        <a:solidFill>
                          <a:srgbClr val="000000"/>
                        </a:solidFill>
                        <a:latin typeface="Cambria Math" panose="02040503050406030204" pitchFamily="18" charset="0"/>
                        <a:ea typeface="Cambria Math" panose="02040503050406030204" pitchFamily="18" charset="0"/>
                      </a:rPr>
                      <m:t>&gt;5  </m:t>
                    </m:r>
                    <m:r>
                      <a:rPr lang="fr-CA" b="0" i="1" smtClean="0">
                        <a:solidFill>
                          <a:srgbClr val="000000"/>
                        </a:solidFill>
                        <a:latin typeface="Cambria Math" panose="02040503050406030204" pitchFamily="18" charset="0"/>
                        <a:ea typeface="Cambria Math" panose="02040503050406030204" pitchFamily="18" charset="0"/>
                      </a:rPr>
                      <m:t>𝑒𝑡</m:t>
                    </m:r>
                    <m:r>
                      <a:rPr lang="fr-CA" b="0" i="1" smtClean="0">
                        <a:solidFill>
                          <a:srgbClr val="000000"/>
                        </a:solidFill>
                        <a:latin typeface="Cambria Math" panose="02040503050406030204" pitchFamily="18" charset="0"/>
                        <a:ea typeface="Cambria Math" panose="02040503050406030204" pitchFamily="18" charset="0"/>
                      </a:rPr>
                      <m:t> </m:t>
                    </m:r>
                    <m:r>
                      <a:rPr lang="fr-CA" b="0" i="1" smtClean="0">
                        <a:solidFill>
                          <a:srgbClr val="000000"/>
                        </a:solidFill>
                        <a:latin typeface="Cambria Math" panose="02040503050406030204" pitchFamily="18" charset="0"/>
                        <a:ea typeface="Cambria Math" panose="02040503050406030204" pitchFamily="18" charset="0"/>
                      </a:rPr>
                      <m:t>𝑛</m:t>
                    </m:r>
                    <m:r>
                      <a:rPr lang="fr-CA" b="0" i="1" smtClean="0">
                        <a:solidFill>
                          <a:srgbClr val="000000"/>
                        </a:solidFill>
                        <a:latin typeface="Cambria Math" panose="02040503050406030204" pitchFamily="18" charset="0"/>
                        <a:ea typeface="Cambria Math" panose="02040503050406030204" pitchFamily="18" charset="0"/>
                      </a:rPr>
                      <m:t>∗</m:t>
                    </m:r>
                    <m:d>
                      <m:dPr>
                        <m:ctrlPr>
                          <a:rPr lang="fr-CA" b="0" i="1" smtClean="0">
                            <a:solidFill>
                              <a:srgbClr val="000000"/>
                            </a:solidFill>
                            <a:latin typeface="Cambria Math" panose="02040503050406030204" pitchFamily="18" charset="0"/>
                            <a:ea typeface="Cambria Math" panose="02040503050406030204" pitchFamily="18" charset="0"/>
                          </a:rPr>
                        </m:ctrlPr>
                      </m:dPr>
                      <m:e>
                        <m:r>
                          <a:rPr lang="fr-CA" b="0" i="1" smtClean="0">
                            <a:solidFill>
                              <a:srgbClr val="000000"/>
                            </a:solidFill>
                            <a:latin typeface="Cambria Math" panose="02040503050406030204" pitchFamily="18" charset="0"/>
                            <a:ea typeface="Cambria Math" panose="02040503050406030204" pitchFamily="18" charset="0"/>
                          </a:rPr>
                          <m:t>1−</m:t>
                        </m:r>
                        <m:acc>
                          <m:accPr>
                            <m:chr m:val="̂"/>
                            <m:ctrlPr>
                              <a:rPr lang="fr-CA" b="0" i="1" smtClean="0">
                                <a:solidFill>
                                  <a:srgbClr val="000000"/>
                                </a:solidFill>
                                <a:latin typeface="Cambria Math" panose="02040503050406030204" pitchFamily="18" charset="0"/>
                                <a:ea typeface="Cambria Math" panose="02040503050406030204" pitchFamily="18" charset="0"/>
                              </a:rPr>
                            </m:ctrlPr>
                          </m:accPr>
                          <m:e>
                            <m:r>
                              <a:rPr lang="fr-CA" b="0" i="1" smtClean="0">
                                <a:solidFill>
                                  <a:srgbClr val="000000"/>
                                </a:solidFill>
                                <a:latin typeface="Cambria Math" panose="02040503050406030204" pitchFamily="18" charset="0"/>
                                <a:ea typeface="Cambria Math" panose="02040503050406030204" pitchFamily="18" charset="0"/>
                              </a:rPr>
                              <m:t>𝑝</m:t>
                            </m:r>
                          </m:e>
                        </m:acc>
                      </m:e>
                    </m:d>
                    <m:r>
                      <a:rPr lang="fr-CA" b="0" i="1" smtClean="0">
                        <a:solidFill>
                          <a:srgbClr val="000000"/>
                        </a:solidFill>
                        <a:latin typeface="Cambria Math" panose="02040503050406030204" pitchFamily="18" charset="0"/>
                        <a:ea typeface="Cambria Math" panose="02040503050406030204" pitchFamily="18" charset="0"/>
                      </a:rPr>
                      <m:t>&gt;5</m:t>
                    </m:r>
                    <m:r>
                      <a:rPr lang="fr-CA" b="0" i="1" smtClean="0">
                        <a:solidFill>
                          <a:srgbClr val="000000"/>
                        </a:solidFill>
                        <a:latin typeface="Cambria Math" panose="02040503050406030204" pitchFamily="18" charset="0"/>
                        <a:ea typeface="Cambria Math" panose="02040503050406030204" pitchFamily="18" charset="0"/>
                      </a:rPr>
                      <m:t>𝑑𝑜𝑛𝑐</m:t>
                    </m:r>
                    <m:r>
                      <a:rPr lang="fr-CA" b="0" i="1" smtClean="0">
                        <a:solidFill>
                          <a:srgbClr val="000000"/>
                        </a:solidFill>
                        <a:latin typeface="Cambria Math" panose="02040503050406030204" pitchFamily="18" charset="0"/>
                        <a:ea typeface="Cambria Math" panose="02040503050406030204" pitchFamily="18" charset="0"/>
                      </a:rPr>
                      <m:t> </m:t>
                    </m:r>
                    <m:r>
                      <a:rPr lang="fr-CA" b="0" i="1" smtClean="0">
                        <a:solidFill>
                          <a:srgbClr val="000000"/>
                        </a:solidFill>
                        <a:latin typeface="Cambria Math" panose="02040503050406030204" pitchFamily="18" charset="0"/>
                        <a:ea typeface="Cambria Math" panose="02040503050406030204" pitchFamily="18" charset="0"/>
                      </a:rPr>
                      <m:t>𝑙𝑒𝑠</m:t>
                    </m:r>
                    <m:r>
                      <a:rPr lang="fr-CA" b="0" i="1" smtClean="0">
                        <a:solidFill>
                          <a:srgbClr val="000000"/>
                        </a:solidFill>
                        <a:latin typeface="Cambria Math" panose="02040503050406030204" pitchFamily="18" charset="0"/>
                        <a:ea typeface="Cambria Math" panose="02040503050406030204" pitchFamily="18" charset="0"/>
                      </a:rPr>
                      <m:t> </m:t>
                    </m:r>
                    <m:r>
                      <a:rPr lang="fr-CA" b="0" i="1" smtClean="0">
                        <a:solidFill>
                          <a:srgbClr val="000000"/>
                        </a:solidFill>
                        <a:latin typeface="Cambria Math" panose="02040503050406030204" pitchFamily="18" charset="0"/>
                        <a:ea typeface="Cambria Math" panose="02040503050406030204" pitchFamily="18" charset="0"/>
                      </a:rPr>
                      <m:t>𝑐𝑜𝑛𝑑𝑖𝑡𝑖𝑜𝑛𝑠</m:t>
                    </m:r>
                    <m:r>
                      <a:rPr lang="fr-CA" b="0" i="1" smtClean="0">
                        <a:solidFill>
                          <a:srgbClr val="000000"/>
                        </a:solidFill>
                        <a:latin typeface="Cambria Math" panose="02040503050406030204" pitchFamily="18" charset="0"/>
                        <a:ea typeface="Cambria Math" panose="02040503050406030204" pitchFamily="18" charset="0"/>
                      </a:rPr>
                      <m:t> </m:t>
                    </m:r>
                    <m:r>
                      <a:rPr lang="fr-CA" b="0" i="1" smtClean="0">
                        <a:solidFill>
                          <a:srgbClr val="000000"/>
                        </a:solidFill>
                        <a:latin typeface="Cambria Math" panose="02040503050406030204" pitchFamily="18" charset="0"/>
                        <a:ea typeface="Cambria Math" panose="02040503050406030204" pitchFamily="18" charset="0"/>
                      </a:rPr>
                      <m:t>𝑠𝑜𝑛𝑡</m:t>
                    </m:r>
                    <m:r>
                      <a:rPr lang="fr-CA" b="0" i="1" smtClean="0">
                        <a:solidFill>
                          <a:srgbClr val="000000"/>
                        </a:solidFill>
                        <a:latin typeface="Cambria Math" panose="02040503050406030204" pitchFamily="18" charset="0"/>
                        <a:ea typeface="Cambria Math" panose="02040503050406030204" pitchFamily="18" charset="0"/>
                      </a:rPr>
                      <m:t> </m:t>
                    </m:r>
                    <m:r>
                      <a:rPr lang="fr-CA" b="0" i="1" smtClean="0">
                        <a:solidFill>
                          <a:srgbClr val="000000"/>
                        </a:solidFill>
                        <a:latin typeface="Cambria Math" panose="02040503050406030204" pitchFamily="18" charset="0"/>
                        <a:ea typeface="Cambria Math" panose="02040503050406030204" pitchFamily="18" charset="0"/>
                      </a:rPr>
                      <m:t>𝑠𝑎𝑡𝑖𝑠𝑓𝑎𝑖𝑡𝑒𝑠</m:t>
                    </m:r>
                    <m:r>
                      <a:rPr lang="fr-CA" b="0" i="1" smtClean="0">
                        <a:solidFill>
                          <a:srgbClr val="000000"/>
                        </a:solidFill>
                        <a:latin typeface="Cambria Math" panose="02040503050406030204" pitchFamily="18" charset="0"/>
                        <a:ea typeface="Cambria Math" panose="02040503050406030204" pitchFamily="18" charset="0"/>
                      </a:rPr>
                      <m:t>. </m:t>
                    </m:r>
                  </m:oMath>
                </a14:m>
                <a:endParaRPr lang="fr-CA" sz="1800" dirty="0">
                  <a:solidFill>
                    <a:srgbClr val="000000"/>
                  </a:solidFill>
                  <a:effectLst/>
                  <a:latin typeface="Times New Roman" panose="02020603050405020304" pitchFamily="18" charset="0"/>
                  <a:ea typeface="Times New Roman" panose="02020603050405020304" pitchFamily="18" charset="0"/>
                </a:endParaRPr>
              </a:p>
              <a:p>
                <a:r>
                  <a:rPr lang="fr-CA" dirty="0">
                    <a:solidFill>
                      <a:srgbClr val="000000"/>
                    </a:solidFill>
                    <a:latin typeface="Times New Roman" panose="02020603050405020304" pitchFamily="18" charset="0"/>
                    <a:ea typeface="Times New Roman" panose="02020603050405020304" pitchFamily="18" charset="0"/>
                  </a:rPr>
                  <a:t>On a aussi </a:t>
                </a:r>
                <a14:m>
                  <m:oMath xmlns:m="http://schemas.openxmlformats.org/officeDocument/2006/math">
                    <m:r>
                      <a:rPr lang="fr-CA" i="1" smtClean="0">
                        <a:solidFill>
                          <a:srgbClr val="000000"/>
                        </a:solidFill>
                        <a:latin typeface="Cambria Math" panose="02040503050406030204" pitchFamily="18" charset="0"/>
                        <a:ea typeface="Cambria Math" panose="02040503050406030204" pitchFamily="18" charset="0"/>
                      </a:rPr>
                      <m:t>𝛼</m:t>
                    </m:r>
                    <m:r>
                      <a:rPr lang="fr-CA" b="0" i="1" smtClean="0">
                        <a:solidFill>
                          <a:srgbClr val="000000"/>
                        </a:solidFill>
                        <a:latin typeface="Cambria Math" panose="02040503050406030204" pitchFamily="18" charset="0"/>
                        <a:ea typeface="Cambria Math" panose="02040503050406030204" pitchFamily="18" charset="0"/>
                      </a:rPr>
                      <m:t>=5%   </m:t>
                    </m:r>
                    <m:r>
                      <a:rPr lang="fr-CA" b="0" i="1" smtClean="0">
                        <a:solidFill>
                          <a:srgbClr val="000000"/>
                        </a:solidFill>
                        <a:latin typeface="Cambria Math" panose="02040503050406030204" pitchFamily="18" charset="0"/>
                        <a:ea typeface="Cambria Math" panose="02040503050406030204" pitchFamily="18" charset="0"/>
                      </a:rPr>
                      <m:t>𝑑𝑜𝑛𝑐</m:t>
                    </m:r>
                    <m:r>
                      <a:rPr lang="fr-CA" b="0" i="1" smtClean="0">
                        <a:solidFill>
                          <a:srgbClr val="000000"/>
                        </a:solidFill>
                        <a:latin typeface="Cambria Math" panose="02040503050406030204" pitchFamily="18" charset="0"/>
                        <a:ea typeface="Cambria Math" panose="02040503050406030204" pitchFamily="18" charset="0"/>
                      </a:rPr>
                      <m:t> </m:t>
                    </m:r>
                    <m:sSub>
                      <m:sSubPr>
                        <m:ctrlPr>
                          <a:rPr lang="fr-CA" b="0" i="1" smtClean="0">
                            <a:solidFill>
                              <a:srgbClr val="000000"/>
                            </a:solidFill>
                            <a:latin typeface="Cambria Math" panose="02040503050406030204" pitchFamily="18" charset="0"/>
                            <a:ea typeface="Cambria Math" panose="02040503050406030204" pitchFamily="18" charset="0"/>
                          </a:rPr>
                        </m:ctrlPr>
                      </m:sSubPr>
                      <m:e>
                        <m:r>
                          <a:rPr lang="fr-CA" b="0" i="1" smtClean="0">
                            <a:solidFill>
                              <a:srgbClr val="000000"/>
                            </a:solidFill>
                            <a:latin typeface="Cambria Math" panose="02040503050406030204" pitchFamily="18" charset="0"/>
                            <a:ea typeface="Cambria Math" panose="02040503050406030204" pitchFamily="18" charset="0"/>
                          </a:rPr>
                          <m:t>𝑧</m:t>
                        </m:r>
                      </m:e>
                      <m:sub>
                        <m:r>
                          <a:rPr lang="fr-CA" b="0" i="1" smtClean="0">
                            <a:solidFill>
                              <a:srgbClr val="000000"/>
                            </a:solidFill>
                            <a:latin typeface="Cambria Math" panose="02040503050406030204" pitchFamily="18" charset="0"/>
                            <a:ea typeface="Cambria Math" panose="02040503050406030204" pitchFamily="18" charset="0"/>
                          </a:rPr>
                          <m:t>𝛼</m:t>
                        </m:r>
                        <m:r>
                          <a:rPr lang="fr-CA" b="0" i="1" smtClean="0">
                            <a:solidFill>
                              <a:srgbClr val="000000"/>
                            </a:solidFill>
                            <a:latin typeface="Cambria Math" panose="02040503050406030204" pitchFamily="18" charset="0"/>
                            <a:ea typeface="Cambria Math" panose="02040503050406030204" pitchFamily="18" charset="0"/>
                          </a:rPr>
                          <m:t>/2</m:t>
                        </m:r>
                      </m:sub>
                    </m:sSub>
                    <m:r>
                      <a:rPr lang="fr-CA" b="0" i="1" smtClean="0">
                        <a:solidFill>
                          <a:srgbClr val="000000"/>
                        </a:solidFill>
                        <a:latin typeface="Cambria Math" panose="02040503050406030204" pitchFamily="18" charset="0"/>
                        <a:ea typeface="Cambria Math" panose="02040503050406030204" pitchFamily="18" charset="0"/>
                      </a:rPr>
                      <m:t>=</m:t>
                    </m:r>
                    <m:sSub>
                      <m:sSubPr>
                        <m:ctrlPr>
                          <a:rPr lang="fr-CA" b="0" i="1" smtClean="0">
                            <a:solidFill>
                              <a:srgbClr val="000000"/>
                            </a:solidFill>
                            <a:latin typeface="Cambria Math" panose="02040503050406030204" pitchFamily="18" charset="0"/>
                            <a:ea typeface="Cambria Math" panose="02040503050406030204" pitchFamily="18" charset="0"/>
                          </a:rPr>
                        </m:ctrlPr>
                      </m:sSubPr>
                      <m:e>
                        <m:r>
                          <a:rPr lang="fr-CA" b="0" i="1" smtClean="0">
                            <a:solidFill>
                              <a:srgbClr val="000000"/>
                            </a:solidFill>
                            <a:latin typeface="Cambria Math" panose="02040503050406030204" pitchFamily="18" charset="0"/>
                            <a:ea typeface="Cambria Math" panose="02040503050406030204" pitchFamily="18" charset="0"/>
                          </a:rPr>
                          <m:t>𝑧</m:t>
                        </m:r>
                      </m:e>
                      <m:sub>
                        <m:r>
                          <a:rPr lang="fr-CA" b="0" i="1" smtClean="0">
                            <a:solidFill>
                              <a:srgbClr val="000000"/>
                            </a:solidFill>
                            <a:latin typeface="Cambria Math" panose="02040503050406030204" pitchFamily="18" charset="0"/>
                            <a:ea typeface="Cambria Math" panose="02040503050406030204" pitchFamily="18" charset="0"/>
                          </a:rPr>
                          <m:t>0,025</m:t>
                        </m:r>
                      </m:sub>
                    </m:sSub>
                    <m:r>
                      <a:rPr lang="fr-CA" b="0" i="1" smtClean="0">
                        <a:solidFill>
                          <a:srgbClr val="000000"/>
                        </a:solidFill>
                        <a:latin typeface="Cambria Math" panose="02040503050406030204" pitchFamily="18" charset="0"/>
                        <a:ea typeface="Cambria Math" panose="02040503050406030204" pitchFamily="18" charset="0"/>
                      </a:rPr>
                      <m:t>=1,96</m:t>
                    </m:r>
                  </m:oMath>
                </a14:m>
                <a:r>
                  <a:rPr lang="fr-CA" sz="1800" dirty="0">
                    <a:solidFill>
                      <a:srgbClr val="000000"/>
                    </a:solidFill>
                    <a:effectLst/>
                    <a:latin typeface="Times New Roman" panose="02020603050405020304" pitchFamily="18" charset="0"/>
                    <a:ea typeface="Times New Roman" panose="02020603050405020304" pitchFamily="18" charset="0"/>
                  </a:rPr>
                  <a:t> donc la marge d’erreur de l’estimation est:</a:t>
                </a:r>
              </a:p>
              <a:p>
                <a:pPr/>
                <a14:m>
                  <m:oMathPara xmlns:m="http://schemas.openxmlformats.org/officeDocument/2006/math">
                    <m:oMathParaPr>
                      <m:jc m:val="centerGroup"/>
                    </m:oMathParaPr>
                    <m:oMath xmlns:m="http://schemas.openxmlformats.org/officeDocument/2006/math">
                      <m:r>
                        <a:rPr lang="fr-CA" sz="1800" b="0" i="1" smtClean="0">
                          <a:solidFill>
                            <a:srgbClr val="000000"/>
                          </a:solidFill>
                          <a:effectLst/>
                          <a:latin typeface="Cambria Math" panose="02040503050406030204" pitchFamily="18" charset="0"/>
                          <a:ea typeface="Times New Roman" panose="02020603050405020304" pitchFamily="18" charset="0"/>
                        </a:rPr>
                        <m:t>𝐸</m:t>
                      </m:r>
                      <m:r>
                        <a:rPr lang="fr-CA" sz="1800" b="0" i="1" smtClean="0">
                          <a:solidFill>
                            <a:srgbClr val="000000"/>
                          </a:solidFill>
                          <a:effectLst/>
                          <a:latin typeface="Cambria Math" panose="02040503050406030204" pitchFamily="18" charset="0"/>
                          <a:ea typeface="Times New Roman" panose="02020603050405020304" pitchFamily="18" charset="0"/>
                        </a:rPr>
                        <m:t>=</m:t>
                      </m:r>
                      <m:sSub>
                        <m:sSubPr>
                          <m:ctrlPr>
                            <a:rPr lang="fr-CA" sz="1800" b="0" i="1" smtClean="0">
                              <a:solidFill>
                                <a:srgbClr val="000000"/>
                              </a:solidFill>
                              <a:effectLst/>
                              <a:latin typeface="Cambria Math" panose="02040503050406030204" pitchFamily="18" charset="0"/>
                            </a:rPr>
                          </m:ctrlPr>
                        </m:sSubPr>
                        <m:e>
                          <m:r>
                            <a:rPr lang="fr-CA" sz="1800" b="0" i="1" smtClean="0">
                              <a:solidFill>
                                <a:srgbClr val="000000"/>
                              </a:solidFill>
                              <a:effectLst/>
                              <a:latin typeface="Cambria Math" panose="02040503050406030204" pitchFamily="18" charset="0"/>
                            </a:rPr>
                            <m:t>𝑧</m:t>
                          </m:r>
                        </m:e>
                        <m:sub>
                          <m:r>
                            <a:rPr lang="fr-CA" sz="1800" b="0" i="1" smtClean="0">
                              <a:solidFill>
                                <a:srgbClr val="000000"/>
                              </a:solidFill>
                              <a:effectLst/>
                              <a:latin typeface="Cambria Math" panose="02040503050406030204" pitchFamily="18" charset="0"/>
                              <a:ea typeface="Cambria Math" panose="02040503050406030204" pitchFamily="18" charset="0"/>
                            </a:rPr>
                            <m:t>𝛼</m:t>
                          </m:r>
                          <m:r>
                            <a:rPr lang="fr-CA" sz="1800" b="0" i="1" smtClean="0">
                              <a:solidFill>
                                <a:srgbClr val="000000"/>
                              </a:solidFill>
                              <a:effectLst/>
                              <a:latin typeface="Cambria Math" panose="02040503050406030204" pitchFamily="18" charset="0"/>
                              <a:ea typeface="Cambria Math" panose="02040503050406030204" pitchFamily="18" charset="0"/>
                            </a:rPr>
                            <m:t>/2</m:t>
                          </m:r>
                        </m:sub>
                      </m:sSub>
                      <m:rad>
                        <m:radPr>
                          <m:degHide m:val="on"/>
                          <m:ctrlPr>
                            <a:rPr lang="fr-CA" sz="1800" b="0" i="1" smtClean="0">
                              <a:solidFill>
                                <a:srgbClr val="000000"/>
                              </a:solidFill>
                              <a:effectLst/>
                              <a:latin typeface="Cambria Math" panose="02040503050406030204" pitchFamily="18" charset="0"/>
                            </a:rPr>
                          </m:ctrlPr>
                        </m:radPr>
                        <m:deg/>
                        <m:e>
                          <m:f>
                            <m:fPr>
                              <m:ctrlPr>
                                <a:rPr lang="fr-CA" sz="1800" b="0" i="1" smtClean="0">
                                  <a:solidFill>
                                    <a:srgbClr val="000000"/>
                                  </a:solidFill>
                                  <a:effectLst/>
                                  <a:latin typeface="Cambria Math" panose="02040503050406030204" pitchFamily="18" charset="0"/>
                                </a:rPr>
                              </m:ctrlPr>
                            </m:fPr>
                            <m:num>
                              <m:acc>
                                <m:accPr>
                                  <m:chr m:val="̂"/>
                                  <m:ctrlPr>
                                    <a:rPr lang="fr-CA" sz="1800" b="0" i="1" smtClean="0">
                                      <a:solidFill>
                                        <a:srgbClr val="000000"/>
                                      </a:solidFill>
                                      <a:effectLst/>
                                      <a:latin typeface="Cambria Math" panose="02040503050406030204" pitchFamily="18" charset="0"/>
                                    </a:rPr>
                                  </m:ctrlPr>
                                </m:accPr>
                                <m:e>
                                  <m:r>
                                    <a:rPr lang="fr-CA" sz="1800" b="0" i="1" smtClean="0">
                                      <a:solidFill>
                                        <a:srgbClr val="000000"/>
                                      </a:solidFill>
                                      <a:effectLst/>
                                      <a:latin typeface="Cambria Math" panose="02040503050406030204" pitchFamily="18" charset="0"/>
                                    </a:rPr>
                                    <m:t>𝑝</m:t>
                                  </m:r>
                                </m:e>
                              </m:acc>
                              <m:r>
                                <a:rPr lang="fr-CA" sz="1800" b="0" i="1" smtClean="0">
                                  <a:solidFill>
                                    <a:srgbClr val="000000"/>
                                  </a:solidFill>
                                  <a:effectLst/>
                                  <a:latin typeface="Cambria Math" panose="02040503050406030204" pitchFamily="18" charset="0"/>
                                </a:rPr>
                                <m:t>(1−</m:t>
                              </m:r>
                              <m:acc>
                                <m:accPr>
                                  <m:chr m:val="̂"/>
                                  <m:ctrlPr>
                                    <a:rPr lang="fr-CA" sz="1800" b="0" i="1" smtClean="0">
                                      <a:solidFill>
                                        <a:srgbClr val="000000"/>
                                      </a:solidFill>
                                      <a:effectLst/>
                                      <a:latin typeface="Cambria Math" panose="02040503050406030204" pitchFamily="18" charset="0"/>
                                    </a:rPr>
                                  </m:ctrlPr>
                                </m:accPr>
                                <m:e>
                                  <m:r>
                                    <a:rPr lang="fr-CA" sz="1800" b="0" i="1" smtClean="0">
                                      <a:solidFill>
                                        <a:srgbClr val="000000"/>
                                      </a:solidFill>
                                      <a:effectLst/>
                                      <a:latin typeface="Cambria Math" panose="02040503050406030204" pitchFamily="18" charset="0"/>
                                    </a:rPr>
                                    <m:t>𝑝</m:t>
                                  </m:r>
                                </m:e>
                              </m:acc>
                              <m:r>
                                <a:rPr lang="fr-CA" sz="1800" b="0" i="1" smtClean="0">
                                  <a:solidFill>
                                    <a:srgbClr val="000000"/>
                                  </a:solidFill>
                                  <a:effectLst/>
                                  <a:latin typeface="Cambria Math" panose="02040503050406030204" pitchFamily="18" charset="0"/>
                                </a:rPr>
                                <m:t>)</m:t>
                              </m:r>
                            </m:num>
                            <m:den>
                              <m:r>
                                <a:rPr lang="fr-CA" sz="1800" b="0" i="1" smtClean="0">
                                  <a:solidFill>
                                    <a:srgbClr val="000000"/>
                                  </a:solidFill>
                                  <a:effectLst/>
                                  <a:latin typeface="Cambria Math" panose="02040503050406030204" pitchFamily="18" charset="0"/>
                                </a:rPr>
                                <m:t>𝑛</m:t>
                              </m:r>
                            </m:den>
                          </m:f>
                        </m:e>
                      </m:rad>
                      <m:r>
                        <a:rPr lang="fr-CA" sz="1800" b="0" i="1" smtClean="0">
                          <a:solidFill>
                            <a:srgbClr val="000000"/>
                          </a:solidFill>
                          <a:effectLst/>
                          <a:latin typeface="Cambria Math" panose="02040503050406030204" pitchFamily="18" charset="0"/>
                        </a:rPr>
                        <m:t>=1,96</m:t>
                      </m:r>
                      <m:rad>
                        <m:radPr>
                          <m:degHide m:val="on"/>
                          <m:ctrlPr>
                            <a:rPr lang="fr-CA" sz="1800" b="0" i="1" smtClean="0">
                              <a:solidFill>
                                <a:srgbClr val="000000"/>
                              </a:solidFill>
                              <a:effectLst/>
                              <a:latin typeface="Cambria Math" panose="02040503050406030204" pitchFamily="18" charset="0"/>
                            </a:rPr>
                          </m:ctrlPr>
                        </m:radPr>
                        <m:deg/>
                        <m:e>
                          <m:f>
                            <m:fPr>
                              <m:ctrlPr>
                                <a:rPr lang="fr-CA" sz="1800" b="0" i="1" smtClean="0">
                                  <a:solidFill>
                                    <a:srgbClr val="000000"/>
                                  </a:solidFill>
                                  <a:effectLst/>
                                  <a:latin typeface="Cambria Math" panose="02040503050406030204" pitchFamily="18" charset="0"/>
                                </a:rPr>
                              </m:ctrlPr>
                            </m:fPr>
                            <m:num>
                              <m:r>
                                <a:rPr lang="fr-CA" sz="1800" b="0" i="1" smtClean="0">
                                  <a:solidFill>
                                    <a:srgbClr val="000000"/>
                                  </a:solidFill>
                                  <a:effectLst/>
                                  <a:latin typeface="Cambria Math" panose="02040503050406030204" pitchFamily="18" charset="0"/>
                                </a:rPr>
                                <m:t>0,3607∗(1−0,3607)</m:t>
                              </m:r>
                            </m:num>
                            <m:den>
                              <m:r>
                                <a:rPr lang="fr-CA" sz="1800" b="0" i="1" smtClean="0">
                                  <a:solidFill>
                                    <a:srgbClr val="000000"/>
                                  </a:solidFill>
                                  <a:effectLst/>
                                  <a:latin typeface="Cambria Math" panose="02040503050406030204" pitchFamily="18" charset="0"/>
                                </a:rPr>
                                <m:t>1120</m:t>
                              </m:r>
                            </m:den>
                          </m:f>
                        </m:e>
                      </m:rad>
                      <m:r>
                        <a:rPr lang="fr-CA" sz="1800" b="0" i="1" smtClean="0">
                          <a:solidFill>
                            <a:srgbClr val="000000"/>
                          </a:solidFill>
                          <a:effectLst/>
                          <a:latin typeface="Cambria Math" panose="02040503050406030204" pitchFamily="18" charset="0"/>
                        </a:rPr>
                        <m:t>=0,0281</m:t>
                      </m:r>
                    </m:oMath>
                  </m:oMathPara>
                </a14:m>
                <a:endParaRPr lang="fr-CA" sz="1800" dirty="0">
                  <a:solidFill>
                    <a:srgbClr val="000000"/>
                  </a:solidFill>
                  <a:effectLst/>
                  <a:latin typeface="Times New Roman" panose="02020603050405020304" pitchFamily="18" charset="0"/>
                  <a:ea typeface="Times New Roman" panose="02020603050405020304" pitchFamily="18" charset="0"/>
                </a:endParaRPr>
              </a:p>
              <a:p>
                <a:r>
                  <a:rPr lang="fr-CA" dirty="0">
                    <a:solidFill>
                      <a:srgbClr val="000000"/>
                    </a:solidFill>
                    <a:latin typeface="Times New Roman" panose="02020603050405020304" pitchFamily="18" charset="0"/>
                    <a:ea typeface="Times New Roman" panose="02020603050405020304" pitchFamily="18" charset="0"/>
                  </a:rPr>
                  <a:t>Par conséquent un intervalle de confiance de niveau 95% pour la proportion des électeurs qui vont voter pour le NPD est: </a:t>
                </a:r>
                <a14:m>
                  <m:oMath xmlns:m="http://schemas.openxmlformats.org/officeDocument/2006/math">
                    <m:d>
                      <m:dPr>
                        <m:begChr m:val="["/>
                        <m:endChr m:val="]"/>
                        <m:ctrlPr>
                          <a:rPr lang="fr-CA" i="1" smtClean="0">
                            <a:solidFill>
                              <a:srgbClr val="000000"/>
                            </a:solidFill>
                            <a:latin typeface="Cambria Math" panose="02040503050406030204" pitchFamily="18" charset="0"/>
                          </a:rPr>
                        </m:ctrlPr>
                      </m:dPr>
                      <m:e>
                        <m:acc>
                          <m:accPr>
                            <m:chr m:val="̂"/>
                            <m:ctrlPr>
                              <a:rPr lang="fr-CA" i="1" smtClean="0">
                                <a:solidFill>
                                  <a:srgbClr val="000000"/>
                                </a:solidFill>
                                <a:latin typeface="Cambria Math" panose="02040503050406030204" pitchFamily="18" charset="0"/>
                              </a:rPr>
                            </m:ctrlPr>
                          </m:accPr>
                          <m:e>
                            <m:r>
                              <a:rPr lang="fr-CA" b="0" i="1" smtClean="0">
                                <a:solidFill>
                                  <a:srgbClr val="000000"/>
                                </a:solidFill>
                                <a:latin typeface="Cambria Math" panose="02040503050406030204" pitchFamily="18" charset="0"/>
                              </a:rPr>
                              <m:t>𝑝</m:t>
                            </m:r>
                          </m:e>
                        </m:acc>
                        <m:r>
                          <a:rPr lang="fr-CA" b="0" i="1" smtClean="0">
                            <a:solidFill>
                              <a:srgbClr val="000000"/>
                            </a:solidFill>
                            <a:latin typeface="Cambria Math" panose="02040503050406030204" pitchFamily="18" charset="0"/>
                          </a:rPr>
                          <m:t>−</m:t>
                        </m:r>
                        <m:r>
                          <a:rPr lang="fr-CA" b="0" i="1" smtClean="0">
                            <a:solidFill>
                              <a:srgbClr val="000000"/>
                            </a:solidFill>
                            <a:latin typeface="Cambria Math" panose="02040503050406030204" pitchFamily="18" charset="0"/>
                          </a:rPr>
                          <m:t>𝐸</m:t>
                        </m:r>
                        <m:r>
                          <a:rPr lang="fr-CA" b="0" i="1" smtClean="0">
                            <a:solidFill>
                              <a:srgbClr val="000000"/>
                            </a:solidFill>
                            <a:latin typeface="Cambria Math" panose="02040503050406030204" pitchFamily="18" charset="0"/>
                          </a:rPr>
                          <m:t>; </m:t>
                        </m:r>
                        <m:acc>
                          <m:accPr>
                            <m:chr m:val="̂"/>
                            <m:ctrlPr>
                              <a:rPr lang="fr-CA" b="0" i="1" smtClean="0">
                                <a:solidFill>
                                  <a:srgbClr val="000000"/>
                                </a:solidFill>
                                <a:latin typeface="Cambria Math" panose="02040503050406030204" pitchFamily="18" charset="0"/>
                              </a:rPr>
                            </m:ctrlPr>
                          </m:accPr>
                          <m:e>
                            <m:r>
                              <a:rPr lang="fr-CA" b="0" i="1" smtClean="0">
                                <a:solidFill>
                                  <a:srgbClr val="000000"/>
                                </a:solidFill>
                                <a:latin typeface="Cambria Math" panose="02040503050406030204" pitchFamily="18" charset="0"/>
                              </a:rPr>
                              <m:t>𝑝</m:t>
                            </m:r>
                          </m:e>
                        </m:acc>
                        <m:r>
                          <a:rPr lang="fr-CA" b="0" i="1" smtClean="0">
                            <a:solidFill>
                              <a:srgbClr val="000000"/>
                            </a:solidFill>
                            <a:latin typeface="Cambria Math" panose="02040503050406030204" pitchFamily="18" charset="0"/>
                          </a:rPr>
                          <m:t>+</m:t>
                        </m:r>
                        <m:r>
                          <a:rPr lang="fr-CA" b="0" i="1" smtClean="0">
                            <a:solidFill>
                              <a:srgbClr val="000000"/>
                            </a:solidFill>
                            <a:latin typeface="Cambria Math" panose="02040503050406030204" pitchFamily="18" charset="0"/>
                          </a:rPr>
                          <m:t>𝐸</m:t>
                        </m:r>
                      </m:e>
                    </m:d>
                    <m:r>
                      <a:rPr lang="fr-CA" b="0" i="1" smtClean="0">
                        <a:solidFill>
                          <a:srgbClr val="000000"/>
                        </a:solidFill>
                        <a:latin typeface="Cambria Math" panose="02040503050406030204" pitchFamily="18" charset="0"/>
                      </a:rPr>
                      <m:t>=</m:t>
                    </m:r>
                    <m:d>
                      <m:dPr>
                        <m:begChr m:val="["/>
                        <m:endChr m:val="]"/>
                        <m:ctrlPr>
                          <a:rPr lang="fr-CA" b="0" i="1" smtClean="0">
                            <a:solidFill>
                              <a:srgbClr val="000000"/>
                            </a:solidFill>
                            <a:latin typeface="Cambria Math" panose="02040503050406030204" pitchFamily="18" charset="0"/>
                          </a:rPr>
                        </m:ctrlPr>
                      </m:dPr>
                      <m:e>
                        <m:r>
                          <a:rPr lang="fr-CA" b="0" i="1" smtClean="0">
                            <a:solidFill>
                              <a:srgbClr val="000000"/>
                            </a:solidFill>
                            <a:latin typeface="Cambria Math" panose="02040503050406030204" pitchFamily="18" charset="0"/>
                          </a:rPr>
                          <m:t>0,3607−0,0281;0,3607+0,0281</m:t>
                        </m:r>
                      </m:e>
                    </m:d>
                    <m:r>
                      <a:rPr lang="fr-CA" b="0" i="1" smtClean="0">
                        <a:solidFill>
                          <a:srgbClr val="000000"/>
                        </a:solidFill>
                        <a:latin typeface="Cambria Math" panose="02040503050406030204" pitchFamily="18" charset="0"/>
                      </a:rPr>
                      <m:t>=</m:t>
                    </m:r>
                    <m:d>
                      <m:dPr>
                        <m:begChr m:val="["/>
                        <m:endChr m:val="]"/>
                        <m:ctrlPr>
                          <a:rPr lang="fr-CA" b="0" i="1" smtClean="0">
                            <a:solidFill>
                              <a:srgbClr val="000000"/>
                            </a:solidFill>
                            <a:latin typeface="Cambria Math" panose="02040503050406030204" pitchFamily="18" charset="0"/>
                          </a:rPr>
                        </m:ctrlPr>
                      </m:dPr>
                      <m:e>
                        <m:r>
                          <a:rPr lang="fr-CA" b="0" i="1" smtClean="0">
                            <a:solidFill>
                              <a:srgbClr val="000000"/>
                            </a:solidFill>
                            <a:latin typeface="Cambria Math" panose="02040503050406030204" pitchFamily="18" charset="0"/>
                          </a:rPr>
                          <m:t>0,3326;0,3888</m:t>
                        </m:r>
                      </m:e>
                    </m:d>
                  </m:oMath>
                </a14:m>
                <a:r>
                  <a:rPr lang="fr-CA" sz="1800" dirty="0">
                    <a:solidFill>
                      <a:srgbClr val="000000"/>
                    </a:solidFill>
                    <a:effectLst/>
                    <a:latin typeface="Times New Roman" panose="02020603050405020304" pitchFamily="18" charset="0"/>
                    <a:ea typeface="Times New Roman" panose="02020603050405020304" pitchFamily="18" charset="0"/>
                  </a:rPr>
                  <a:t>.</a:t>
                </a:r>
              </a:p>
              <a:p>
                <a:r>
                  <a:rPr lang="fr-CA" b="1" dirty="0">
                    <a:solidFill>
                      <a:srgbClr val="000000"/>
                    </a:solidFill>
                    <a:latin typeface="Times New Roman" panose="02020603050405020304" pitchFamily="18" charset="0"/>
                    <a:ea typeface="Times New Roman" panose="02020603050405020304" pitchFamily="18" charset="0"/>
                  </a:rPr>
                  <a:t>Conclusion:</a:t>
                </a:r>
                <a:r>
                  <a:rPr lang="fr-CA" dirty="0">
                    <a:solidFill>
                      <a:srgbClr val="000000"/>
                    </a:solidFill>
                    <a:latin typeface="Times New Roman" panose="02020603050405020304" pitchFamily="18" charset="0"/>
                    <a:ea typeface="Times New Roman" panose="02020603050405020304" pitchFamily="18" charset="0"/>
                  </a:rPr>
                  <a:t> Sur la base de cet échantillon, le pourcentage des électeurs qui vont voter pour le NPD est 36,07% avec une marge d’erreur de 2,81% et cela 19 fois sur 20.</a:t>
                </a:r>
                <a:endParaRPr lang="fr-CA" sz="1800" dirty="0">
                  <a:solidFill>
                    <a:srgbClr val="000000"/>
                  </a:solidFill>
                  <a:effectLst/>
                  <a:latin typeface="Times New Roman" panose="02020603050405020304" pitchFamily="18" charset="0"/>
                  <a:ea typeface="Times New Roman" panose="02020603050405020304" pitchFamily="18" charset="0"/>
                </a:endParaRPr>
              </a:p>
              <a:p>
                <a:endParaRPr lang="fr-CA" dirty="0"/>
              </a:p>
            </p:txBody>
          </p:sp>
        </mc:Choice>
        <mc:Fallback xmlns="">
          <p:sp>
            <p:nvSpPr>
              <p:cNvPr id="5" name="ZoneTexte 4">
                <a:extLst>
                  <a:ext uri="{FF2B5EF4-FFF2-40B4-BE49-F238E27FC236}">
                    <a16:creationId xmlns:a16="http://schemas.microsoft.com/office/drawing/2014/main" id="{71470B97-4689-4CAC-8E37-E95A9EA434C3}"/>
                  </a:ext>
                </a:extLst>
              </p:cNvPr>
              <p:cNvSpPr txBox="1">
                <a:spLocks noRot="1" noChangeAspect="1" noMove="1" noResize="1" noEditPoints="1" noAdjustHandles="1" noChangeArrowheads="1" noChangeShapeType="1" noTextEdit="1"/>
              </p:cNvSpPr>
              <p:nvPr/>
            </p:nvSpPr>
            <p:spPr>
              <a:xfrm>
                <a:off x="1062318" y="2581835"/>
                <a:ext cx="10408023" cy="3268011"/>
              </a:xfrm>
              <a:prstGeom prst="rect">
                <a:avLst/>
              </a:prstGeom>
              <a:blipFill>
                <a:blip r:embed="rId2"/>
                <a:stretch>
                  <a:fillRect l="-468" r="-878"/>
                </a:stretch>
              </a:blipFill>
            </p:spPr>
            <p:txBody>
              <a:bodyPr/>
              <a:lstStyle/>
              <a:p>
                <a:r>
                  <a:rPr lang="fr-CA">
                    <a:noFill/>
                  </a:rPr>
                  <a:t> </a:t>
                </a:r>
              </a:p>
            </p:txBody>
          </p:sp>
        </mc:Fallback>
      </mc:AlternateContent>
    </p:spTree>
    <p:extLst>
      <p:ext uri="{BB962C8B-B14F-4D97-AF65-F5344CB8AC3E}">
        <p14:creationId xmlns:p14="http://schemas.microsoft.com/office/powerpoint/2010/main" val="844760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2FE582-4568-4E42-8ED7-8706F528324A}"/>
              </a:ext>
            </a:extLst>
          </p:cNvPr>
          <p:cNvSpPr>
            <a:spLocks noGrp="1"/>
          </p:cNvSpPr>
          <p:nvPr>
            <p:ph type="title"/>
          </p:nvPr>
        </p:nvSpPr>
        <p:spPr/>
        <p:txBody>
          <a:bodyPr/>
          <a:lstStyle/>
          <a:p>
            <a:r>
              <a:rPr lang="fr-CA" b="1" dirty="0"/>
              <a:t>Utilisation du logiciel R</a:t>
            </a:r>
          </a:p>
        </p:txBody>
      </p:sp>
      <p:sp>
        <p:nvSpPr>
          <p:cNvPr id="3" name="Espace réservé du pied de page 2">
            <a:extLst>
              <a:ext uri="{FF2B5EF4-FFF2-40B4-BE49-F238E27FC236}">
                <a16:creationId xmlns:a16="http://schemas.microsoft.com/office/drawing/2014/main" id="{C4E12AB5-3D15-4925-A10B-2F1F57101F4E}"/>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D7643C8A-523B-428B-91C6-8ACD7B5E6196}"/>
              </a:ext>
            </a:extLst>
          </p:cNvPr>
          <p:cNvSpPr>
            <a:spLocks noGrp="1"/>
          </p:cNvSpPr>
          <p:nvPr>
            <p:ph type="sldNum" sz="quarter" idx="12"/>
          </p:nvPr>
        </p:nvSpPr>
        <p:spPr/>
        <p:txBody>
          <a:bodyPr/>
          <a:lstStyle/>
          <a:p>
            <a:fld id="{26377AD9-CE17-438C-A638-C64D2D42D7CF}" type="slidenum">
              <a:rPr lang="fr-CA" smtClean="0"/>
              <a:t>3</a:t>
            </a:fld>
            <a:endParaRPr lang="fr-CA"/>
          </a:p>
        </p:txBody>
      </p:sp>
      <p:sp>
        <p:nvSpPr>
          <p:cNvPr id="5" name="ZoneTexte 4">
            <a:extLst>
              <a:ext uri="{FF2B5EF4-FFF2-40B4-BE49-F238E27FC236}">
                <a16:creationId xmlns:a16="http://schemas.microsoft.com/office/drawing/2014/main" id="{93734774-7EB9-4925-B235-A98A40EB773D}"/>
              </a:ext>
            </a:extLst>
          </p:cNvPr>
          <p:cNvSpPr txBox="1"/>
          <p:nvPr/>
        </p:nvSpPr>
        <p:spPr>
          <a:xfrm>
            <a:off x="645459" y="1882588"/>
            <a:ext cx="10708341" cy="3970318"/>
          </a:xfrm>
          <a:prstGeom prst="rect">
            <a:avLst/>
          </a:prstGeom>
          <a:noFill/>
        </p:spPr>
        <p:txBody>
          <a:bodyPr wrap="square" rtlCol="0">
            <a:spAutoFit/>
          </a:bodyPr>
          <a:lstStyle/>
          <a:p>
            <a:r>
              <a:rPr lang="fr-CA" dirty="0"/>
              <a:t>On doit taper:</a:t>
            </a:r>
          </a:p>
          <a:p>
            <a:r>
              <a:rPr lang="fr-CA" dirty="0" err="1"/>
              <a:t>prop.test</a:t>
            </a:r>
            <a:r>
              <a:rPr lang="fr-CA" dirty="0"/>
              <a:t>(404,1120,conf.level=0.95)       et on obtient:</a:t>
            </a:r>
          </a:p>
          <a:p>
            <a:endParaRPr lang="fr-CA" dirty="0"/>
          </a:p>
          <a:p>
            <a:r>
              <a:rPr lang="en-US" dirty="0"/>
              <a:t>data:  404 out of 1120, null probability 0.5</a:t>
            </a:r>
          </a:p>
          <a:p>
            <a:r>
              <a:rPr lang="en-US" dirty="0"/>
              <a:t>X-squared = 86.358, df = 1, p-value &lt; 2.2e-16</a:t>
            </a:r>
          </a:p>
          <a:p>
            <a:r>
              <a:rPr lang="en-US" dirty="0"/>
              <a:t>alternative hypothesis: true p is not equal to 0.5</a:t>
            </a:r>
          </a:p>
          <a:p>
            <a:r>
              <a:rPr lang="en-US" dirty="0"/>
              <a:t>95 percent confidence interval:</a:t>
            </a:r>
          </a:p>
          <a:p>
            <a:r>
              <a:rPr lang="en-US" dirty="0">
                <a:solidFill>
                  <a:srgbClr val="FF0000"/>
                </a:solidFill>
              </a:rPr>
              <a:t> 0.3326737 0.3897222</a:t>
            </a:r>
          </a:p>
          <a:p>
            <a:r>
              <a:rPr lang="en-US" dirty="0"/>
              <a:t>sample estimates:</a:t>
            </a:r>
          </a:p>
          <a:p>
            <a:r>
              <a:rPr lang="en-US" dirty="0"/>
              <a:t>        p </a:t>
            </a:r>
          </a:p>
          <a:p>
            <a:r>
              <a:rPr lang="en-US" dirty="0"/>
              <a:t>0.3607143</a:t>
            </a:r>
          </a:p>
          <a:p>
            <a:endParaRPr lang="en-US" dirty="0"/>
          </a:p>
          <a:p>
            <a:r>
              <a:rPr lang="fr-CA" b="1" dirty="0"/>
              <a:t>Remarque: </a:t>
            </a:r>
            <a:r>
              <a:rPr lang="fr-CA" dirty="0"/>
              <a:t>Il y a une petite différence lorsqu’on utilise le logiciel, cela est dû à une méthodologie légèrement différente qui est programmée.</a:t>
            </a:r>
            <a:endParaRPr lang="fr-CA" b="1" dirty="0"/>
          </a:p>
        </p:txBody>
      </p:sp>
    </p:spTree>
    <p:extLst>
      <p:ext uri="{BB962C8B-B14F-4D97-AF65-F5344CB8AC3E}">
        <p14:creationId xmlns:p14="http://schemas.microsoft.com/office/powerpoint/2010/main" val="4029588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2B315F-D3FA-4FC7-B969-9D30BA01795A}"/>
              </a:ext>
            </a:extLst>
          </p:cNvPr>
          <p:cNvSpPr>
            <a:spLocks noGrp="1"/>
          </p:cNvSpPr>
          <p:nvPr>
            <p:ph type="title"/>
          </p:nvPr>
        </p:nvSpPr>
        <p:spPr/>
        <p:txBody>
          <a:bodyPr/>
          <a:lstStyle/>
          <a:p>
            <a:r>
              <a:rPr lang="fr-CA" dirty="0"/>
              <a:t>Deux proportions indépendantes</a:t>
            </a:r>
          </a:p>
        </p:txBody>
      </p:sp>
      <p:sp>
        <p:nvSpPr>
          <p:cNvPr id="3" name="Espace réservé du pied de page 2">
            <a:extLst>
              <a:ext uri="{FF2B5EF4-FFF2-40B4-BE49-F238E27FC236}">
                <a16:creationId xmlns:a16="http://schemas.microsoft.com/office/drawing/2014/main" id="{1552AF2A-343E-4323-A457-28EF220B03B5}"/>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6309C468-CB46-43D3-A01F-3A19982940B5}"/>
              </a:ext>
            </a:extLst>
          </p:cNvPr>
          <p:cNvSpPr>
            <a:spLocks noGrp="1"/>
          </p:cNvSpPr>
          <p:nvPr>
            <p:ph type="sldNum" sz="quarter" idx="12"/>
          </p:nvPr>
        </p:nvSpPr>
        <p:spPr/>
        <p:txBody>
          <a:bodyPr/>
          <a:lstStyle/>
          <a:p>
            <a:fld id="{26377AD9-CE17-438C-A638-C64D2D42D7CF}" type="slidenum">
              <a:rPr lang="fr-CA" smtClean="0"/>
              <a:t>4</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51CD8442-96BD-4DD8-BD80-CE72C4477B0B}"/>
                  </a:ext>
                </a:extLst>
              </p:cNvPr>
              <p:cNvSpPr txBox="1"/>
              <p:nvPr/>
            </p:nvSpPr>
            <p:spPr>
              <a:xfrm>
                <a:off x="1116106" y="1949824"/>
                <a:ext cx="9950823" cy="4256614"/>
              </a:xfrm>
              <a:prstGeom prst="rect">
                <a:avLst/>
              </a:prstGeom>
              <a:noFill/>
            </p:spPr>
            <p:txBody>
              <a:bodyPr wrap="square" rtlCol="0">
                <a:spAutoFit/>
              </a:bodyPr>
              <a:lstStyle/>
              <a:p>
                <a:r>
                  <a:rPr lang="fr-CA" dirty="0"/>
                  <a:t>Soient deux populations différentes, dans lesquelles on s’intéresse à un caractère qui est présent dans la population 1 avec une proportion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r>
                      <a:rPr lang="fr-CA" b="0" i="1" smtClean="0">
                        <a:latin typeface="Cambria Math" panose="02040503050406030204" pitchFamily="18" charset="0"/>
                      </a:rPr>
                      <m:t>   </m:t>
                    </m:r>
                    <m:r>
                      <a:rPr lang="fr-CA" b="0" i="1" smtClean="0">
                        <a:latin typeface="Cambria Math" panose="02040503050406030204" pitchFamily="18" charset="0"/>
                      </a:rPr>
                      <m:t>𝑒𝑡</m:t>
                    </m:r>
                    <m:r>
                      <a:rPr lang="fr-CA" b="0" i="1" smtClean="0">
                        <a:latin typeface="Cambria Math" panose="02040503050406030204" pitchFamily="18" charset="0"/>
                      </a:rPr>
                      <m:t> </m:t>
                    </m:r>
                    <m:r>
                      <a:rPr lang="fr-CA" b="0" i="1" smtClean="0">
                        <a:latin typeface="Cambria Math" panose="02040503050406030204" pitchFamily="18" charset="0"/>
                      </a:rPr>
                      <m:t>𝑑𝑎𝑛𝑠</m:t>
                    </m:r>
                    <m:r>
                      <a:rPr lang="fr-CA" b="0" i="1" smtClean="0">
                        <a:latin typeface="Cambria Math" panose="02040503050406030204" pitchFamily="18" charset="0"/>
                      </a:rPr>
                      <m:t> </m:t>
                    </m:r>
                    <m:r>
                      <a:rPr lang="fr-CA" b="0" i="1" smtClean="0">
                        <a:latin typeface="Cambria Math" panose="02040503050406030204" pitchFamily="18" charset="0"/>
                      </a:rPr>
                      <m:t>𝑙𝑎</m:t>
                    </m:r>
                    <m:r>
                      <a:rPr lang="fr-CA" b="0" i="1" smtClean="0">
                        <a:latin typeface="Cambria Math" panose="02040503050406030204" pitchFamily="18" charset="0"/>
                      </a:rPr>
                      <m:t> </m:t>
                    </m:r>
                    <m:r>
                      <a:rPr lang="fr-CA" b="0" i="1" smtClean="0">
                        <a:latin typeface="Cambria Math" panose="02040503050406030204" pitchFamily="18" charset="0"/>
                      </a:rPr>
                      <m:t>𝑝𝑜𝑝𝑢𝑙𝑎𝑡𝑖𝑜𝑛</m:t>
                    </m:r>
                    <m:r>
                      <a:rPr lang="fr-CA" b="0" i="1" smtClean="0">
                        <a:latin typeface="Cambria Math" panose="02040503050406030204" pitchFamily="18" charset="0"/>
                      </a:rPr>
                      <m:t> 2 </m:t>
                    </m:r>
                    <m:r>
                      <a:rPr lang="fr-CA" b="0" i="1" smtClean="0">
                        <a:latin typeface="Cambria Math" panose="02040503050406030204" pitchFamily="18" charset="0"/>
                      </a:rPr>
                      <m:t>𝑎𝑣𝑒𝑐</m:t>
                    </m:r>
                    <m:r>
                      <a:rPr lang="fr-CA" b="0" i="1" smtClean="0">
                        <a:latin typeface="Cambria Math" panose="02040503050406030204" pitchFamily="18" charset="0"/>
                      </a:rPr>
                      <m:t> </m:t>
                    </m:r>
                    <m:r>
                      <a:rPr lang="fr-CA" b="0" i="1" smtClean="0">
                        <a:latin typeface="Cambria Math" panose="02040503050406030204" pitchFamily="18" charset="0"/>
                      </a:rPr>
                      <m:t>𝑢𝑛𝑒</m:t>
                    </m:r>
                    <m:r>
                      <a:rPr lang="fr-CA" b="0" i="1" smtClean="0">
                        <a:latin typeface="Cambria Math" panose="02040503050406030204" pitchFamily="18" charset="0"/>
                      </a:rPr>
                      <m:t> </m:t>
                    </m:r>
                    <m:r>
                      <a:rPr lang="fr-CA" b="0" i="1" smtClean="0">
                        <a:latin typeface="Cambria Math" panose="02040503050406030204" pitchFamily="18" charset="0"/>
                      </a:rPr>
                      <m:t>𝑝𝑟𝑜𝑝𝑜𝑟𝑡𝑖𝑜𝑛</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2</m:t>
                        </m:r>
                      </m:sub>
                    </m:sSub>
                    <m:r>
                      <a:rPr lang="fr-CA" b="0" i="1" smtClean="0">
                        <a:latin typeface="Cambria Math" panose="02040503050406030204" pitchFamily="18" charset="0"/>
                      </a:rPr>
                      <m:t>  </m:t>
                    </m:r>
                    <m:d>
                      <m:dPr>
                        <m:ctrlPr>
                          <a:rPr lang="fr-CA" b="0" i="1" smtClean="0">
                            <a:latin typeface="Cambria Math" panose="02040503050406030204" pitchFamily="18" charset="0"/>
                          </a:rPr>
                        </m:ctrlPr>
                      </m:dPr>
                      <m:e>
                        <m:r>
                          <a:rPr lang="fr-CA" b="0" i="1" smtClean="0">
                            <a:latin typeface="Cambria Math" panose="02040503050406030204" pitchFamily="18" charset="0"/>
                          </a:rPr>
                          <m:t>𝑖𝑛𝑐𝑜𝑛𝑛𝑢𝑒𝑠</m:t>
                        </m:r>
                      </m:e>
                    </m:d>
                    <m:r>
                      <a:rPr lang="fr-CA" b="0" i="1" smtClean="0">
                        <a:latin typeface="Cambria Math" panose="02040503050406030204" pitchFamily="18" charset="0"/>
                      </a:rPr>
                      <m:t>.</m:t>
                    </m:r>
                  </m:oMath>
                </a14:m>
                <a:r>
                  <a:rPr lang="fr-CA" dirty="0"/>
                  <a:t> </a:t>
                </a:r>
              </a:p>
              <a:p>
                <a:endParaRPr lang="fr-CA" dirty="0"/>
              </a:p>
              <a:p>
                <a:r>
                  <a:rPr lang="fr-CA" dirty="0"/>
                  <a:t>Alors on sélectionne au hasard un échantillon de taille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1</m:t>
                        </m:r>
                      </m:sub>
                    </m:sSub>
                  </m:oMath>
                </a14:m>
                <a:r>
                  <a:rPr lang="fr-CA" dirty="0"/>
                  <a:t>de la population 1 et de taille </a:t>
                </a:r>
                <a14:m>
                  <m:oMath xmlns:m="http://schemas.openxmlformats.org/officeDocument/2006/math">
                    <m:sSub>
                      <m:sSubPr>
                        <m:ctrlPr>
                          <a:rPr lang="fr-CA" i="1" smtClean="0">
                            <a:latin typeface="Cambria Math" panose="02040503050406030204" pitchFamily="18" charset="0"/>
                          </a:rPr>
                        </m:ctrlPr>
                      </m:sSubPr>
                      <m:e>
                        <m:r>
                          <a:rPr lang="fr-CA" i="1">
                            <a:latin typeface="Cambria Math" panose="02040503050406030204" pitchFamily="18" charset="0"/>
                          </a:rPr>
                          <m:t>𝑛</m:t>
                        </m:r>
                      </m:e>
                      <m:sub>
                        <m:r>
                          <a:rPr lang="fr-CA" b="0" i="1" smtClean="0">
                            <a:latin typeface="Cambria Math" panose="02040503050406030204" pitchFamily="18" charset="0"/>
                          </a:rPr>
                          <m:t>2</m:t>
                        </m:r>
                      </m:sub>
                    </m:sSub>
                    <m:r>
                      <a:rPr lang="fr-CA" b="0" i="1" smtClean="0">
                        <a:latin typeface="Cambria Math" panose="02040503050406030204" pitchFamily="18" charset="0"/>
                      </a:rPr>
                      <m:t> </m:t>
                    </m:r>
                  </m:oMath>
                </a14:m>
                <a:r>
                  <a:rPr lang="fr-CA" dirty="0"/>
                  <a:t>de la population 2 et on calcule les proportions des deux échantillons </a:t>
                </a:r>
                <a14:m>
                  <m:oMath xmlns:m="http://schemas.openxmlformats.org/officeDocument/2006/math">
                    <m:acc>
                      <m:accPr>
                        <m:chr m:val="̂"/>
                        <m:ctrlPr>
                          <a:rPr lang="fr-CA" i="1" smtClean="0">
                            <a:latin typeface="Cambria Math" panose="02040503050406030204" pitchFamily="18" charset="0"/>
                          </a:rPr>
                        </m:ctrlPr>
                      </m:accPr>
                      <m:e>
                        <m:sSub>
                          <m:sSubPr>
                            <m:ctrlPr>
                              <a:rPr lang="fr-CA"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e>
                    </m:acc>
                    <m:r>
                      <a:rPr lang="fr-CA" b="0" i="1" smtClean="0">
                        <a:latin typeface="Cambria Math" panose="02040503050406030204" pitchFamily="18" charset="0"/>
                      </a:rPr>
                      <m:t>    </m:t>
                    </m:r>
                    <m:r>
                      <a:rPr lang="fr-CA" b="0" i="1" smtClean="0">
                        <a:latin typeface="Cambria Math" panose="02040503050406030204" pitchFamily="18" charset="0"/>
                      </a:rPr>
                      <m:t>𝑒𝑡</m:t>
                    </m:r>
                    <m:r>
                      <a:rPr lang="fr-CA" b="0" i="1" smtClean="0">
                        <a:latin typeface="Cambria Math" panose="02040503050406030204" pitchFamily="18" charset="0"/>
                      </a:rPr>
                      <m:t>   </m:t>
                    </m:r>
                    <m:acc>
                      <m:accPr>
                        <m:chr m:val="̂"/>
                        <m:ctrlPr>
                          <a:rPr lang="fr-CA" b="0" i="1" smtClean="0">
                            <a:latin typeface="Cambria Math" panose="02040503050406030204" pitchFamily="18" charset="0"/>
                          </a:rPr>
                        </m:ctrlPr>
                      </m:acc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2</m:t>
                            </m:r>
                          </m:sub>
                        </m:sSub>
                      </m:e>
                    </m:acc>
                  </m:oMath>
                </a14:m>
                <a:r>
                  <a:rPr lang="fr-CA" dirty="0"/>
                  <a:t>  et on vérifie les conditions d’applications à savoir:</a:t>
                </a:r>
              </a:p>
              <a:p>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1</m:t>
                        </m:r>
                      </m:sub>
                    </m:sSub>
                    <m:r>
                      <a:rPr lang="fr-CA" i="1" smtClean="0">
                        <a:latin typeface="Cambria Math" panose="02040503050406030204" pitchFamily="18" charset="0"/>
                        <a:ea typeface="Cambria Math" panose="02040503050406030204" pitchFamily="18" charset="0"/>
                      </a:rPr>
                      <m:t>&gt;</m:t>
                    </m:r>
                    <m:r>
                      <a:rPr lang="fr-CA" b="0" i="1" smtClean="0">
                        <a:latin typeface="Cambria Math" panose="02040503050406030204" pitchFamily="18" charset="0"/>
                        <a:ea typeface="Cambria Math" panose="02040503050406030204" pitchFamily="18" charset="0"/>
                      </a:rPr>
                      <m:t>30;</m:t>
                    </m:r>
                    <m:sSub>
                      <m:sSubPr>
                        <m:ctrlPr>
                          <a:rPr lang="fr-CA" i="1">
                            <a:latin typeface="Cambria Math" panose="02040503050406030204" pitchFamily="18" charset="0"/>
                          </a:rPr>
                        </m:ctrlPr>
                      </m:sSubPr>
                      <m:e>
                        <m:r>
                          <a:rPr lang="fr-CA" i="1">
                            <a:latin typeface="Cambria Math" panose="02040503050406030204" pitchFamily="18" charset="0"/>
                          </a:rPr>
                          <m:t>𝑛</m:t>
                        </m:r>
                      </m:e>
                      <m:sub>
                        <m:r>
                          <a:rPr lang="fr-CA" i="1">
                            <a:latin typeface="Cambria Math" panose="02040503050406030204" pitchFamily="18" charset="0"/>
                          </a:rPr>
                          <m:t>1</m:t>
                        </m:r>
                      </m:sub>
                    </m:sSub>
                  </m:oMath>
                </a14:m>
                <a:r>
                  <a:rPr lang="fr-CA" dirty="0"/>
                  <a:t>*</a:t>
                </a:r>
                <a14:m>
                  <m:oMath xmlns:m="http://schemas.openxmlformats.org/officeDocument/2006/math">
                    <m:acc>
                      <m:accPr>
                        <m:chr m:val="̂"/>
                        <m:ctrlPr>
                          <a:rPr lang="fr-CA" i="1" dirty="0" smtClean="0">
                            <a:latin typeface="Cambria Math" panose="02040503050406030204" pitchFamily="18" charset="0"/>
                          </a:rPr>
                        </m:ctrlPr>
                      </m:accPr>
                      <m:e>
                        <m:sSub>
                          <m:sSubPr>
                            <m:ctrlPr>
                              <a:rPr lang="fr-CA" i="1" dirty="0" smtClean="0">
                                <a:latin typeface="Cambria Math" panose="02040503050406030204" pitchFamily="18" charset="0"/>
                              </a:rPr>
                            </m:ctrlPr>
                          </m:sSubPr>
                          <m:e>
                            <m:r>
                              <a:rPr lang="fr-CA" b="0" i="1" dirty="0" smtClean="0">
                                <a:latin typeface="Cambria Math" panose="02040503050406030204" pitchFamily="18" charset="0"/>
                              </a:rPr>
                              <m:t>𝑝</m:t>
                            </m:r>
                          </m:e>
                          <m:sub>
                            <m:r>
                              <a:rPr lang="fr-CA" b="0" i="1" dirty="0" smtClean="0">
                                <a:latin typeface="Cambria Math" panose="02040503050406030204" pitchFamily="18" charset="0"/>
                              </a:rPr>
                              <m:t>1</m:t>
                            </m:r>
                          </m:sub>
                        </m:sSub>
                      </m:e>
                    </m:acc>
                    <m:r>
                      <a:rPr lang="fr-CA" i="1" dirty="0" smtClean="0">
                        <a:latin typeface="Cambria Math" panose="02040503050406030204" pitchFamily="18" charset="0"/>
                        <a:ea typeface="Cambria Math" panose="02040503050406030204" pitchFamily="18" charset="0"/>
                      </a:rPr>
                      <m:t>&gt;</m:t>
                    </m:r>
                    <m:r>
                      <a:rPr lang="fr-CA" b="0" i="1" dirty="0" smtClean="0">
                        <a:latin typeface="Cambria Math" panose="02040503050406030204" pitchFamily="18" charset="0"/>
                        <a:ea typeface="Cambria Math" panose="02040503050406030204" pitchFamily="18" charset="0"/>
                      </a:rPr>
                      <m:t>5    </m:t>
                    </m:r>
                    <m:r>
                      <a:rPr lang="fr-CA" b="0" i="1" dirty="0" smtClean="0">
                        <a:latin typeface="Cambria Math" panose="02040503050406030204" pitchFamily="18" charset="0"/>
                        <a:ea typeface="Cambria Math" panose="02040503050406030204" pitchFamily="18" charset="0"/>
                      </a:rPr>
                      <m:t>𝑒𝑡</m:t>
                    </m:r>
                    <m:r>
                      <a:rPr lang="fr-CA" b="0" i="1" dirty="0" smtClean="0">
                        <a:latin typeface="Cambria Math" panose="02040503050406030204" pitchFamily="18" charset="0"/>
                        <a:ea typeface="Cambria Math" panose="02040503050406030204" pitchFamily="18" charset="0"/>
                      </a:rPr>
                      <m:t> </m:t>
                    </m:r>
                    <m:sSub>
                      <m:sSubPr>
                        <m:ctrlPr>
                          <a:rPr lang="fr-CA" i="1">
                            <a:latin typeface="Cambria Math" panose="02040503050406030204" pitchFamily="18" charset="0"/>
                          </a:rPr>
                        </m:ctrlPr>
                      </m:sSubPr>
                      <m:e>
                        <m:r>
                          <a:rPr lang="fr-CA" i="1">
                            <a:latin typeface="Cambria Math" panose="02040503050406030204" pitchFamily="18" charset="0"/>
                          </a:rPr>
                          <m:t>𝑛</m:t>
                        </m:r>
                      </m:e>
                      <m:sub>
                        <m:r>
                          <a:rPr lang="fr-CA" i="1">
                            <a:latin typeface="Cambria Math" panose="02040503050406030204" pitchFamily="18" charset="0"/>
                          </a:rPr>
                          <m:t>1</m:t>
                        </m:r>
                      </m:sub>
                    </m:sSub>
                    <m:r>
                      <m:rPr>
                        <m:nor/>
                      </m:rPr>
                      <a:rPr lang="fr-CA" dirty="0"/>
                      <m:t>∗</m:t>
                    </m:r>
                    <m:acc>
                      <m:accPr>
                        <m:chr m:val="̂"/>
                        <m:ctrlPr>
                          <a:rPr lang="fr-CA" i="1" dirty="0">
                            <a:latin typeface="Cambria Math" panose="02040503050406030204" pitchFamily="18" charset="0"/>
                          </a:rPr>
                        </m:ctrlPr>
                      </m:accPr>
                      <m:e>
                        <m:sSub>
                          <m:sSubPr>
                            <m:ctrlPr>
                              <a:rPr lang="fr-CA" i="1" dirty="0">
                                <a:latin typeface="Cambria Math" panose="02040503050406030204" pitchFamily="18" charset="0"/>
                              </a:rPr>
                            </m:ctrlPr>
                          </m:sSubPr>
                          <m:e>
                            <m:r>
                              <a:rPr lang="fr-CA" b="0" i="1" dirty="0" smtClean="0">
                                <a:latin typeface="Cambria Math" panose="02040503050406030204" pitchFamily="18" charset="0"/>
                              </a:rPr>
                              <m:t>1−</m:t>
                            </m:r>
                            <m:r>
                              <a:rPr lang="fr-CA" i="1" dirty="0">
                                <a:latin typeface="Cambria Math" panose="02040503050406030204" pitchFamily="18" charset="0"/>
                              </a:rPr>
                              <m:t>𝑝</m:t>
                            </m:r>
                          </m:e>
                          <m:sub>
                            <m:r>
                              <a:rPr lang="fr-CA" i="1" dirty="0">
                                <a:latin typeface="Cambria Math" panose="02040503050406030204" pitchFamily="18" charset="0"/>
                              </a:rPr>
                              <m:t>1</m:t>
                            </m:r>
                          </m:sub>
                        </m:sSub>
                      </m:e>
                    </m:acc>
                    <m:r>
                      <a:rPr lang="fr-CA" i="1" dirty="0">
                        <a:latin typeface="Cambria Math" panose="02040503050406030204" pitchFamily="18" charset="0"/>
                        <a:ea typeface="Cambria Math" panose="02040503050406030204" pitchFamily="18" charset="0"/>
                      </a:rPr>
                      <m:t>&gt;5 </m:t>
                    </m:r>
                  </m:oMath>
                </a14:m>
                <a:r>
                  <a:rPr lang="fr-CA" dirty="0"/>
                  <a:t> de même </a:t>
                </a:r>
                <a14:m>
                  <m:oMath xmlns:m="http://schemas.openxmlformats.org/officeDocument/2006/math">
                    <m:sSub>
                      <m:sSubPr>
                        <m:ctrlPr>
                          <a:rPr lang="fr-CA" i="1">
                            <a:latin typeface="Cambria Math" panose="02040503050406030204" pitchFamily="18" charset="0"/>
                          </a:rPr>
                        </m:ctrlPr>
                      </m:sSubPr>
                      <m:e>
                        <m:r>
                          <a:rPr lang="fr-CA" i="1">
                            <a:latin typeface="Cambria Math" panose="02040503050406030204" pitchFamily="18" charset="0"/>
                          </a:rPr>
                          <m:t>𝑛</m:t>
                        </m:r>
                      </m:e>
                      <m:sub>
                        <m:r>
                          <a:rPr lang="fr-CA" b="0" i="1" smtClean="0">
                            <a:latin typeface="Cambria Math" panose="02040503050406030204" pitchFamily="18" charset="0"/>
                          </a:rPr>
                          <m:t>2</m:t>
                        </m:r>
                      </m:sub>
                    </m:sSub>
                    <m:r>
                      <a:rPr lang="fr-CA" i="1">
                        <a:latin typeface="Cambria Math" panose="02040503050406030204" pitchFamily="18" charset="0"/>
                        <a:ea typeface="Cambria Math" panose="02040503050406030204" pitchFamily="18" charset="0"/>
                      </a:rPr>
                      <m:t>&gt;30;</m:t>
                    </m:r>
                    <m:sSub>
                      <m:sSubPr>
                        <m:ctrlPr>
                          <a:rPr lang="fr-CA" i="1">
                            <a:latin typeface="Cambria Math" panose="02040503050406030204" pitchFamily="18" charset="0"/>
                          </a:rPr>
                        </m:ctrlPr>
                      </m:sSubPr>
                      <m:e>
                        <m:r>
                          <a:rPr lang="fr-CA" i="1">
                            <a:latin typeface="Cambria Math" panose="02040503050406030204" pitchFamily="18" charset="0"/>
                          </a:rPr>
                          <m:t>𝑛</m:t>
                        </m:r>
                      </m:e>
                      <m:sub>
                        <m:r>
                          <a:rPr lang="fr-CA" b="0" i="1" smtClean="0">
                            <a:latin typeface="Cambria Math" panose="02040503050406030204" pitchFamily="18" charset="0"/>
                          </a:rPr>
                          <m:t>2</m:t>
                        </m:r>
                      </m:sub>
                    </m:sSub>
                  </m:oMath>
                </a14:m>
                <a:r>
                  <a:rPr lang="fr-CA" dirty="0"/>
                  <a:t>*</a:t>
                </a:r>
                <a14:m>
                  <m:oMath xmlns:m="http://schemas.openxmlformats.org/officeDocument/2006/math">
                    <m:acc>
                      <m:accPr>
                        <m:chr m:val="̂"/>
                        <m:ctrlPr>
                          <a:rPr lang="fr-CA" i="1" dirty="0">
                            <a:latin typeface="Cambria Math" panose="02040503050406030204" pitchFamily="18" charset="0"/>
                          </a:rPr>
                        </m:ctrlPr>
                      </m:accPr>
                      <m:e>
                        <m:sSub>
                          <m:sSubPr>
                            <m:ctrlPr>
                              <a:rPr lang="fr-CA" i="1" dirty="0">
                                <a:latin typeface="Cambria Math" panose="02040503050406030204" pitchFamily="18" charset="0"/>
                              </a:rPr>
                            </m:ctrlPr>
                          </m:sSubPr>
                          <m:e>
                            <m:r>
                              <a:rPr lang="fr-CA" i="1" dirty="0">
                                <a:latin typeface="Cambria Math" panose="02040503050406030204" pitchFamily="18" charset="0"/>
                              </a:rPr>
                              <m:t>𝑝</m:t>
                            </m:r>
                          </m:e>
                          <m:sub>
                            <m:r>
                              <a:rPr lang="fr-CA" b="0" i="1" dirty="0" smtClean="0">
                                <a:latin typeface="Cambria Math" panose="02040503050406030204" pitchFamily="18" charset="0"/>
                              </a:rPr>
                              <m:t>2</m:t>
                            </m:r>
                          </m:sub>
                        </m:sSub>
                      </m:e>
                    </m:acc>
                    <m:r>
                      <a:rPr lang="fr-CA" i="1" dirty="0">
                        <a:latin typeface="Cambria Math" panose="02040503050406030204" pitchFamily="18" charset="0"/>
                        <a:ea typeface="Cambria Math" panose="02040503050406030204" pitchFamily="18" charset="0"/>
                      </a:rPr>
                      <m:t>&gt;5    </m:t>
                    </m:r>
                    <m:r>
                      <a:rPr lang="fr-CA" i="1" dirty="0">
                        <a:latin typeface="Cambria Math" panose="02040503050406030204" pitchFamily="18" charset="0"/>
                        <a:ea typeface="Cambria Math" panose="02040503050406030204" pitchFamily="18" charset="0"/>
                      </a:rPr>
                      <m:t>𝑒𝑡</m:t>
                    </m:r>
                    <m:r>
                      <a:rPr lang="fr-CA" i="1" dirty="0">
                        <a:latin typeface="Cambria Math" panose="02040503050406030204" pitchFamily="18" charset="0"/>
                        <a:ea typeface="Cambria Math" panose="02040503050406030204" pitchFamily="18" charset="0"/>
                      </a:rPr>
                      <m:t> </m:t>
                    </m:r>
                    <m:sSub>
                      <m:sSubPr>
                        <m:ctrlPr>
                          <a:rPr lang="fr-CA" i="1">
                            <a:latin typeface="Cambria Math" panose="02040503050406030204" pitchFamily="18" charset="0"/>
                          </a:rPr>
                        </m:ctrlPr>
                      </m:sSubPr>
                      <m:e>
                        <m:r>
                          <a:rPr lang="fr-CA" i="1">
                            <a:latin typeface="Cambria Math" panose="02040503050406030204" pitchFamily="18" charset="0"/>
                          </a:rPr>
                          <m:t>𝑛</m:t>
                        </m:r>
                      </m:e>
                      <m:sub>
                        <m:r>
                          <a:rPr lang="fr-CA" b="0" i="1" smtClean="0">
                            <a:latin typeface="Cambria Math" panose="02040503050406030204" pitchFamily="18" charset="0"/>
                          </a:rPr>
                          <m:t>2</m:t>
                        </m:r>
                      </m:sub>
                    </m:sSub>
                    <m:r>
                      <m:rPr>
                        <m:nor/>
                      </m:rPr>
                      <a:rPr lang="fr-CA" dirty="0"/>
                      <m:t>∗</m:t>
                    </m:r>
                    <m:acc>
                      <m:accPr>
                        <m:chr m:val="̂"/>
                        <m:ctrlPr>
                          <a:rPr lang="fr-CA" i="1" dirty="0">
                            <a:latin typeface="Cambria Math" panose="02040503050406030204" pitchFamily="18" charset="0"/>
                          </a:rPr>
                        </m:ctrlPr>
                      </m:accPr>
                      <m:e>
                        <m:sSub>
                          <m:sSubPr>
                            <m:ctrlPr>
                              <a:rPr lang="fr-CA" i="1" dirty="0">
                                <a:latin typeface="Cambria Math" panose="02040503050406030204" pitchFamily="18" charset="0"/>
                              </a:rPr>
                            </m:ctrlPr>
                          </m:sSubPr>
                          <m:e>
                            <m:r>
                              <a:rPr lang="fr-CA" i="1" dirty="0">
                                <a:latin typeface="Cambria Math" panose="02040503050406030204" pitchFamily="18" charset="0"/>
                              </a:rPr>
                              <m:t>1−</m:t>
                            </m:r>
                            <m:r>
                              <a:rPr lang="fr-CA" i="1" dirty="0">
                                <a:latin typeface="Cambria Math" panose="02040503050406030204" pitchFamily="18" charset="0"/>
                              </a:rPr>
                              <m:t>𝑝</m:t>
                            </m:r>
                          </m:e>
                          <m:sub>
                            <m:r>
                              <a:rPr lang="fr-CA" b="0" i="1" dirty="0" smtClean="0">
                                <a:latin typeface="Cambria Math" panose="02040503050406030204" pitchFamily="18" charset="0"/>
                              </a:rPr>
                              <m:t>2</m:t>
                            </m:r>
                          </m:sub>
                        </m:sSub>
                      </m:e>
                    </m:acc>
                    <m:r>
                      <a:rPr lang="fr-CA" i="1" dirty="0">
                        <a:latin typeface="Cambria Math" panose="02040503050406030204" pitchFamily="18" charset="0"/>
                        <a:ea typeface="Cambria Math" panose="02040503050406030204" pitchFamily="18" charset="0"/>
                      </a:rPr>
                      <m:t>&gt;5 </m:t>
                    </m:r>
                  </m:oMath>
                </a14:m>
                <a:endParaRPr lang="fr-CA" dirty="0"/>
              </a:p>
              <a:p>
                <a:endParaRPr lang="fr-CA" dirty="0"/>
              </a:p>
              <a:p>
                <a:endParaRPr lang="fr-CA" dirty="0"/>
              </a:p>
              <a:p>
                <a:r>
                  <a:rPr lang="fr-CA" dirty="0"/>
                  <a:t>PARTIE 1: ESTIMATION PAR INTERVALLE DE CONFIANCE.</a:t>
                </a:r>
              </a:p>
              <a:p>
                <a:endParaRPr lang="fr-CA" dirty="0"/>
              </a:p>
              <a:p>
                <a:r>
                  <a:rPr lang="fr-CA" dirty="0"/>
                  <a:t>On se fixe </a:t>
                </a:r>
                <a14:m>
                  <m:oMath xmlns:m="http://schemas.openxmlformats.org/officeDocument/2006/math">
                    <m:r>
                      <a:rPr lang="fr-CA" i="1" smtClean="0">
                        <a:latin typeface="Cambria Math" panose="02040503050406030204" pitchFamily="18" charset="0"/>
                        <a:ea typeface="Cambria Math" panose="02040503050406030204" pitchFamily="18" charset="0"/>
                      </a:rPr>
                      <m:t>𝛼</m:t>
                    </m:r>
                  </m:oMath>
                </a14:m>
                <a:r>
                  <a:rPr lang="fr-CA" dirty="0"/>
                  <a:t> et on sait que:</a:t>
                </a:r>
              </a:p>
              <a:p>
                <a14:m>
                  <m:oMath xmlns:m="http://schemas.openxmlformats.org/officeDocument/2006/math">
                    <m:acc>
                      <m:accPr>
                        <m:chr m:val="̂"/>
                        <m:ctrlPr>
                          <a:rPr lang="fr-CA" i="1" smtClean="0">
                            <a:latin typeface="Cambria Math" panose="02040503050406030204" pitchFamily="18" charset="0"/>
                          </a:rPr>
                        </m:ctrlPr>
                      </m:accPr>
                      <m:e>
                        <m:sSub>
                          <m:sSubPr>
                            <m:ctrlPr>
                              <a:rPr lang="fr-CA"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e>
                    </m:acc>
                  </m:oMath>
                </a14:m>
                <a:r>
                  <a:rPr lang="fr-CA" dirty="0"/>
                  <a:t>    est normalement distribuée avec une moyenne </a:t>
                </a:r>
                <a14:m>
                  <m:oMath xmlns:m="http://schemas.openxmlformats.org/officeDocument/2006/math">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1</m:t>
                        </m:r>
                      </m:sub>
                    </m:sSub>
                    <m:r>
                      <a:rPr lang="fr-CA" i="1">
                        <a:latin typeface="Cambria Math" panose="02040503050406030204" pitchFamily="18" charset="0"/>
                      </a:rPr>
                      <m:t> </m:t>
                    </m:r>
                  </m:oMath>
                </a14:m>
                <a:r>
                  <a:rPr lang="fr-CA" dirty="0"/>
                  <a:t>    et une variance </a:t>
                </a:r>
                <a14:m>
                  <m:oMath xmlns:m="http://schemas.openxmlformats.org/officeDocument/2006/math">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1</m:t>
                        </m:r>
                      </m:sub>
                    </m:sSub>
                    <m:r>
                      <a:rPr lang="fr-CA" i="1">
                        <a:latin typeface="Cambria Math" panose="02040503050406030204" pitchFamily="18" charset="0"/>
                      </a:rPr>
                      <m:t> </m:t>
                    </m:r>
                    <m:r>
                      <a:rPr lang="fr-CA" b="0" i="1" smtClean="0">
                        <a:latin typeface="Cambria Math" panose="02040503050406030204" pitchFamily="18" charset="0"/>
                      </a:rPr>
                      <m:t>∗(1−</m:t>
                    </m:r>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1</m:t>
                        </m:r>
                      </m:sub>
                    </m:sSub>
                  </m:oMath>
                </a14:m>
                <a:r>
                  <a:rPr lang="fr-CA" dirty="0"/>
                  <a:t>)/ </a:t>
                </a:r>
                <a14:m>
                  <m:oMath xmlns:m="http://schemas.openxmlformats.org/officeDocument/2006/math">
                    <m:sSub>
                      <m:sSubPr>
                        <m:ctrlPr>
                          <a:rPr lang="fr-CA" i="1">
                            <a:latin typeface="Cambria Math" panose="02040503050406030204" pitchFamily="18" charset="0"/>
                          </a:rPr>
                        </m:ctrlPr>
                      </m:sSubPr>
                      <m:e>
                        <m:r>
                          <a:rPr lang="fr-CA" i="1">
                            <a:latin typeface="Cambria Math" panose="02040503050406030204" pitchFamily="18" charset="0"/>
                          </a:rPr>
                          <m:t>𝑛</m:t>
                        </m:r>
                      </m:e>
                      <m:sub>
                        <m:r>
                          <a:rPr lang="fr-CA" i="1">
                            <a:latin typeface="Cambria Math" panose="02040503050406030204" pitchFamily="18" charset="0"/>
                          </a:rPr>
                          <m:t>1</m:t>
                        </m:r>
                      </m:sub>
                    </m:sSub>
                  </m:oMath>
                </a14:m>
                <a:r>
                  <a:rPr lang="fr-CA" dirty="0"/>
                  <a:t>.</a:t>
                </a:r>
              </a:p>
              <a:p>
                <a:r>
                  <a:rPr lang="fr-CA" dirty="0"/>
                  <a:t>Et  </a:t>
                </a:r>
                <a14:m>
                  <m:oMath xmlns:m="http://schemas.openxmlformats.org/officeDocument/2006/math">
                    <m:acc>
                      <m:accPr>
                        <m:chr m:val="̂"/>
                        <m:ctrlPr>
                          <a:rPr lang="fr-CA" i="1" smtClean="0">
                            <a:latin typeface="Cambria Math" panose="02040503050406030204" pitchFamily="18" charset="0"/>
                          </a:rPr>
                        </m:ctrlPr>
                      </m:accPr>
                      <m:e>
                        <m:sSub>
                          <m:sSubPr>
                            <m:ctrlPr>
                              <a:rPr lang="fr-CA"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2</m:t>
                            </m:r>
                          </m:sub>
                        </m:sSub>
                      </m:e>
                    </m:acc>
                  </m:oMath>
                </a14:m>
                <a:r>
                  <a:rPr lang="fr-CA" dirty="0"/>
                  <a:t>    est normalement distribuée avec une moyenne </a:t>
                </a:r>
                <a14:m>
                  <m:oMath xmlns:m="http://schemas.openxmlformats.org/officeDocument/2006/math">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b="0" i="1" smtClean="0">
                            <a:latin typeface="Cambria Math" panose="02040503050406030204" pitchFamily="18" charset="0"/>
                          </a:rPr>
                          <m:t>2</m:t>
                        </m:r>
                      </m:sub>
                    </m:sSub>
                    <m:r>
                      <a:rPr lang="fr-CA" i="1">
                        <a:latin typeface="Cambria Math" panose="02040503050406030204" pitchFamily="18" charset="0"/>
                      </a:rPr>
                      <m:t> </m:t>
                    </m:r>
                  </m:oMath>
                </a14:m>
                <a:r>
                  <a:rPr lang="fr-CA" dirty="0"/>
                  <a:t>    et une variance </a:t>
                </a:r>
                <a14:m>
                  <m:oMath xmlns:m="http://schemas.openxmlformats.org/officeDocument/2006/math">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b="0" i="1" smtClean="0">
                            <a:latin typeface="Cambria Math" panose="02040503050406030204" pitchFamily="18" charset="0"/>
                          </a:rPr>
                          <m:t>2</m:t>
                        </m:r>
                      </m:sub>
                    </m:sSub>
                    <m:r>
                      <a:rPr lang="fr-CA" i="1">
                        <a:latin typeface="Cambria Math" panose="02040503050406030204" pitchFamily="18" charset="0"/>
                      </a:rPr>
                      <m:t> </m:t>
                    </m:r>
                    <m:r>
                      <a:rPr lang="fr-CA" b="0" i="1" smtClean="0">
                        <a:latin typeface="Cambria Math" panose="02040503050406030204" pitchFamily="18" charset="0"/>
                      </a:rPr>
                      <m:t>∗(1−</m:t>
                    </m:r>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b="0" i="1" smtClean="0">
                            <a:latin typeface="Cambria Math" panose="02040503050406030204" pitchFamily="18" charset="0"/>
                          </a:rPr>
                          <m:t>2</m:t>
                        </m:r>
                      </m:sub>
                    </m:sSub>
                  </m:oMath>
                </a14:m>
                <a:r>
                  <a:rPr lang="fr-CA" dirty="0"/>
                  <a:t>)/ </a:t>
                </a:r>
                <a14:m>
                  <m:oMath xmlns:m="http://schemas.openxmlformats.org/officeDocument/2006/math">
                    <m:sSub>
                      <m:sSubPr>
                        <m:ctrlPr>
                          <a:rPr lang="fr-CA" i="1">
                            <a:latin typeface="Cambria Math" panose="02040503050406030204" pitchFamily="18" charset="0"/>
                          </a:rPr>
                        </m:ctrlPr>
                      </m:sSubPr>
                      <m:e>
                        <m:r>
                          <a:rPr lang="fr-CA" i="1">
                            <a:latin typeface="Cambria Math" panose="02040503050406030204" pitchFamily="18" charset="0"/>
                          </a:rPr>
                          <m:t>𝑛</m:t>
                        </m:r>
                      </m:e>
                      <m:sub>
                        <m:r>
                          <a:rPr lang="fr-CA" b="0" i="1" smtClean="0">
                            <a:latin typeface="Cambria Math" panose="02040503050406030204" pitchFamily="18" charset="0"/>
                          </a:rPr>
                          <m:t>2</m:t>
                        </m:r>
                      </m:sub>
                    </m:sSub>
                  </m:oMath>
                </a14:m>
                <a:r>
                  <a:rPr lang="fr-CA" dirty="0"/>
                  <a:t>.</a:t>
                </a:r>
              </a:p>
              <a:p>
                <a:r>
                  <a:rPr lang="fr-CA" dirty="0"/>
                  <a:t>Et sont indépendantes. </a:t>
                </a:r>
              </a:p>
            </p:txBody>
          </p:sp>
        </mc:Choice>
        <mc:Fallback xmlns="">
          <p:sp>
            <p:nvSpPr>
              <p:cNvPr id="5" name="ZoneTexte 4">
                <a:extLst>
                  <a:ext uri="{FF2B5EF4-FFF2-40B4-BE49-F238E27FC236}">
                    <a16:creationId xmlns:a16="http://schemas.microsoft.com/office/drawing/2014/main" id="{51CD8442-96BD-4DD8-BD80-CE72C4477B0B}"/>
                  </a:ext>
                </a:extLst>
              </p:cNvPr>
              <p:cNvSpPr txBox="1">
                <a:spLocks noRot="1" noChangeAspect="1" noMove="1" noResize="1" noEditPoints="1" noAdjustHandles="1" noChangeArrowheads="1" noChangeShapeType="1" noTextEdit="1"/>
              </p:cNvSpPr>
              <p:nvPr/>
            </p:nvSpPr>
            <p:spPr>
              <a:xfrm>
                <a:off x="1116106" y="1949824"/>
                <a:ext cx="9950823" cy="4256614"/>
              </a:xfrm>
              <a:prstGeom prst="rect">
                <a:avLst/>
              </a:prstGeom>
              <a:blipFill>
                <a:blip r:embed="rId2"/>
                <a:stretch>
                  <a:fillRect l="-490" t="-860" r="-184" b="-1433"/>
                </a:stretch>
              </a:blipFill>
            </p:spPr>
            <p:txBody>
              <a:bodyPr/>
              <a:lstStyle/>
              <a:p>
                <a:r>
                  <a:rPr lang="fr-CA">
                    <a:noFill/>
                  </a:rPr>
                  <a:t> </a:t>
                </a:r>
              </a:p>
            </p:txBody>
          </p:sp>
        </mc:Fallback>
      </mc:AlternateContent>
    </p:spTree>
    <p:extLst>
      <p:ext uri="{BB962C8B-B14F-4D97-AF65-F5344CB8AC3E}">
        <p14:creationId xmlns:p14="http://schemas.microsoft.com/office/powerpoint/2010/main" val="1698850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0400CDD2-A161-4A95-A283-E222673A8BA4}"/>
              </a:ext>
            </a:extLst>
          </p:cNvPr>
          <p:cNvSpPr>
            <a:spLocks noGrp="1"/>
          </p:cNvSpPr>
          <p:nvPr>
            <p:ph type="ftr" sz="quarter" idx="11"/>
          </p:nvPr>
        </p:nvSpPr>
        <p:spPr/>
        <p:txBody>
          <a:bodyPr/>
          <a:lstStyle/>
          <a:p>
            <a:endParaRPr lang="fr-CA"/>
          </a:p>
        </p:txBody>
      </p:sp>
      <p:sp>
        <p:nvSpPr>
          <p:cNvPr id="3" name="Espace réservé du numéro de diapositive 2">
            <a:extLst>
              <a:ext uri="{FF2B5EF4-FFF2-40B4-BE49-F238E27FC236}">
                <a16:creationId xmlns:a16="http://schemas.microsoft.com/office/drawing/2014/main" id="{0D58927B-88B7-4538-A390-53231EBC9DE5}"/>
              </a:ext>
            </a:extLst>
          </p:cNvPr>
          <p:cNvSpPr>
            <a:spLocks noGrp="1"/>
          </p:cNvSpPr>
          <p:nvPr>
            <p:ph type="sldNum" sz="quarter" idx="12"/>
          </p:nvPr>
        </p:nvSpPr>
        <p:spPr/>
        <p:txBody>
          <a:bodyPr/>
          <a:lstStyle/>
          <a:p>
            <a:fld id="{26377AD9-CE17-438C-A638-C64D2D42D7CF}" type="slidenum">
              <a:rPr lang="fr-CA" smtClean="0"/>
              <a:t>5</a:t>
            </a:fld>
            <a:endParaRPr lang="fr-CA"/>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DFB1E1FD-E469-41FA-825C-8E5FC78C96BE}"/>
                  </a:ext>
                </a:extLst>
              </p:cNvPr>
              <p:cNvSpPr txBox="1"/>
              <p:nvPr/>
            </p:nvSpPr>
            <p:spPr>
              <a:xfrm>
                <a:off x="699247" y="806823"/>
                <a:ext cx="10959353" cy="4779706"/>
              </a:xfrm>
              <a:prstGeom prst="rect">
                <a:avLst/>
              </a:prstGeom>
              <a:noFill/>
            </p:spPr>
            <p:txBody>
              <a:bodyPr wrap="square" rtlCol="0">
                <a:spAutoFit/>
              </a:bodyPr>
              <a:lstStyle/>
              <a:p>
                <a:r>
                  <a:rPr lang="fr-CA" dirty="0"/>
                  <a:t>Donc  </a:t>
                </a:r>
                <a14:m>
                  <m:oMath xmlns:m="http://schemas.openxmlformats.org/officeDocument/2006/math">
                    <m:acc>
                      <m:accPr>
                        <m:chr m:val="̂"/>
                        <m:ctrlPr>
                          <a:rPr lang="fr-CA" i="1" smtClean="0">
                            <a:latin typeface="Cambria Math" panose="02040503050406030204" pitchFamily="18" charset="0"/>
                          </a:rPr>
                        </m:ctrlPr>
                      </m:accPr>
                      <m:e>
                        <m:sSub>
                          <m:sSubPr>
                            <m:ctrlPr>
                              <a:rPr lang="fr-CA"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e>
                    </m:acc>
                    <m:r>
                      <a:rPr lang="fr-CA" b="0" i="1" smtClean="0">
                        <a:latin typeface="Cambria Math" panose="02040503050406030204" pitchFamily="18" charset="0"/>
                      </a:rPr>
                      <m:t>−</m:t>
                    </m:r>
                    <m:acc>
                      <m:accPr>
                        <m:chr m:val="̂"/>
                        <m:ctrlPr>
                          <a:rPr lang="fr-CA" b="0" i="1" smtClean="0">
                            <a:latin typeface="Cambria Math" panose="02040503050406030204" pitchFamily="18" charset="0"/>
                          </a:rPr>
                        </m:ctrlPr>
                      </m:acc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2</m:t>
                            </m:r>
                          </m:sub>
                        </m:sSub>
                        <m:r>
                          <a:rPr lang="fr-CA" b="0" i="1" smtClean="0">
                            <a:latin typeface="Cambria Math" panose="02040503050406030204" pitchFamily="18" charset="0"/>
                          </a:rPr>
                          <m:t>    </m:t>
                        </m:r>
                      </m:e>
                    </m:acc>
                    <m:r>
                      <a:rPr lang="fr-CA" b="0" i="1" smtClean="0">
                        <a:latin typeface="Cambria Math" panose="02040503050406030204" pitchFamily="18" charset="0"/>
                      </a:rPr>
                      <m:t>      </m:t>
                    </m:r>
                    <m:r>
                      <a:rPr lang="fr-CA" b="0" i="1" smtClean="0">
                        <a:latin typeface="Cambria Math" panose="02040503050406030204" pitchFamily="18" charset="0"/>
                      </a:rPr>
                      <m:t>𝑠𝑒𝑟𝑎</m:t>
                    </m:r>
                    <m:r>
                      <a:rPr lang="fr-CA" b="0" i="1" smtClean="0">
                        <a:latin typeface="Cambria Math" panose="02040503050406030204" pitchFamily="18" charset="0"/>
                      </a:rPr>
                      <m:t> </m:t>
                    </m:r>
                    <m:r>
                      <a:rPr lang="fr-CA" b="0" i="1" smtClean="0">
                        <a:latin typeface="Cambria Math" panose="02040503050406030204" pitchFamily="18" charset="0"/>
                      </a:rPr>
                      <m:t>𝑛𝑜𝑟𝑚𝑎𝑙𝑒𝑚𝑒𝑛𝑡</m:t>
                    </m:r>
                    <m:r>
                      <a:rPr lang="fr-CA" b="0" i="1" smtClean="0">
                        <a:latin typeface="Cambria Math" panose="02040503050406030204" pitchFamily="18" charset="0"/>
                      </a:rPr>
                      <m:t> </m:t>
                    </m:r>
                    <m:r>
                      <a:rPr lang="fr-CA" b="0" i="1" smtClean="0">
                        <a:latin typeface="Cambria Math" panose="02040503050406030204" pitchFamily="18" charset="0"/>
                      </a:rPr>
                      <m:t>𝑑𝑖𝑠𝑡𝑟𝑖𝑏𝑢</m:t>
                    </m:r>
                    <m:r>
                      <a:rPr lang="fr-CA" b="0" i="1" smtClean="0">
                        <a:latin typeface="Cambria Math" panose="02040503050406030204" pitchFamily="18" charset="0"/>
                      </a:rPr>
                      <m:t>é</m:t>
                    </m:r>
                    <m:r>
                      <a:rPr lang="fr-CA" b="0" i="1" smtClean="0">
                        <a:latin typeface="Cambria Math" panose="02040503050406030204" pitchFamily="18" charset="0"/>
                      </a:rPr>
                      <m:t>𝑒</m:t>
                    </m:r>
                    <m:r>
                      <a:rPr lang="fr-CA" b="0" i="1" smtClean="0">
                        <a:latin typeface="Cambria Math" panose="02040503050406030204" pitchFamily="18" charset="0"/>
                      </a:rPr>
                      <m:t> </m:t>
                    </m:r>
                    <m:r>
                      <a:rPr lang="fr-CA" b="0" i="1" smtClean="0">
                        <a:latin typeface="Cambria Math" panose="02040503050406030204" pitchFamily="18" charset="0"/>
                      </a:rPr>
                      <m:t>𝑎𝑣𝑒𝑐</m:t>
                    </m:r>
                    <m:r>
                      <a:rPr lang="fr-CA" b="0" i="1" smtClean="0">
                        <a:latin typeface="Cambria Math" panose="02040503050406030204" pitchFamily="18" charset="0"/>
                      </a:rPr>
                      <m:t> </m:t>
                    </m:r>
                    <m:r>
                      <a:rPr lang="fr-CA" b="0" i="1" smtClean="0">
                        <a:latin typeface="Cambria Math" panose="02040503050406030204" pitchFamily="18" charset="0"/>
                      </a:rPr>
                      <m:t>𝑢𝑛𝑒</m:t>
                    </m:r>
                    <m:r>
                      <a:rPr lang="fr-CA" b="0" i="1" smtClean="0">
                        <a:latin typeface="Cambria Math" panose="02040503050406030204" pitchFamily="18" charset="0"/>
                      </a:rPr>
                      <m:t> </m:t>
                    </m:r>
                    <m:r>
                      <a:rPr lang="fr-CA" b="0" i="1" smtClean="0">
                        <a:latin typeface="Cambria Math" panose="02040503050406030204" pitchFamily="18" charset="0"/>
                      </a:rPr>
                      <m:t>𝑚𝑜𝑦𝑒𝑛𝑛𝑒</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2</m:t>
                        </m:r>
                      </m:sub>
                    </m:sSub>
                  </m:oMath>
                </a14:m>
                <a:r>
                  <a:rPr lang="fr-CA" dirty="0"/>
                  <a:t>  et une variance:</a:t>
                </a:r>
              </a:p>
              <a:p>
                <a14:m>
                  <m:oMath xmlns:m="http://schemas.openxmlformats.org/officeDocument/2006/math">
                    <m:f>
                      <m:fPr>
                        <m:ctrlPr>
                          <a:rPr lang="fr-CA" i="1" smtClean="0">
                            <a:latin typeface="Cambria Math" panose="02040503050406030204" pitchFamily="18" charset="0"/>
                          </a:rPr>
                        </m:ctrlPr>
                      </m:fPr>
                      <m:num>
                        <m:sSub>
                          <m:sSubPr>
                            <m:ctrlPr>
                              <a:rPr lang="fr-CA"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r>
                          <a:rPr lang="fr-CA" b="0" i="1" smtClean="0">
                            <a:latin typeface="Cambria Math" panose="02040503050406030204" pitchFamily="18" charset="0"/>
                          </a:rPr>
                          <m:t>(1−</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r>
                          <a:rPr lang="fr-CA" b="0" i="1" smtClean="0">
                            <a:latin typeface="Cambria Math" panose="02040503050406030204" pitchFamily="18" charset="0"/>
                          </a:rPr>
                          <m:t>)</m:t>
                        </m:r>
                      </m:num>
                      <m:den>
                        <m:sSub>
                          <m:sSubPr>
                            <m:ctrlPr>
                              <a:rPr lang="fr-CA"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1</m:t>
                            </m:r>
                          </m:sub>
                        </m:sSub>
                      </m:den>
                    </m:f>
                    <m:r>
                      <a:rPr lang="fr-CA" b="0" i="1" smtClean="0">
                        <a:latin typeface="Cambria Math" panose="02040503050406030204" pitchFamily="18" charset="0"/>
                      </a:rPr>
                      <m:t>+</m:t>
                    </m:r>
                  </m:oMath>
                </a14:m>
                <a:r>
                  <a:rPr lang="fr-CA" dirty="0"/>
                  <a:t> </a:t>
                </a:r>
                <a14:m>
                  <m:oMath xmlns:m="http://schemas.openxmlformats.org/officeDocument/2006/math">
                    <m:f>
                      <m:fPr>
                        <m:ctrlPr>
                          <a:rPr lang="fr-CA" i="1">
                            <a:latin typeface="Cambria Math" panose="02040503050406030204" pitchFamily="18" charset="0"/>
                          </a:rPr>
                        </m:ctrlPr>
                      </m:fPr>
                      <m:num>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b="0" i="1" smtClean="0">
                                <a:latin typeface="Cambria Math" panose="02040503050406030204" pitchFamily="18" charset="0"/>
                              </a:rPr>
                              <m:t>2</m:t>
                            </m:r>
                          </m:sub>
                        </m:sSub>
                        <m:r>
                          <a:rPr lang="fr-CA" i="1">
                            <a:latin typeface="Cambria Math" panose="02040503050406030204" pitchFamily="18" charset="0"/>
                          </a:rPr>
                          <m:t>(1−</m:t>
                        </m:r>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b="0" i="1" smtClean="0">
                                <a:latin typeface="Cambria Math" panose="02040503050406030204" pitchFamily="18" charset="0"/>
                              </a:rPr>
                              <m:t>2</m:t>
                            </m:r>
                          </m:sub>
                        </m:sSub>
                        <m:r>
                          <a:rPr lang="fr-CA" i="1">
                            <a:latin typeface="Cambria Math" panose="02040503050406030204" pitchFamily="18" charset="0"/>
                          </a:rPr>
                          <m:t>)</m:t>
                        </m:r>
                      </m:num>
                      <m:den>
                        <m:sSub>
                          <m:sSubPr>
                            <m:ctrlPr>
                              <a:rPr lang="fr-CA"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2</m:t>
                            </m:r>
                          </m:sub>
                        </m:sSub>
                      </m:den>
                    </m:f>
                  </m:oMath>
                </a14:m>
                <a:r>
                  <a:rPr lang="fr-CA" dirty="0"/>
                  <a:t>     qu’on approxime par    </a:t>
                </a:r>
                <a14:m>
                  <m:oMath xmlns:m="http://schemas.openxmlformats.org/officeDocument/2006/math">
                    <m:f>
                      <m:fPr>
                        <m:ctrlPr>
                          <a:rPr lang="fr-CA" i="1" smtClean="0">
                            <a:latin typeface="Cambria Math" panose="02040503050406030204" pitchFamily="18" charset="0"/>
                          </a:rPr>
                        </m:ctrlPr>
                      </m:fPr>
                      <m:num>
                        <m:acc>
                          <m:accPr>
                            <m:chr m:val="̂"/>
                            <m:ctrlPr>
                              <a:rPr lang="fr-CA" i="1" smtClean="0">
                                <a:latin typeface="Cambria Math" panose="02040503050406030204" pitchFamily="18" charset="0"/>
                              </a:rPr>
                            </m:ctrlPr>
                          </m:accPr>
                          <m:e>
                            <m:sSub>
                              <m:sSubPr>
                                <m:ctrlPr>
                                  <a:rPr lang="fr-CA"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e>
                        </m:acc>
                        <m:r>
                          <a:rPr lang="fr-CA" b="0" i="1" smtClean="0">
                            <a:latin typeface="Cambria Math" panose="02040503050406030204" pitchFamily="18" charset="0"/>
                          </a:rPr>
                          <m:t>(1−</m:t>
                        </m:r>
                        <m:acc>
                          <m:accPr>
                            <m:chr m:val="̂"/>
                            <m:ctrlPr>
                              <a:rPr lang="fr-CA" b="0" i="1" smtClean="0">
                                <a:latin typeface="Cambria Math" panose="02040503050406030204" pitchFamily="18" charset="0"/>
                              </a:rPr>
                            </m:ctrlPr>
                          </m:acc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r>
                              <a:rPr lang="fr-CA" b="0" i="1" smtClean="0">
                                <a:latin typeface="Cambria Math" panose="02040503050406030204" pitchFamily="18" charset="0"/>
                              </a:rPr>
                              <m:t>)</m:t>
                            </m:r>
                          </m:e>
                        </m:acc>
                      </m:num>
                      <m:den>
                        <m:sSub>
                          <m:sSubPr>
                            <m:ctrlPr>
                              <a:rPr lang="fr-CA"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1</m:t>
                            </m:r>
                          </m:sub>
                        </m:sSub>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acc>
                          <m:accPr>
                            <m:chr m:val="̂"/>
                            <m:ctrlPr>
                              <a:rPr lang="fr-CA" b="0" i="1" smtClean="0">
                                <a:latin typeface="Cambria Math" panose="02040503050406030204" pitchFamily="18" charset="0"/>
                              </a:rPr>
                            </m:ctrlPr>
                          </m:acc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2</m:t>
                                </m:r>
                              </m:sub>
                            </m:sSub>
                          </m:e>
                        </m:acc>
                        <m:r>
                          <a:rPr lang="fr-CA" b="0" i="1" smtClean="0">
                            <a:latin typeface="Cambria Math" panose="02040503050406030204" pitchFamily="18" charset="0"/>
                          </a:rPr>
                          <m:t>(1−</m:t>
                        </m:r>
                        <m:acc>
                          <m:accPr>
                            <m:chr m:val="̂"/>
                            <m:ctrlPr>
                              <a:rPr lang="fr-CA" b="0" i="1" smtClean="0">
                                <a:latin typeface="Cambria Math" panose="02040503050406030204" pitchFamily="18" charset="0"/>
                              </a:rPr>
                            </m:ctrlPr>
                          </m:acc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2</m:t>
                                </m:r>
                              </m:sub>
                            </m:sSub>
                            <m:r>
                              <a:rPr lang="fr-CA" b="0" i="1" smtClean="0">
                                <a:latin typeface="Cambria Math" panose="02040503050406030204" pitchFamily="18" charset="0"/>
                              </a:rPr>
                              <m:t>)</m:t>
                            </m:r>
                          </m:e>
                        </m:acc>
                      </m:num>
                      <m:den>
                        <m:sSub>
                          <m:sSubPr>
                            <m:ctrlPr>
                              <a:rPr lang="fr-CA" b="0"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2</m:t>
                            </m:r>
                          </m:sub>
                        </m:sSub>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acc>
                          <m:accPr>
                            <m:chr m:val="̂"/>
                            <m:ctrlPr>
                              <a:rPr lang="fr-CA" b="0" i="1" smtClean="0">
                                <a:latin typeface="Cambria Math" panose="02040503050406030204" pitchFamily="18" charset="0"/>
                              </a:rPr>
                            </m:ctrlPr>
                          </m:acc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e>
                        </m:acc>
                        <m:r>
                          <a:rPr lang="fr-CA" b="0" i="1" smtClean="0">
                            <a:latin typeface="Cambria Math" panose="02040503050406030204" pitchFamily="18" charset="0"/>
                          </a:rPr>
                          <m:t>∗</m:t>
                        </m:r>
                        <m:acc>
                          <m:accPr>
                            <m:chr m:val="̂"/>
                            <m:ctrlPr>
                              <a:rPr lang="fr-CA" b="0" i="1" smtClean="0">
                                <a:latin typeface="Cambria Math" panose="02040503050406030204" pitchFamily="18" charset="0"/>
                              </a:rPr>
                            </m:ctrlPr>
                          </m:acc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𝑞</m:t>
                                </m:r>
                              </m:e>
                              <m:sub>
                                <m:r>
                                  <a:rPr lang="fr-CA" b="0" i="1" smtClean="0">
                                    <a:latin typeface="Cambria Math" panose="02040503050406030204" pitchFamily="18" charset="0"/>
                                  </a:rPr>
                                  <m:t>1</m:t>
                                </m:r>
                              </m:sub>
                            </m:sSub>
                          </m:e>
                        </m:acc>
                      </m:num>
                      <m:den>
                        <m:sSub>
                          <m:sSubPr>
                            <m:ctrlPr>
                              <a:rPr lang="fr-CA" b="0"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1</m:t>
                            </m:r>
                          </m:sub>
                        </m:sSub>
                      </m:den>
                    </m:f>
                    <m:r>
                      <a:rPr lang="fr-CA" b="0" i="1" smtClean="0">
                        <a:latin typeface="Cambria Math" panose="02040503050406030204" pitchFamily="18" charset="0"/>
                      </a:rPr>
                      <m:t>+</m:t>
                    </m:r>
                    <m:f>
                      <m:fPr>
                        <m:ctrlPr>
                          <a:rPr lang="fr-CA" i="1">
                            <a:latin typeface="Cambria Math" panose="02040503050406030204" pitchFamily="18" charset="0"/>
                          </a:rPr>
                        </m:ctrlPr>
                      </m:fPr>
                      <m:num>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b="0" i="1" smtClean="0">
                                    <a:latin typeface="Cambria Math" panose="02040503050406030204" pitchFamily="18" charset="0"/>
                                  </a:rPr>
                                  <m:t>2</m:t>
                                </m:r>
                              </m:sub>
                            </m:sSub>
                          </m:e>
                        </m:acc>
                        <m:r>
                          <a:rPr lang="fr-CA" i="1">
                            <a:latin typeface="Cambria Math" panose="02040503050406030204" pitchFamily="18" charset="0"/>
                          </a:rPr>
                          <m:t>∗</m:t>
                        </m:r>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𝑞</m:t>
                                </m:r>
                              </m:e>
                              <m:sub>
                                <m:r>
                                  <a:rPr lang="fr-CA" b="0" i="1" smtClean="0">
                                    <a:latin typeface="Cambria Math" panose="02040503050406030204" pitchFamily="18" charset="0"/>
                                  </a:rPr>
                                  <m:t>2</m:t>
                                </m:r>
                              </m:sub>
                            </m:sSub>
                          </m:e>
                        </m:acc>
                      </m:num>
                      <m:den>
                        <m:sSub>
                          <m:sSubPr>
                            <m:ctrlPr>
                              <a:rPr lang="fr-CA" i="1">
                                <a:latin typeface="Cambria Math" panose="02040503050406030204" pitchFamily="18" charset="0"/>
                              </a:rPr>
                            </m:ctrlPr>
                          </m:sSubPr>
                          <m:e>
                            <m:r>
                              <a:rPr lang="fr-CA" i="1">
                                <a:latin typeface="Cambria Math" panose="02040503050406030204" pitchFamily="18" charset="0"/>
                              </a:rPr>
                              <m:t>𝑛</m:t>
                            </m:r>
                          </m:e>
                          <m:sub>
                            <m:r>
                              <a:rPr lang="fr-CA" b="0" i="1" smtClean="0">
                                <a:latin typeface="Cambria Math" panose="02040503050406030204" pitchFamily="18" charset="0"/>
                              </a:rPr>
                              <m:t>2</m:t>
                            </m:r>
                          </m:sub>
                        </m:sSub>
                      </m:den>
                    </m:f>
                  </m:oMath>
                </a14:m>
                <a:r>
                  <a:rPr lang="fr-CA" dirty="0"/>
                  <a:t>.    Donc en standardisant, on a:</a:t>
                </a:r>
              </a:p>
              <a:p>
                <a:endParaRPr lang="fr-CA" dirty="0"/>
              </a:p>
              <a:p>
                <a:endParaRPr lang="fr-CA" dirty="0"/>
              </a:p>
              <a:p>
                <a:endParaRPr lang="fr-CA" dirty="0"/>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𝑍</m:t>
                      </m:r>
                      <m:r>
                        <a:rPr lang="fr-CA" b="0" i="1" smtClean="0">
                          <a:latin typeface="Cambria Math" panose="02040503050406030204" pitchFamily="18" charset="0"/>
                        </a:rPr>
                        <m:t>=</m:t>
                      </m:r>
                      <m:f>
                        <m:fPr>
                          <m:ctrlPr>
                            <a:rPr lang="fr-CA" b="0" i="1" smtClean="0">
                              <a:latin typeface="Cambria Math" panose="02040503050406030204" pitchFamily="18" charset="0"/>
                            </a:rPr>
                          </m:ctrlPr>
                        </m:fPr>
                        <m:num>
                          <m:d>
                            <m:dPr>
                              <m:ctrlPr>
                                <a:rPr lang="fr-CA" b="0" i="1" smtClean="0">
                                  <a:latin typeface="Cambria Math" panose="02040503050406030204" pitchFamily="18" charset="0"/>
                                </a:rPr>
                              </m:ctrlPr>
                            </m:dPr>
                            <m:e>
                              <m:acc>
                                <m:accPr>
                                  <m:chr m:val="̂"/>
                                  <m:ctrlPr>
                                    <a:rPr lang="fr-CA" b="0" i="1" smtClean="0">
                                      <a:latin typeface="Cambria Math" panose="02040503050406030204" pitchFamily="18" charset="0"/>
                                    </a:rPr>
                                  </m:ctrlPr>
                                </m:acc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e>
                              </m:acc>
                              <m:r>
                                <a:rPr lang="fr-CA" b="0" i="1" smtClean="0">
                                  <a:latin typeface="Cambria Math" panose="02040503050406030204" pitchFamily="18" charset="0"/>
                                </a:rPr>
                                <m:t>−</m:t>
                              </m:r>
                              <m:acc>
                                <m:accPr>
                                  <m:chr m:val="̂"/>
                                  <m:ctrlPr>
                                    <a:rPr lang="fr-CA" b="0" i="1" smtClean="0">
                                      <a:latin typeface="Cambria Math" panose="02040503050406030204" pitchFamily="18" charset="0"/>
                                    </a:rPr>
                                  </m:ctrlPr>
                                </m:acc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2</m:t>
                                      </m:r>
                                    </m:sub>
                                  </m:sSub>
                                </m:e>
                              </m:acc>
                            </m:e>
                          </m:d>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2</m:t>
                              </m:r>
                            </m:sub>
                          </m:sSub>
                          <m:r>
                            <a:rPr lang="fr-CA" b="0" i="1" smtClean="0">
                              <a:latin typeface="Cambria Math" panose="02040503050406030204" pitchFamily="18" charset="0"/>
                            </a:rPr>
                            <m:t>)</m:t>
                          </m:r>
                        </m:num>
                        <m:den>
                          <m:rad>
                            <m:radPr>
                              <m:degHide m:val="on"/>
                              <m:ctrlPr>
                                <a:rPr lang="fr-CA" b="0" i="1" smtClean="0">
                                  <a:latin typeface="Cambria Math" panose="02040503050406030204" pitchFamily="18" charset="0"/>
                                </a:rPr>
                              </m:ctrlPr>
                            </m:radPr>
                            <m:deg/>
                            <m:e>
                              <m:f>
                                <m:fPr>
                                  <m:ctrlPr>
                                    <a:rPr lang="fr-CA" i="1">
                                      <a:latin typeface="Cambria Math" panose="02040503050406030204" pitchFamily="18" charset="0"/>
                                    </a:rPr>
                                  </m:ctrlPr>
                                </m:fPr>
                                <m:num>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1</m:t>
                                          </m:r>
                                        </m:sub>
                                      </m:sSub>
                                    </m:e>
                                  </m:acc>
                                  <m:r>
                                    <a:rPr lang="fr-CA" i="1">
                                      <a:latin typeface="Cambria Math" panose="02040503050406030204" pitchFamily="18" charset="0"/>
                                    </a:rPr>
                                    <m:t>∗</m:t>
                                  </m:r>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𝑞</m:t>
                                          </m:r>
                                        </m:e>
                                        <m:sub>
                                          <m:r>
                                            <a:rPr lang="fr-CA" i="1">
                                              <a:latin typeface="Cambria Math" panose="02040503050406030204" pitchFamily="18" charset="0"/>
                                            </a:rPr>
                                            <m:t>1</m:t>
                                          </m:r>
                                        </m:sub>
                                      </m:sSub>
                                    </m:e>
                                  </m:acc>
                                </m:num>
                                <m:den>
                                  <m:sSub>
                                    <m:sSubPr>
                                      <m:ctrlPr>
                                        <a:rPr lang="fr-CA" i="1">
                                          <a:latin typeface="Cambria Math" panose="02040503050406030204" pitchFamily="18" charset="0"/>
                                        </a:rPr>
                                      </m:ctrlPr>
                                    </m:sSubPr>
                                    <m:e>
                                      <m:r>
                                        <a:rPr lang="fr-CA" i="1">
                                          <a:latin typeface="Cambria Math" panose="02040503050406030204" pitchFamily="18" charset="0"/>
                                        </a:rPr>
                                        <m:t>𝑛</m:t>
                                      </m:r>
                                    </m:e>
                                    <m:sub>
                                      <m:r>
                                        <a:rPr lang="fr-CA" i="1">
                                          <a:latin typeface="Cambria Math" panose="02040503050406030204" pitchFamily="18" charset="0"/>
                                        </a:rPr>
                                        <m:t>1</m:t>
                                      </m:r>
                                    </m:sub>
                                  </m:sSub>
                                </m:den>
                              </m:f>
                              <m:r>
                                <a:rPr lang="fr-CA" i="1">
                                  <a:latin typeface="Cambria Math" panose="02040503050406030204" pitchFamily="18" charset="0"/>
                                </a:rPr>
                                <m:t>+</m:t>
                              </m:r>
                              <m:f>
                                <m:fPr>
                                  <m:ctrlPr>
                                    <a:rPr lang="fr-CA" i="1">
                                      <a:latin typeface="Cambria Math" panose="02040503050406030204" pitchFamily="18" charset="0"/>
                                    </a:rPr>
                                  </m:ctrlPr>
                                </m:fPr>
                                <m:num>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2</m:t>
                                          </m:r>
                                        </m:sub>
                                      </m:sSub>
                                    </m:e>
                                  </m:acc>
                                  <m:r>
                                    <a:rPr lang="fr-CA" i="1">
                                      <a:latin typeface="Cambria Math" panose="02040503050406030204" pitchFamily="18" charset="0"/>
                                    </a:rPr>
                                    <m:t>∗</m:t>
                                  </m:r>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𝑞</m:t>
                                          </m:r>
                                        </m:e>
                                        <m:sub>
                                          <m:r>
                                            <a:rPr lang="fr-CA" i="1">
                                              <a:latin typeface="Cambria Math" panose="02040503050406030204" pitchFamily="18" charset="0"/>
                                            </a:rPr>
                                            <m:t>2</m:t>
                                          </m:r>
                                        </m:sub>
                                      </m:sSub>
                                    </m:e>
                                  </m:acc>
                                </m:num>
                                <m:den>
                                  <m:sSub>
                                    <m:sSubPr>
                                      <m:ctrlPr>
                                        <a:rPr lang="fr-CA" i="1">
                                          <a:latin typeface="Cambria Math" panose="02040503050406030204" pitchFamily="18" charset="0"/>
                                        </a:rPr>
                                      </m:ctrlPr>
                                    </m:sSubPr>
                                    <m:e>
                                      <m:r>
                                        <a:rPr lang="fr-CA" i="1">
                                          <a:latin typeface="Cambria Math" panose="02040503050406030204" pitchFamily="18" charset="0"/>
                                        </a:rPr>
                                        <m:t>𝑛</m:t>
                                      </m:r>
                                    </m:e>
                                    <m:sub>
                                      <m:r>
                                        <a:rPr lang="fr-CA" i="1">
                                          <a:latin typeface="Cambria Math" panose="02040503050406030204" pitchFamily="18" charset="0"/>
                                        </a:rPr>
                                        <m:t>2</m:t>
                                      </m:r>
                                    </m:sub>
                                  </m:sSub>
                                </m:den>
                              </m:f>
                            </m:e>
                          </m:rad>
                        </m:den>
                      </m:f>
                    </m:oMath>
                  </m:oMathPara>
                </a14:m>
                <a:endParaRPr lang="fr-CA" dirty="0"/>
              </a:p>
              <a:p>
                <a:endParaRPr lang="fr-CA" dirty="0"/>
              </a:p>
              <a:p>
                <a:endParaRPr lang="fr-CA" dirty="0"/>
              </a:p>
              <a:p>
                <a:r>
                  <a:rPr lang="fr-CA" dirty="0"/>
                  <a:t>Par conséquent un intervalle de confiance de niveau </a:t>
                </a:r>
                <a14:m>
                  <m:oMath xmlns:m="http://schemas.openxmlformats.org/officeDocument/2006/math">
                    <m:d>
                      <m:dPr>
                        <m:ctrlPr>
                          <a:rPr lang="fr-CA" b="0" i="1" smtClean="0">
                            <a:latin typeface="Cambria Math" panose="02040503050406030204" pitchFamily="18" charset="0"/>
                          </a:rPr>
                        </m:ctrlPr>
                      </m:dPr>
                      <m:e>
                        <m:r>
                          <a:rPr lang="fr-CA" b="0" i="1" smtClean="0">
                            <a:latin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𝛼</m:t>
                        </m:r>
                      </m:e>
                    </m:d>
                    <m:r>
                      <a:rPr lang="fr-CA" b="0" i="1" smtClean="0">
                        <a:latin typeface="Cambria Math" panose="02040503050406030204" pitchFamily="18" charset="0"/>
                        <a:ea typeface="Cambria Math" panose="02040503050406030204" pitchFamily="18" charset="0"/>
                      </a:rPr>
                      <m:t>% </m:t>
                    </m:r>
                  </m:oMath>
                </a14:m>
                <a:r>
                  <a:rPr lang="fr-CA" dirty="0"/>
                  <a:t>  pour (</a:t>
                </a:r>
                <a14:m>
                  <m:oMath xmlns:m="http://schemas.openxmlformats.org/officeDocument/2006/math">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1</m:t>
                        </m:r>
                      </m:sub>
                    </m:sSub>
                    <m:r>
                      <a:rPr lang="fr-CA" i="1">
                        <a:latin typeface="Cambria Math" panose="02040503050406030204" pitchFamily="18" charset="0"/>
                      </a:rPr>
                      <m:t>−</m:t>
                    </m:r>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2</m:t>
                        </m:r>
                      </m:sub>
                    </m:sSub>
                  </m:oMath>
                </a14:m>
                <a:r>
                  <a:rPr lang="fr-CA" dirty="0"/>
                  <a:t> )   est   égal à:</a:t>
                </a:r>
              </a:p>
              <a:p>
                <a:endParaRPr lang="fr-CA" dirty="0"/>
              </a:p>
              <a:p>
                <a:pPr/>
                <a14:m>
                  <m:oMathPara xmlns:m="http://schemas.openxmlformats.org/officeDocument/2006/math">
                    <m:oMathParaPr>
                      <m:jc m:val="centerGroup"/>
                    </m:oMathParaPr>
                    <m:oMath xmlns:m="http://schemas.openxmlformats.org/officeDocument/2006/math">
                      <m:d>
                        <m:dPr>
                          <m:begChr m:val="["/>
                          <m:endChr m:val="]"/>
                          <m:ctrlPr>
                            <a:rPr lang="fr-CA" i="1" smtClean="0">
                              <a:latin typeface="Cambria Math" panose="02040503050406030204" pitchFamily="18" charset="0"/>
                            </a:rPr>
                          </m:ctrlPr>
                        </m:dPr>
                        <m:e>
                          <m:d>
                            <m:dPr>
                              <m:ctrlPr>
                                <a:rPr lang="fr-CA" b="0" i="1" smtClean="0">
                                  <a:latin typeface="Cambria Math" panose="02040503050406030204" pitchFamily="18" charset="0"/>
                                </a:rPr>
                              </m:ctrlPr>
                            </m:dPr>
                            <m:e>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1</m:t>
                                      </m:r>
                                    </m:sub>
                                  </m:sSub>
                                </m:e>
                              </m:acc>
                              <m:r>
                                <a:rPr lang="fr-CA" i="1">
                                  <a:latin typeface="Cambria Math" panose="02040503050406030204" pitchFamily="18" charset="0"/>
                                </a:rPr>
                                <m:t>−</m:t>
                              </m:r>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2</m:t>
                                      </m:r>
                                    </m:sub>
                                  </m:sSub>
                                  <m:r>
                                    <a:rPr lang="fr-CA" i="1">
                                      <a:latin typeface="Cambria Math" panose="02040503050406030204" pitchFamily="18" charset="0"/>
                                    </a:rPr>
                                    <m:t>    </m:t>
                                  </m:r>
                                </m:e>
                              </m:acc>
                            </m:e>
                          </m:d>
                          <m:r>
                            <a:rPr lang="fr-CA" b="0" i="1" smtClean="0">
                              <a:latin typeface="Cambria Math" panose="02040503050406030204" pitchFamily="18" charset="0"/>
                            </a:rPr>
                            <m:t>−</m:t>
                          </m:r>
                          <m:r>
                            <a:rPr lang="fr-CA" b="0" i="1" smtClean="0">
                              <a:latin typeface="Cambria Math" panose="02040503050406030204" pitchFamily="18" charset="0"/>
                            </a:rPr>
                            <m:t>𝐸</m:t>
                          </m:r>
                          <m:r>
                            <a:rPr lang="fr-CA" b="0" i="1" smtClean="0">
                              <a:latin typeface="Cambria Math" panose="02040503050406030204" pitchFamily="18" charset="0"/>
                            </a:rPr>
                            <m:t>:</m:t>
                          </m:r>
                          <m:d>
                            <m:dPr>
                              <m:ctrlPr>
                                <a:rPr lang="fr-CA" b="0" i="1" smtClean="0">
                                  <a:latin typeface="Cambria Math" panose="02040503050406030204" pitchFamily="18" charset="0"/>
                                </a:rPr>
                              </m:ctrlPr>
                            </m:dPr>
                            <m:e>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1</m:t>
                                      </m:r>
                                    </m:sub>
                                  </m:sSub>
                                </m:e>
                              </m:acc>
                              <m:r>
                                <a:rPr lang="fr-CA" i="1">
                                  <a:latin typeface="Cambria Math" panose="02040503050406030204" pitchFamily="18" charset="0"/>
                                </a:rPr>
                                <m:t>−</m:t>
                              </m:r>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2</m:t>
                                      </m:r>
                                    </m:sub>
                                  </m:sSub>
                                  <m:r>
                                    <a:rPr lang="fr-CA" i="1">
                                      <a:latin typeface="Cambria Math" panose="02040503050406030204" pitchFamily="18" charset="0"/>
                                    </a:rPr>
                                    <m:t>    </m:t>
                                  </m:r>
                                </m:e>
                              </m:acc>
                            </m:e>
                          </m:d>
                          <m:r>
                            <a:rPr lang="fr-CA" b="0" i="1" smtClean="0">
                              <a:latin typeface="Cambria Math" panose="02040503050406030204" pitchFamily="18" charset="0"/>
                            </a:rPr>
                            <m:t>+</m:t>
                          </m:r>
                          <m:r>
                            <a:rPr lang="fr-CA" b="0" i="1" smtClean="0">
                              <a:latin typeface="Cambria Math" panose="02040503050406030204" pitchFamily="18" charset="0"/>
                            </a:rPr>
                            <m:t>𝐸</m:t>
                          </m:r>
                        </m:e>
                      </m:d>
                    </m:oMath>
                  </m:oMathPara>
                </a14:m>
                <a:endParaRPr lang="fr-CA" dirty="0"/>
              </a:p>
              <a:p>
                <a:endParaRPr lang="fr-CA" dirty="0"/>
              </a:p>
              <a:p>
                <a:r>
                  <a:rPr lang="fr-CA" dirty="0"/>
                  <a:t>Avec la marge d’erreur </a:t>
                </a:r>
                <a14:m>
                  <m:oMath xmlns:m="http://schemas.openxmlformats.org/officeDocument/2006/math">
                    <m:r>
                      <a:rPr lang="fr-CA" b="0" i="1" smtClean="0">
                        <a:latin typeface="Cambria Math" panose="02040503050406030204" pitchFamily="18" charset="0"/>
                      </a:rPr>
                      <m:t>𝐸</m:t>
                    </m:r>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𝑧</m:t>
                        </m:r>
                      </m:e>
                      <m:sub>
                        <m:r>
                          <a:rPr lang="fr-CA" b="0" i="1" smtClean="0">
                            <a:latin typeface="Cambria Math" panose="02040503050406030204" pitchFamily="18" charset="0"/>
                            <a:ea typeface="Cambria Math" panose="02040503050406030204" pitchFamily="18" charset="0"/>
                          </a:rPr>
                          <m:t>𝛼</m:t>
                        </m:r>
                        <m:r>
                          <a:rPr lang="fr-CA" b="0" i="1" smtClean="0">
                            <a:latin typeface="Cambria Math" panose="02040503050406030204" pitchFamily="18" charset="0"/>
                            <a:ea typeface="Cambria Math" panose="02040503050406030204" pitchFamily="18" charset="0"/>
                          </a:rPr>
                          <m:t>/2</m:t>
                        </m:r>
                      </m:sub>
                    </m:sSub>
                    <m:r>
                      <a:rPr lang="fr-CA" b="0" i="1" smtClean="0">
                        <a:latin typeface="Cambria Math" panose="02040503050406030204" pitchFamily="18" charset="0"/>
                      </a:rPr>
                      <m:t>∗</m:t>
                    </m:r>
                  </m:oMath>
                </a14:m>
                <a:r>
                  <a:rPr lang="fr-CA" dirty="0"/>
                  <a:t> </a:t>
                </a:r>
                <a14:m>
                  <m:oMath xmlns:m="http://schemas.openxmlformats.org/officeDocument/2006/math">
                    <m:rad>
                      <m:radPr>
                        <m:degHide m:val="on"/>
                        <m:ctrlPr>
                          <a:rPr lang="fr-CA" i="1">
                            <a:latin typeface="Cambria Math" panose="02040503050406030204" pitchFamily="18" charset="0"/>
                          </a:rPr>
                        </m:ctrlPr>
                      </m:radPr>
                      <m:deg/>
                      <m:e>
                        <m:f>
                          <m:fPr>
                            <m:ctrlPr>
                              <a:rPr lang="fr-CA" i="1">
                                <a:latin typeface="Cambria Math" panose="02040503050406030204" pitchFamily="18" charset="0"/>
                              </a:rPr>
                            </m:ctrlPr>
                          </m:fPr>
                          <m:num>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1</m:t>
                                    </m:r>
                                  </m:sub>
                                </m:sSub>
                              </m:e>
                            </m:acc>
                            <m:r>
                              <a:rPr lang="fr-CA" i="1">
                                <a:latin typeface="Cambria Math" panose="02040503050406030204" pitchFamily="18" charset="0"/>
                              </a:rPr>
                              <m:t>∗</m:t>
                            </m:r>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𝑞</m:t>
                                    </m:r>
                                  </m:e>
                                  <m:sub>
                                    <m:r>
                                      <a:rPr lang="fr-CA" i="1">
                                        <a:latin typeface="Cambria Math" panose="02040503050406030204" pitchFamily="18" charset="0"/>
                                      </a:rPr>
                                      <m:t>1</m:t>
                                    </m:r>
                                  </m:sub>
                                </m:sSub>
                              </m:e>
                            </m:acc>
                          </m:num>
                          <m:den>
                            <m:sSub>
                              <m:sSubPr>
                                <m:ctrlPr>
                                  <a:rPr lang="fr-CA" i="1">
                                    <a:latin typeface="Cambria Math" panose="02040503050406030204" pitchFamily="18" charset="0"/>
                                  </a:rPr>
                                </m:ctrlPr>
                              </m:sSubPr>
                              <m:e>
                                <m:r>
                                  <a:rPr lang="fr-CA" i="1">
                                    <a:latin typeface="Cambria Math" panose="02040503050406030204" pitchFamily="18" charset="0"/>
                                  </a:rPr>
                                  <m:t>𝑛</m:t>
                                </m:r>
                              </m:e>
                              <m:sub>
                                <m:r>
                                  <a:rPr lang="fr-CA" i="1">
                                    <a:latin typeface="Cambria Math" panose="02040503050406030204" pitchFamily="18" charset="0"/>
                                  </a:rPr>
                                  <m:t>1</m:t>
                                </m:r>
                              </m:sub>
                            </m:sSub>
                          </m:den>
                        </m:f>
                        <m:r>
                          <a:rPr lang="fr-CA" i="1">
                            <a:latin typeface="Cambria Math" panose="02040503050406030204" pitchFamily="18" charset="0"/>
                          </a:rPr>
                          <m:t>+</m:t>
                        </m:r>
                        <m:f>
                          <m:fPr>
                            <m:ctrlPr>
                              <a:rPr lang="fr-CA" i="1">
                                <a:latin typeface="Cambria Math" panose="02040503050406030204" pitchFamily="18" charset="0"/>
                              </a:rPr>
                            </m:ctrlPr>
                          </m:fPr>
                          <m:num>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2</m:t>
                                    </m:r>
                                  </m:sub>
                                </m:sSub>
                              </m:e>
                            </m:acc>
                            <m:r>
                              <a:rPr lang="fr-CA" i="1">
                                <a:latin typeface="Cambria Math" panose="02040503050406030204" pitchFamily="18" charset="0"/>
                              </a:rPr>
                              <m:t>∗</m:t>
                            </m:r>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𝑞</m:t>
                                    </m:r>
                                  </m:e>
                                  <m:sub>
                                    <m:r>
                                      <a:rPr lang="fr-CA" i="1">
                                        <a:latin typeface="Cambria Math" panose="02040503050406030204" pitchFamily="18" charset="0"/>
                                      </a:rPr>
                                      <m:t>2</m:t>
                                    </m:r>
                                  </m:sub>
                                </m:sSub>
                              </m:e>
                            </m:acc>
                          </m:num>
                          <m:den>
                            <m:sSub>
                              <m:sSubPr>
                                <m:ctrlPr>
                                  <a:rPr lang="fr-CA" i="1">
                                    <a:latin typeface="Cambria Math" panose="02040503050406030204" pitchFamily="18" charset="0"/>
                                  </a:rPr>
                                </m:ctrlPr>
                              </m:sSubPr>
                              <m:e>
                                <m:r>
                                  <a:rPr lang="fr-CA" i="1">
                                    <a:latin typeface="Cambria Math" panose="02040503050406030204" pitchFamily="18" charset="0"/>
                                  </a:rPr>
                                  <m:t>𝑛</m:t>
                                </m:r>
                              </m:e>
                              <m:sub>
                                <m:r>
                                  <a:rPr lang="fr-CA" i="1">
                                    <a:latin typeface="Cambria Math" panose="02040503050406030204" pitchFamily="18" charset="0"/>
                                  </a:rPr>
                                  <m:t>2</m:t>
                                </m:r>
                              </m:sub>
                            </m:sSub>
                          </m:den>
                        </m:f>
                      </m:e>
                    </m:rad>
                  </m:oMath>
                </a14:m>
                <a:endParaRPr lang="fr-CA" dirty="0"/>
              </a:p>
            </p:txBody>
          </p:sp>
        </mc:Choice>
        <mc:Fallback xmlns="">
          <p:sp>
            <p:nvSpPr>
              <p:cNvPr id="4" name="ZoneTexte 3">
                <a:extLst>
                  <a:ext uri="{FF2B5EF4-FFF2-40B4-BE49-F238E27FC236}">
                    <a16:creationId xmlns:a16="http://schemas.microsoft.com/office/drawing/2014/main" id="{DFB1E1FD-E469-41FA-825C-8E5FC78C96BE}"/>
                  </a:ext>
                </a:extLst>
              </p:cNvPr>
              <p:cNvSpPr txBox="1">
                <a:spLocks noRot="1" noChangeAspect="1" noMove="1" noResize="1" noEditPoints="1" noAdjustHandles="1" noChangeArrowheads="1" noChangeShapeType="1" noTextEdit="1"/>
              </p:cNvSpPr>
              <p:nvPr/>
            </p:nvSpPr>
            <p:spPr>
              <a:xfrm>
                <a:off x="699247" y="806823"/>
                <a:ext cx="10959353" cy="4779706"/>
              </a:xfrm>
              <a:prstGeom prst="rect">
                <a:avLst/>
              </a:prstGeom>
              <a:blipFill>
                <a:blip r:embed="rId2"/>
                <a:stretch>
                  <a:fillRect l="-501" t="-638"/>
                </a:stretch>
              </a:blipFill>
            </p:spPr>
            <p:txBody>
              <a:bodyPr/>
              <a:lstStyle/>
              <a:p>
                <a:r>
                  <a:rPr lang="fr-CA">
                    <a:noFill/>
                  </a:rPr>
                  <a:t> </a:t>
                </a:r>
              </a:p>
            </p:txBody>
          </p:sp>
        </mc:Fallback>
      </mc:AlternateContent>
    </p:spTree>
    <p:extLst>
      <p:ext uri="{BB962C8B-B14F-4D97-AF65-F5344CB8AC3E}">
        <p14:creationId xmlns:p14="http://schemas.microsoft.com/office/powerpoint/2010/main" val="628531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F53D93-080D-4550-8631-E370ECB24327}"/>
              </a:ext>
            </a:extLst>
          </p:cNvPr>
          <p:cNvSpPr>
            <a:spLocks noGrp="1"/>
          </p:cNvSpPr>
          <p:nvPr>
            <p:ph type="title"/>
          </p:nvPr>
        </p:nvSpPr>
        <p:spPr>
          <a:xfrm>
            <a:off x="838200" y="365125"/>
            <a:ext cx="10363200" cy="4596840"/>
          </a:xfrm>
        </p:spPr>
        <p:txBody>
          <a:bodyPr>
            <a:normAutofit fontScale="90000"/>
          </a:bodyPr>
          <a:lstStyle/>
          <a:p>
            <a:pPr algn="l">
              <a:lnSpc>
                <a:spcPct val="200000"/>
              </a:lnSpc>
              <a:spcAft>
                <a:spcPts val="800"/>
              </a:spcAft>
            </a:pPr>
            <a:r>
              <a:rPr lang="fr-CA" dirty="0"/>
              <a:t>Exemple:</a:t>
            </a:r>
            <a:r>
              <a:rPr lang="fr-FR" sz="1800" dirty="0">
                <a:solidFill>
                  <a:srgbClr val="000000"/>
                </a:solidFill>
                <a:effectLst/>
                <a:latin typeface="Times New Roman" panose="02020603050405020304" pitchFamily="18" charset="0"/>
                <a:ea typeface="Times New Roman" panose="02020603050405020304" pitchFamily="18" charset="0"/>
              </a:rPr>
              <a:t> Deux solutions ont été testées pour un usage possible dans le polissage des lentilles. Sur les 300 lentilles polies avec la solution A, 253 n’ont pas de défauts ; sur les 260 lentilles polies avec la solution B, 196 n’ont pas de défauts.</a:t>
            </a:r>
            <a:br>
              <a:rPr lang="fr-CA" sz="1800" dirty="0">
                <a:solidFill>
                  <a:srgbClr val="000000"/>
                </a:solidFill>
                <a:effectLst/>
                <a:latin typeface="Times New Roman" panose="02020603050405020304" pitchFamily="18" charset="0"/>
                <a:ea typeface="Times New Roman" panose="02020603050405020304" pitchFamily="18" charset="0"/>
              </a:rPr>
            </a:br>
            <a:r>
              <a:rPr lang="fr-CA" sz="1800" dirty="0">
                <a:solidFill>
                  <a:srgbClr val="000000"/>
                </a:solidFill>
                <a:effectLst/>
                <a:latin typeface="Times New Roman" panose="02020603050405020304" pitchFamily="18" charset="0"/>
                <a:ea typeface="Times New Roman" panose="02020603050405020304" pitchFamily="18" charset="0"/>
              </a:rPr>
              <a:t>Soit </a:t>
            </a:r>
            <a:r>
              <a:rPr lang="fr-CA" sz="1800" i="1" dirty="0">
                <a:solidFill>
                  <a:srgbClr val="000000"/>
                </a:solidFill>
                <a:effectLst/>
                <a:latin typeface="Times New Roman" panose="02020603050405020304" pitchFamily="18" charset="0"/>
                <a:ea typeface="Times New Roman" panose="02020603050405020304" pitchFamily="18" charset="0"/>
              </a:rPr>
              <a:t>p</a:t>
            </a:r>
            <a:r>
              <a:rPr lang="fr-CA" sz="1800" baseline="-25000" dirty="0">
                <a:solidFill>
                  <a:srgbClr val="000000"/>
                </a:solidFill>
                <a:effectLst/>
                <a:latin typeface="Times New Roman" panose="02020603050405020304" pitchFamily="18" charset="0"/>
                <a:ea typeface="Times New Roman" panose="02020603050405020304" pitchFamily="18" charset="0"/>
              </a:rPr>
              <a:t>1</a:t>
            </a:r>
            <a:r>
              <a:rPr lang="fr-CA" sz="1800" dirty="0">
                <a:solidFill>
                  <a:srgbClr val="000000"/>
                </a:solidFill>
                <a:effectLst/>
                <a:latin typeface="Times New Roman" panose="02020603050405020304" pitchFamily="18" charset="0"/>
                <a:ea typeface="Times New Roman" panose="02020603050405020304" pitchFamily="18" charset="0"/>
              </a:rPr>
              <a:t> et </a:t>
            </a:r>
            <a:r>
              <a:rPr lang="fr-CA" sz="1800" i="1" dirty="0">
                <a:solidFill>
                  <a:srgbClr val="000000"/>
                </a:solidFill>
                <a:effectLst/>
                <a:latin typeface="Times New Roman" panose="02020603050405020304" pitchFamily="18" charset="0"/>
                <a:ea typeface="Times New Roman" panose="02020603050405020304" pitchFamily="18" charset="0"/>
              </a:rPr>
              <a:t>p</a:t>
            </a:r>
            <a:r>
              <a:rPr lang="fr-CA" sz="1800" baseline="-25000" dirty="0">
                <a:solidFill>
                  <a:srgbClr val="000000"/>
                </a:solidFill>
                <a:effectLst/>
                <a:latin typeface="Times New Roman" panose="02020603050405020304" pitchFamily="18" charset="0"/>
                <a:ea typeface="Times New Roman" panose="02020603050405020304" pitchFamily="18" charset="0"/>
              </a:rPr>
              <a:t>2</a:t>
            </a:r>
            <a:r>
              <a:rPr lang="fr-CA" sz="1800" dirty="0">
                <a:solidFill>
                  <a:srgbClr val="000000"/>
                </a:solidFill>
                <a:effectLst/>
                <a:latin typeface="Times New Roman" panose="02020603050405020304" pitchFamily="18" charset="0"/>
                <a:ea typeface="Times New Roman" panose="02020603050405020304" pitchFamily="18" charset="0"/>
              </a:rPr>
              <a:t> : les proportions des lentilles sans défauts avec l’emploi respectif de la solution A ou de la solution B.</a:t>
            </a:r>
            <a:br>
              <a:rPr lang="fr-CA" sz="1800" dirty="0">
                <a:solidFill>
                  <a:srgbClr val="000000"/>
                </a:solidFill>
                <a:effectLst/>
                <a:latin typeface="Times New Roman" panose="02020603050405020304" pitchFamily="18" charset="0"/>
                <a:ea typeface="Times New Roman" panose="02020603050405020304" pitchFamily="18" charset="0"/>
              </a:rPr>
            </a:br>
            <a:r>
              <a:rPr lang="fr-CA" sz="1800" dirty="0">
                <a:solidFill>
                  <a:srgbClr val="000000"/>
                </a:solidFill>
                <a:effectLst/>
                <a:latin typeface="Times New Roman" panose="02020603050405020304" pitchFamily="18" charset="0"/>
                <a:ea typeface="Times New Roman" panose="02020603050405020304" pitchFamily="18" charset="0"/>
              </a:rPr>
              <a:t>a)	Trouvez un intervalle de confiance de niveau 99 % pour la différence </a:t>
            </a:r>
            <a:r>
              <a:rPr lang="fr-CA" sz="1800" i="1" dirty="0">
                <a:solidFill>
                  <a:srgbClr val="000000"/>
                </a:solidFill>
                <a:effectLst/>
                <a:latin typeface="Times New Roman" panose="02020603050405020304" pitchFamily="18" charset="0"/>
                <a:ea typeface="Times New Roman" panose="02020603050405020304" pitchFamily="18" charset="0"/>
              </a:rPr>
              <a:t>p</a:t>
            </a:r>
            <a:r>
              <a:rPr lang="fr-CA" sz="1800" baseline="-25000" dirty="0">
                <a:solidFill>
                  <a:srgbClr val="000000"/>
                </a:solidFill>
                <a:effectLst/>
                <a:latin typeface="Times New Roman" panose="02020603050405020304" pitchFamily="18" charset="0"/>
                <a:ea typeface="Times New Roman" panose="02020603050405020304" pitchFamily="18" charset="0"/>
              </a:rPr>
              <a:t>1</a:t>
            </a:r>
            <a:r>
              <a:rPr lang="fr-CA" sz="1800" dirty="0">
                <a:solidFill>
                  <a:srgbClr val="000000"/>
                </a:solidFill>
                <a:effectLst/>
                <a:latin typeface="Times New Roman" panose="02020603050405020304" pitchFamily="18" charset="0"/>
                <a:ea typeface="Times New Roman" panose="02020603050405020304" pitchFamily="18" charset="0"/>
              </a:rPr>
              <a:t> − </a:t>
            </a:r>
            <a:r>
              <a:rPr lang="fr-CA" sz="1800" i="1" dirty="0">
                <a:solidFill>
                  <a:srgbClr val="000000"/>
                </a:solidFill>
                <a:effectLst/>
                <a:latin typeface="Times New Roman" panose="02020603050405020304" pitchFamily="18" charset="0"/>
                <a:ea typeface="Times New Roman" panose="02020603050405020304" pitchFamily="18" charset="0"/>
              </a:rPr>
              <a:t>p</a:t>
            </a:r>
            <a:r>
              <a:rPr lang="fr-CA" sz="1800" baseline="-25000" dirty="0">
                <a:solidFill>
                  <a:srgbClr val="000000"/>
                </a:solidFill>
                <a:effectLst/>
                <a:latin typeface="Times New Roman" panose="02020603050405020304" pitchFamily="18" charset="0"/>
                <a:ea typeface="Times New Roman" panose="02020603050405020304" pitchFamily="18" charset="0"/>
              </a:rPr>
              <a:t>2</a:t>
            </a:r>
            <a:r>
              <a:rPr lang="fr-CA" sz="1800" dirty="0">
                <a:solidFill>
                  <a:srgbClr val="000000"/>
                </a:solidFill>
                <a:effectLst/>
                <a:latin typeface="Times New Roman" panose="02020603050405020304" pitchFamily="18" charset="0"/>
                <a:ea typeface="Times New Roman" panose="02020603050405020304" pitchFamily="18" charset="0"/>
              </a:rPr>
              <a:t>.</a:t>
            </a:r>
            <a:br>
              <a:rPr lang="fr-CA" sz="1800" dirty="0">
                <a:solidFill>
                  <a:srgbClr val="000000"/>
                </a:solidFill>
                <a:effectLst/>
                <a:latin typeface="Times New Roman" panose="02020603050405020304" pitchFamily="18" charset="0"/>
                <a:ea typeface="Times New Roman" panose="02020603050405020304" pitchFamily="18" charset="0"/>
              </a:rPr>
            </a:br>
            <a:r>
              <a:rPr lang="fr-CA" sz="1800" dirty="0">
                <a:solidFill>
                  <a:srgbClr val="000000"/>
                </a:solidFill>
                <a:effectLst/>
                <a:latin typeface="Times New Roman" panose="02020603050405020304" pitchFamily="18" charset="0"/>
                <a:ea typeface="Times New Roman" panose="02020603050405020304" pitchFamily="18" charset="0"/>
              </a:rPr>
              <a:t>b)	Sur la base de cet intervalle, y a-t-il des raisons de croire qu’une solution est meilleure que l’autre ?</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A8E5F49A-8289-46F1-A6A9-DA5DB77BE05A}"/>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8E865AA4-CF99-41A6-9301-14590A8E02DE}"/>
              </a:ext>
            </a:extLst>
          </p:cNvPr>
          <p:cNvSpPr>
            <a:spLocks noGrp="1"/>
          </p:cNvSpPr>
          <p:nvPr>
            <p:ph type="sldNum" sz="quarter" idx="12"/>
          </p:nvPr>
        </p:nvSpPr>
        <p:spPr/>
        <p:txBody>
          <a:bodyPr/>
          <a:lstStyle/>
          <a:p>
            <a:fld id="{26377AD9-CE17-438C-A638-C64D2D42D7CF}" type="slidenum">
              <a:rPr lang="fr-CA" smtClean="0"/>
              <a:t>6</a:t>
            </a:fld>
            <a:endParaRPr lang="fr-CA"/>
          </a:p>
        </p:txBody>
      </p:sp>
    </p:spTree>
    <p:extLst>
      <p:ext uri="{BB962C8B-B14F-4D97-AF65-F5344CB8AC3E}">
        <p14:creationId xmlns:p14="http://schemas.microsoft.com/office/powerpoint/2010/main" val="759437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0E7337-2C64-4DDC-AADC-143F129ECBA4}"/>
              </a:ext>
            </a:extLst>
          </p:cNvPr>
          <p:cNvSpPr>
            <a:spLocks noGrp="1"/>
          </p:cNvSpPr>
          <p:nvPr>
            <p:ph type="title"/>
          </p:nvPr>
        </p:nvSpPr>
        <p:spPr/>
        <p:txBody>
          <a:bodyPr/>
          <a:lstStyle/>
          <a:p>
            <a:r>
              <a:rPr lang="fr-CA" dirty="0"/>
              <a:t>Méthode 1: Calcul à la main.</a:t>
            </a:r>
          </a:p>
        </p:txBody>
      </p:sp>
      <p:sp>
        <p:nvSpPr>
          <p:cNvPr id="3" name="Espace réservé du pied de page 2">
            <a:extLst>
              <a:ext uri="{FF2B5EF4-FFF2-40B4-BE49-F238E27FC236}">
                <a16:creationId xmlns:a16="http://schemas.microsoft.com/office/drawing/2014/main" id="{28636973-5286-4EC9-AC3B-68AA0C7DFD16}"/>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7F24F366-7C8E-4A93-9EBE-965917E30E20}"/>
              </a:ext>
            </a:extLst>
          </p:cNvPr>
          <p:cNvSpPr>
            <a:spLocks noGrp="1"/>
          </p:cNvSpPr>
          <p:nvPr>
            <p:ph type="sldNum" sz="quarter" idx="12"/>
          </p:nvPr>
        </p:nvSpPr>
        <p:spPr/>
        <p:txBody>
          <a:bodyPr/>
          <a:lstStyle/>
          <a:p>
            <a:fld id="{26377AD9-CE17-438C-A638-C64D2D42D7CF}" type="slidenum">
              <a:rPr lang="fr-CA" smtClean="0"/>
              <a:t>7</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9E5FE45E-726B-48C8-8826-A67765701EC8}"/>
                  </a:ext>
                </a:extLst>
              </p:cNvPr>
              <p:cNvSpPr txBox="1"/>
              <p:nvPr/>
            </p:nvSpPr>
            <p:spPr>
              <a:xfrm>
                <a:off x="1113865" y="1398494"/>
                <a:ext cx="9964270" cy="4732386"/>
              </a:xfrm>
              <a:prstGeom prst="rect">
                <a:avLst/>
              </a:prstGeom>
              <a:noFill/>
            </p:spPr>
            <p:txBody>
              <a:bodyPr wrap="square" rtlCol="0">
                <a:spAutoFit/>
              </a:bodyPr>
              <a:lstStyle/>
              <a:p>
                <a:r>
                  <a:rPr lang="fr-CA" dirty="0"/>
                  <a:t>(a) On a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1</m:t>
                        </m:r>
                      </m:sub>
                    </m:sSub>
                    <m:r>
                      <a:rPr lang="fr-CA" b="0" i="1" smtClean="0">
                        <a:latin typeface="Cambria Math" panose="02040503050406030204" pitchFamily="18" charset="0"/>
                      </a:rPr>
                      <m:t>=300</m:t>
                    </m:r>
                    <m:r>
                      <a:rPr lang="fr-CA" b="0" i="1" smtClean="0">
                        <a:latin typeface="Cambria Math" panose="02040503050406030204" pitchFamily="18" charset="0"/>
                        <a:ea typeface="Cambria Math" panose="02040503050406030204" pitchFamily="18" charset="0"/>
                      </a:rPr>
                      <m:t>→</m:t>
                    </m:r>
                    <m:acc>
                      <m:accPr>
                        <m:chr m:val="̂"/>
                        <m:ctrlPr>
                          <a:rPr lang="fr-CA" b="0" i="1" smtClean="0">
                            <a:latin typeface="Cambria Math" panose="02040503050406030204" pitchFamily="18" charset="0"/>
                            <a:ea typeface="Cambria Math" panose="02040503050406030204" pitchFamily="18" charset="0"/>
                          </a:rPr>
                        </m:ctrlPr>
                      </m:accPr>
                      <m:e>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𝑝</m:t>
                            </m:r>
                          </m:e>
                          <m:sub>
                            <m:r>
                              <a:rPr lang="fr-CA" b="0" i="1" smtClean="0">
                                <a:latin typeface="Cambria Math" panose="02040503050406030204" pitchFamily="18" charset="0"/>
                                <a:ea typeface="Cambria Math" panose="02040503050406030204" pitchFamily="18" charset="0"/>
                              </a:rPr>
                              <m:t>1</m:t>
                            </m:r>
                          </m:sub>
                        </m:sSub>
                      </m:e>
                    </m:acc>
                    <m:r>
                      <a:rPr lang="fr-CA" b="0" i="1" smtClean="0">
                        <a:latin typeface="Cambria Math" panose="02040503050406030204" pitchFamily="18" charset="0"/>
                      </a:rPr>
                      <m:t>=</m:t>
                    </m:r>
                    <m:f>
                      <m:fPr>
                        <m:ctrlPr>
                          <a:rPr lang="fr-CA" b="0" i="1" smtClean="0">
                            <a:latin typeface="Cambria Math" panose="02040503050406030204" pitchFamily="18" charset="0"/>
                          </a:rPr>
                        </m:ctrlPr>
                      </m:fPr>
                      <m:num>
                        <m:sSub>
                          <m:sSubPr>
                            <m:ctrlPr>
                              <a:rPr lang="fr-CA" b="0" i="1" smtClean="0">
                                <a:latin typeface="Cambria Math" panose="02040503050406030204" pitchFamily="18" charset="0"/>
                              </a:rPr>
                            </m:ctrlPr>
                          </m:sSubPr>
                          <m:e>
                            <m:r>
                              <a:rPr lang="fr-CA" b="0" i="1" smtClean="0">
                                <a:latin typeface="Cambria Math" panose="02040503050406030204" pitchFamily="18" charset="0"/>
                              </a:rPr>
                              <m:t>𝑥</m:t>
                            </m:r>
                          </m:e>
                          <m:sub>
                            <m:r>
                              <a:rPr lang="fr-CA" b="0" i="1" smtClean="0">
                                <a:latin typeface="Cambria Math" panose="02040503050406030204" pitchFamily="18" charset="0"/>
                              </a:rPr>
                              <m:t>1</m:t>
                            </m:r>
                          </m:sub>
                        </m:sSub>
                      </m:num>
                      <m:den>
                        <m:sSub>
                          <m:sSubPr>
                            <m:ctrlPr>
                              <a:rPr lang="fr-CA" b="0"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1</m:t>
                            </m:r>
                          </m:sub>
                        </m:sSub>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253</m:t>
                        </m:r>
                      </m:num>
                      <m:den>
                        <m:r>
                          <a:rPr lang="fr-CA" b="0" i="1" smtClean="0">
                            <a:latin typeface="Cambria Math" panose="02040503050406030204" pitchFamily="18" charset="0"/>
                          </a:rPr>
                          <m:t>300</m:t>
                        </m:r>
                      </m:den>
                    </m:f>
                    <m:r>
                      <a:rPr lang="fr-CA" b="0" i="1" smtClean="0">
                        <a:latin typeface="Cambria Math" panose="02040503050406030204" pitchFamily="18" charset="0"/>
                      </a:rPr>
                      <m:t>=0,8433   </m:t>
                    </m:r>
                    <m:r>
                      <a:rPr lang="fr-CA" b="0" i="1" smtClean="0">
                        <a:latin typeface="Cambria Math" panose="02040503050406030204" pitchFamily="18" charset="0"/>
                      </a:rPr>
                      <m:t>𝑒𝑡</m:t>
                    </m:r>
                    <m:r>
                      <a:rPr lang="fr-CA" b="0" i="1" smtClean="0">
                        <a:latin typeface="Cambria Math" panose="02040503050406030204" pitchFamily="18" charset="0"/>
                      </a:rPr>
                      <m:t> </m:t>
                    </m:r>
                    <m:sSub>
                      <m:sSubPr>
                        <m:ctrlPr>
                          <a:rPr lang="fr-CA" i="1">
                            <a:latin typeface="Cambria Math" panose="02040503050406030204" pitchFamily="18" charset="0"/>
                          </a:rPr>
                        </m:ctrlPr>
                      </m:sSubPr>
                      <m:e>
                        <m:r>
                          <a:rPr lang="fr-CA" i="1">
                            <a:latin typeface="Cambria Math" panose="02040503050406030204" pitchFamily="18" charset="0"/>
                          </a:rPr>
                          <m:t>𝑛</m:t>
                        </m:r>
                      </m:e>
                      <m:sub>
                        <m:r>
                          <a:rPr lang="fr-CA" b="0" i="1" smtClean="0">
                            <a:latin typeface="Cambria Math" panose="02040503050406030204" pitchFamily="18" charset="0"/>
                          </a:rPr>
                          <m:t>2</m:t>
                        </m:r>
                      </m:sub>
                    </m:sSub>
                    <m:r>
                      <a:rPr lang="fr-CA" i="1">
                        <a:latin typeface="Cambria Math" panose="02040503050406030204" pitchFamily="18" charset="0"/>
                      </a:rPr>
                      <m:t>=</m:t>
                    </m:r>
                    <m:r>
                      <a:rPr lang="fr-CA" b="0" i="1" smtClean="0">
                        <a:latin typeface="Cambria Math" panose="02040503050406030204" pitchFamily="18" charset="0"/>
                      </a:rPr>
                      <m:t>260</m:t>
                    </m:r>
                    <m:r>
                      <a:rPr lang="fr-CA" i="1">
                        <a:latin typeface="Cambria Math" panose="02040503050406030204" pitchFamily="18" charset="0"/>
                        <a:ea typeface="Cambria Math" panose="02040503050406030204" pitchFamily="18" charset="0"/>
                      </a:rPr>
                      <m:t>→</m:t>
                    </m:r>
                    <m:acc>
                      <m:accPr>
                        <m:chr m:val="̂"/>
                        <m:ctrlPr>
                          <a:rPr lang="fr-CA" i="1">
                            <a:latin typeface="Cambria Math" panose="02040503050406030204" pitchFamily="18" charset="0"/>
                            <a:ea typeface="Cambria Math" panose="02040503050406030204" pitchFamily="18" charset="0"/>
                          </a:rPr>
                        </m:ctrlPr>
                      </m:accPr>
                      <m:e>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𝑝</m:t>
                            </m:r>
                          </m:e>
                          <m:sub>
                            <m:r>
                              <a:rPr lang="fr-CA" b="0" i="1" smtClean="0">
                                <a:latin typeface="Cambria Math" panose="02040503050406030204" pitchFamily="18" charset="0"/>
                                <a:ea typeface="Cambria Math" panose="02040503050406030204" pitchFamily="18" charset="0"/>
                              </a:rPr>
                              <m:t>2</m:t>
                            </m:r>
                          </m:sub>
                        </m:sSub>
                      </m:e>
                    </m:acc>
                    <m:r>
                      <a:rPr lang="fr-CA" i="1">
                        <a:latin typeface="Cambria Math" panose="02040503050406030204" pitchFamily="18" charset="0"/>
                      </a:rPr>
                      <m:t>=</m:t>
                    </m:r>
                    <m:f>
                      <m:fPr>
                        <m:ctrlPr>
                          <a:rPr lang="fr-CA" i="1">
                            <a:latin typeface="Cambria Math" panose="02040503050406030204" pitchFamily="18" charset="0"/>
                          </a:rPr>
                        </m:ctrlPr>
                      </m:fPr>
                      <m:num>
                        <m:r>
                          <a:rPr lang="fr-CA" b="0" i="1" smtClean="0">
                            <a:latin typeface="Cambria Math" panose="02040503050406030204" pitchFamily="18" charset="0"/>
                          </a:rPr>
                          <m:t>196</m:t>
                        </m:r>
                      </m:num>
                      <m:den>
                        <m:r>
                          <a:rPr lang="fr-CA" b="0" i="1" smtClean="0">
                            <a:latin typeface="Cambria Math" panose="02040503050406030204" pitchFamily="18" charset="0"/>
                          </a:rPr>
                          <m:t>260</m:t>
                        </m:r>
                      </m:den>
                    </m:f>
                    <m:r>
                      <a:rPr lang="fr-CA" i="1">
                        <a:latin typeface="Cambria Math" panose="02040503050406030204" pitchFamily="18" charset="0"/>
                      </a:rPr>
                      <m:t>=</m:t>
                    </m:r>
                    <m:f>
                      <m:fPr>
                        <m:ctrlPr>
                          <a:rPr lang="fr-CA" i="1" smtClean="0">
                            <a:latin typeface="Cambria Math" panose="02040503050406030204" pitchFamily="18" charset="0"/>
                          </a:rPr>
                        </m:ctrlPr>
                      </m:fPr>
                      <m:num>
                        <m:sSub>
                          <m:sSubPr>
                            <m:ctrlPr>
                              <a:rPr lang="fr-CA" i="1" smtClean="0">
                                <a:latin typeface="Cambria Math" panose="02040503050406030204" pitchFamily="18" charset="0"/>
                              </a:rPr>
                            </m:ctrlPr>
                          </m:sSubPr>
                          <m:e>
                            <m:r>
                              <a:rPr lang="fr-CA" b="0" i="1" smtClean="0">
                                <a:latin typeface="Cambria Math" panose="02040503050406030204" pitchFamily="18" charset="0"/>
                              </a:rPr>
                              <m:t>𝑥</m:t>
                            </m:r>
                          </m:e>
                          <m:sub>
                            <m:r>
                              <a:rPr lang="fr-CA" b="0" i="1" smtClean="0">
                                <a:latin typeface="Cambria Math" panose="02040503050406030204" pitchFamily="18" charset="0"/>
                              </a:rPr>
                              <m:t>2</m:t>
                            </m:r>
                          </m:sub>
                        </m:sSub>
                      </m:num>
                      <m:den>
                        <m:sSub>
                          <m:sSubPr>
                            <m:ctrlPr>
                              <a:rPr lang="fr-CA"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2</m:t>
                            </m:r>
                          </m:sub>
                        </m:sSub>
                      </m:den>
                    </m:f>
                    <m:r>
                      <a:rPr lang="fr-CA" b="0" i="1" smtClean="0">
                        <a:latin typeface="Cambria Math" panose="02040503050406030204" pitchFamily="18" charset="0"/>
                      </a:rPr>
                      <m:t>=</m:t>
                    </m:r>
                    <m:r>
                      <a:rPr lang="fr-CA" i="1">
                        <a:latin typeface="Cambria Math" panose="02040503050406030204" pitchFamily="18" charset="0"/>
                      </a:rPr>
                      <m:t>0,</m:t>
                    </m:r>
                    <m:r>
                      <a:rPr lang="fr-CA" b="0" i="1" smtClean="0">
                        <a:latin typeface="Cambria Math" panose="02040503050406030204" pitchFamily="18" charset="0"/>
                      </a:rPr>
                      <m:t>7538 </m:t>
                    </m:r>
                    <m:r>
                      <a:rPr lang="fr-CA" i="1">
                        <a:latin typeface="Cambria Math" panose="02040503050406030204" pitchFamily="18" charset="0"/>
                      </a:rPr>
                      <m:t> </m:t>
                    </m:r>
                  </m:oMath>
                </a14:m>
                <a:endParaRPr lang="fr-CA" dirty="0"/>
              </a:p>
              <a:p>
                <a:endParaRPr lang="fr-CA" dirty="0"/>
              </a:p>
              <a:p>
                <a:pPr/>
                <a14:m>
                  <m:oMathPara xmlns:m="http://schemas.openxmlformats.org/officeDocument/2006/math">
                    <m:oMathParaPr>
                      <m:jc m:val="centerGroup"/>
                    </m:oMathParaPr>
                    <m:oMath xmlns:m="http://schemas.openxmlformats.org/officeDocument/2006/math">
                      <m:r>
                        <a:rPr lang="fr-CA" i="1" smtClean="0">
                          <a:latin typeface="Cambria Math" panose="02040503050406030204" pitchFamily="18" charset="0"/>
                          <a:ea typeface="Cambria Math" panose="02040503050406030204" pitchFamily="18" charset="0"/>
                        </a:rPr>
                        <m:t>𝛼</m:t>
                      </m:r>
                      <m:r>
                        <a:rPr lang="fr-CA" b="0" i="1" smtClean="0">
                          <a:latin typeface="Cambria Math" panose="02040503050406030204" pitchFamily="18" charset="0"/>
                          <a:ea typeface="Cambria Math" panose="02040503050406030204" pitchFamily="18" charset="0"/>
                        </a:rPr>
                        <m:t>=1%→</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𝑧</m:t>
                          </m:r>
                        </m:e>
                        <m:sub>
                          <m:r>
                            <a:rPr lang="fr-CA" i="1">
                              <a:latin typeface="Cambria Math" panose="02040503050406030204" pitchFamily="18" charset="0"/>
                              <a:ea typeface="Cambria Math" panose="02040503050406030204" pitchFamily="18" charset="0"/>
                            </a:rPr>
                            <m:t>𝛼</m:t>
                          </m:r>
                          <m:r>
                            <a:rPr lang="fr-CA" b="0" i="1" smtClean="0">
                              <a:latin typeface="Cambria Math" panose="02040503050406030204" pitchFamily="18" charset="0"/>
                              <a:ea typeface="Cambria Math" panose="02040503050406030204" pitchFamily="18" charset="0"/>
                            </a:rPr>
                            <m:t>/2</m:t>
                          </m:r>
                        </m:sub>
                      </m:sSub>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𝑧</m:t>
                          </m:r>
                        </m:e>
                        <m:sub>
                          <m:r>
                            <a:rPr lang="fr-CA" b="0" i="1" smtClean="0">
                              <a:latin typeface="Cambria Math" panose="02040503050406030204" pitchFamily="18" charset="0"/>
                              <a:ea typeface="Cambria Math" panose="02040503050406030204" pitchFamily="18" charset="0"/>
                            </a:rPr>
                            <m:t>0,005</m:t>
                          </m:r>
                        </m:sub>
                      </m:sSub>
                      <m:r>
                        <a:rPr lang="fr-CA" b="0" i="1" smtClean="0">
                          <a:latin typeface="Cambria Math" panose="02040503050406030204" pitchFamily="18" charset="0"/>
                          <a:ea typeface="Cambria Math" panose="02040503050406030204" pitchFamily="18" charset="0"/>
                        </a:rPr>
                        <m:t>=2,576</m:t>
                      </m:r>
                    </m:oMath>
                  </m:oMathPara>
                </a14:m>
                <a:endParaRPr lang="fr-CA" dirty="0"/>
              </a:p>
              <a:p>
                <a:endParaRPr lang="fr-CA" dirty="0"/>
              </a:p>
              <a:p>
                <a:r>
                  <a:rPr lang="fr-CA" dirty="0"/>
                  <a:t>Par conséquent la marge d’erreur est égale à:</a:t>
                </a:r>
              </a:p>
              <a:p>
                <a:endParaRPr lang="fr-CA" dirty="0"/>
              </a:p>
              <a:p>
                <a14:m>
                  <m:oMath xmlns:m="http://schemas.openxmlformats.org/officeDocument/2006/math">
                    <m:r>
                      <a:rPr lang="fr-CA" b="0" i="1" smtClean="0">
                        <a:latin typeface="Cambria Math" panose="02040503050406030204" pitchFamily="18" charset="0"/>
                      </a:rPr>
                      <m:t>𝐸</m:t>
                    </m:r>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𝑧</m:t>
                        </m:r>
                      </m:e>
                      <m:sub>
                        <m:r>
                          <a:rPr lang="fr-CA" b="0" i="1" smtClean="0">
                            <a:latin typeface="Cambria Math" panose="02040503050406030204" pitchFamily="18" charset="0"/>
                            <a:ea typeface="Cambria Math" panose="02040503050406030204" pitchFamily="18" charset="0"/>
                          </a:rPr>
                          <m:t>𝛼</m:t>
                        </m:r>
                        <m:r>
                          <a:rPr lang="fr-CA" b="0" i="1" smtClean="0">
                            <a:latin typeface="Cambria Math" panose="02040503050406030204" pitchFamily="18" charset="0"/>
                            <a:ea typeface="Cambria Math" panose="02040503050406030204" pitchFamily="18" charset="0"/>
                          </a:rPr>
                          <m:t>/2</m:t>
                        </m:r>
                      </m:sub>
                    </m:sSub>
                    <m:r>
                      <a:rPr lang="fr-CA" b="0" i="1" smtClean="0">
                        <a:latin typeface="Cambria Math" panose="02040503050406030204" pitchFamily="18" charset="0"/>
                      </a:rPr>
                      <m:t>∗</m:t>
                    </m:r>
                  </m:oMath>
                </a14:m>
                <a:r>
                  <a:rPr lang="fr-CA" dirty="0"/>
                  <a:t> </a:t>
                </a:r>
                <a14:m>
                  <m:oMath xmlns:m="http://schemas.openxmlformats.org/officeDocument/2006/math">
                    <m:rad>
                      <m:radPr>
                        <m:degHide m:val="on"/>
                        <m:ctrlPr>
                          <a:rPr lang="fr-CA" i="1">
                            <a:latin typeface="Cambria Math" panose="02040503050406030204" pitchFamily="18" charset="0"/>
                          </a:rPr>
                        </m:ctrlPr>
                      </m:radPr>
                      <m:deg/>
                      <m:e>
                        <m:f>
                          <m:fPr>
                            <m:ctrlPr>
                              <a:rPr lang="fr-CA" i="1">
                                <a:latin typeface="Cambria Math" panose="02040503050406030204" pitchFamily="18" charset="0"/>
                              </a:rPr>
                            </m:ctrlPr>
                          </m:fPr>
                          <m:num>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1</m:t>
                                    </m:r>
                                  </m:sub>
                                </m:sSub>
                              </m:e>
                            </m:acc>
                            <m:r>
                              <a:rPr lang="fr-CA" i="1">
                                <a:latin typeface="Cambria Math" panose="02040503050406030204" pitchFamily="18" charset="0"/>
                              </a:rPr>
                              <m:t>∗</m:t>
                            </m:r>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𝑞</m:t>
                                    </m:r>
                                  </m:e>
                                  <m:sub>
                                    <m:r>
                                      <a:rPr lang="fr-CA" i="1">
                                        <a:latin typeface="Cambria Math" panose="02040503050406030204" pitchFamily="18" charset="0"/>
                                      </a:rPr>
                                      <m:t>1</m:t>
                                    </m:r>
                                  </m:sub>
                                </m:sSub>
                              </m:e>
                            </m:acc>
                          </m:num>
                          <m:den>
                            <m:sSub>
                              <m:sSubPr>
                                <m:ctrlPr>
                                  <a:rPr lang="fr-CA" i="1">
                                    <a:latin typeface="Cambria Math" panose="02040503050406030204" pitchFamily="18" charset="0"/>
                                  </a:rPr>
                                </m:ctrlPr>
                              </m:sSubPr>
                              <m:e>
                                <m:r>
                                  <a:rPr lang="fr-CA" i="1">
                                    <a:latin typeface="Cambria Math" panose="02040503050406030204" pitchFamily="18" charset="0"/>
                                  </a:rPr>
                                  <m:t>𝑛</m:t>
                                </m:r>
                              </m:e>
                              <m:sub>
                                <m:r>
                                  <a:rPr lang="fr-CA" i="1">
                                    <a:latin typeface="Cambria Math" panose="02040503050406030204" pitchFamily="18" charset="0"/>
                                  </a:rPr>
                                  <m:t>1</m:t>
                                </m:r>
                              </m:sub>
                            </m:sSub>
                          </m:den>
                        </m:f>
                        <m:r>
                          <a:rPr lang="fr-CA" i="1">
                            <a:latin typeface="Cambria Math" panose="02040503050406030204" pitchFamily="18" charset="0"/>
                          </a:rPr>
                          <m:t>+</m:t>
                        </m:r>
                        <m:f>
                          <m:fPr>
                            <m:ctrlPr>
                              <a:rPr lang="fr-CA" i="1">
                                <a:latin typeface="Cambria Math" panose="02040503050406030204" pitchFamily="18" charset="0"/>
                              </a:rPr>
                            </m:ctrlPr>
                          </m:fPr>
                          <m:num>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2</m:t>
                                    </m:r>
                                  </m:sub>
                                </m:sSub>
                              </m:e>
                            </m:acc>
                            <m:r>
                              <a:rPr lang="fr-CA" i="1">
                                <a:latin typeface="Cambria Math" panose="02040503050406030204" pitchFamily="18" charset="0"/>
                              </a:rPr>
                              <m:t>∗</m:t>
                            </m:r>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𝑞</m:t>
                                    </m:r>
                                  </m:e>
                                  <m:sub>
                                    <m:r>
                                      <a:rPr lang="fr-CA" i="1">
                                        <a:latin typeface="Cambria Math" panose="02040503050406030204" pitchFamily="18" charset="0"/>
                                      </a:rPr>
                                      <m:t>2</m:t>
                                    </m:r>
                                  </m:sub>
                                </m:sSub>
                              </m:e>
                            </m:acc>
                          </m:num>
                          <m:den>
                            <m:sSub>
                              <m:sSubPr>
                                <m:ctrlPr>
                                  <a:rPr lang="fr-CA" i="1">
                                    <a:latin typeface="Cambria Math" panose="02040503050406030204" pitchFamily="18" charset="0"/>
                                  </a:rPr>
                                </m:ctrlPr>
                              </m:sSubPr>
                              <m:e>
                                <m:r>
                                  <a:rPr lang="fr-CA" i="1">
                                    <a:latin typeface="Cambria Math" panose="02040503050406030204" pitchFamily="18" charset="0"/>
                                  </a:rPr>
                                  <m:t>𝑛</m:t>
                                </m:r>
                              </m:e>
                              <m:sub>
                                <m:r>
                                  <a:rPr lang="fr-CA" i="1">
                                    <a:latin typeface="Cambria Math" panose="02040503050406030204" pitchFamily="18" charset="0"/>
                                  </a:rPr>
                                  <m:t>2</m:t>
                                </m:r>
                              </m:sub>
                            </m:sSub>
                          </m:den>
                        </m:f>
                      </m:e>
                    </m:rad>
                    <m:r>
                      <a:rPr lang="fr-CA" b="0" i="0" smtClean="0">
                        <a:latin typeface="Cambria Math" panose="02040503050406030204" pitchFamily="18" charset="0"/>
                      </a:rPr>
                      <m:t> =0,0875  </m:t>
                    </m:r>
                    <m:r>
                      <m:rPr>
                        <m:sty m:val="p"/>
                      </m:rPr>
                      <a:rPr lang="fr-CA" b="0" i="0" smtClean="0">
                        <a:latin typeface="Cambria Math" panose="02040503050406030204" pitchFamily="18" charset="0"/>
                      </a:rPr>
                      <m:t>et</m:t>
                    </m:r>
                    <m:r>
                      <a:rPr lang="fr-CA" b="0" i="0" smtClean="0">
                        <a:latin typeface="Cambria Math" panose="02040503050406030204" pitchFamily="18" charset="0"/>
                      </a:rPr>
                      <m:t>    </m:t>
                    </m:r>
                    <m:r>
                      <m:rPr>
                        <m:sty m:val="p"/>
                      </m:rPr>
                      <a:rPr lang="fr-CA" b="0" i="0" smtClean="0">
                        <a:latin typeface="Cambria Math" panose="02040503050406030204" pitchFamily="18" charset="0"/>
                      </a:rPr>
                      <m:t>donc</m:t>
                    </m:r>
                    <m:r>
                      <a:rPr lang="fr-CA" b="0" i="0" smtClean="0">
                        <a:latin typeface="Cambria Math" panose="02040503050406030204" pitchFamily="18" charset="0"/>
                      </a:rPr>
                      <m:t> </m:t>
                    </m:r>
                    <m:r>
                      <m:rPr>
                        <m:sty m:val="p"/>
                      </m:rPr>
                      <a:rPr lang="fr-CA" b="0" i="0" smtClean="0">
                        <a:latin typeface="Cambria Math" panose="02040503050406030204" pitchFamily="18" charset="0"/>
                      </a:rPr>
                      <m:t>un</m:t>
                    </m:r>
                    <m:r>
                      <a:rPr lang="fr-CA" b="0" i="0" smtClean="0">
                        <a:latin typeface="Cambria Math" panose="02040503050406030204" pitchFamily="18" charset="0"/>
                      </a:rPr>
                      <m:t> </m:t>
                    </m:r>
                    <m:r>
                      <m:rPr>
                        <m:sty m:val="p"/>
                      </m:rPr>
                      <a:rPr lang="fr-CA" b="0" i="0" smtClean="0">
                        <a:latin typeface="Cambria Math" panose="02040503050406030204" pitchFamily="18" charset="0"/>
                      </a:rPr>
                      <m:t>intervalle</m:t>
                    </m:r>
                    <m:r>
                      <a:rPr lang="fr-CA" b="0" i="0" smtClean="0">
                        <a:latin typeface="Cambria Math" panose="02040503050406030204" pitchFamily="18" charset="0"/>
                      </a:rPr>
                      <m:t> </m:t>
                    </m:r>
                    <m:r>
                      <m:rPr>
                        <m:sty m:val="p"/>
                      </m:rPr>
                      <a:rPr lang="fr-CA" b="0" i="0" smtClean="0">
                        <a:latin typeface="Cambria Math" panose="02040503050406030204" pitchFamily="18" charset="0"/>
                      </a:rPr>
                      <m:t>de</m:t>
                    </m:r>
                    <m:r>
                      <a:rPr lang="fr-CA" b="0" i="0" smtClean="0">
                        <a:latin typeface="Cambria Math" panose="02040503050406030204" pitchFamily="18" charset="0"/>
                      </a:rPr>
                      <m:t> </m:t>
                    </m:r>
                    <m:r>
                      <m:rPr>
                        <m:sty m:val="p"/>
                      </m:rPr>
                      <a:rPr lang="fr-CA" b="0" i="0" smtClean="0">
                        <a:latin typeface="Cambria Math" panose="02040503050406030204" pitchFamily="18" charset="0"/>
                      </a:rPr>
                      <m:t>confiance</m:t>
                    </m:r>
                    <m:r>
                      <a:rPr lang="fr-CA" b="0" i="0" smtClean="0">
                        <a:latin typeface="Cambria Math" panose="02040503050406030204" pitchFamily="18" charset="0"/>
                      </a:rPr>
                      <m:t> </m:t>
                    </m:r>
                    <m:r>
                      <m:rPr>
                        <m:sty m:val="p"/>
                      </m:rPr>
                      <a:rPr lang="fr-CA" b="0" i="0" smtClean="0">
                        <a:latin typeface="Cambria Math" panose="02040503050406030204" pitchFamily="18" charset="0"/>
                      </a:rPr>
                      <m:t>de</m:t>
                    </m:r>
                    <m:r>
                      <a:rPr lang="fr-CA" b="0" i="0" smtClean="0">
                        <a:latin typeface="Cambria Math" panose="02040503050406030204" pitchFamily="18" charset="0"/>
                      </a:rPr>
                      <m:t> </m:t>
                    </m:r>
                    <m:r>
                      <m:rPr>
                        <m:sty m:val="p"/>
                      </m:rPr>
                      <a:rPr lang="fr-CA" b="0" i="0" smtClean="0">
                        <a:latin typeface="Cambria Math" panose="02040503050406030204" pitchFamily="18" charset="0"/>
                      </a:rPr>
                      <m:t>niveau</m:t>
                    </m:r>
                    <m:r>
                      <a:rPr lang="fr-CA" b="0" i="0" smtClean="0">
                        <a:latin typeface="Cambria Math" panose="02040503050406030204" pitchFamily="18" charset="0"/>
                      </a:rPr>
                      <m:t> 99%</m:t>
                    </m:r>
                  </m:oMath>
                </a14:m>
                <a:r>
                  <a:rPr lang="fr-CA" dirty="0"/>
                  <a:t>  pour </a:t>
                </a:r>
              </a:p>
              <a:p>
                <a:endParaRPr lang="fr-CA" dirty="0"/>
              </a:p>
              <a:p>
                <a14:m>
                  <m:oMath xmlns:m="http://schemas.openxmlformats.org/officeDocument/2006/math">
                    <m:r>
                      <m:rPr>
                        <m:nor/>
                      </m:rPr>
                      <a:rPr lang="fr-CA" dirty="0"/>
                      <m:t>(</m:t>
                    </m:r>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1</m:t>
                        </m:r>
                      </m:sub>
                    </m:sSub>
                    <m:r>
                      <a:rPr lang="fr-CA" i="1">
                        <a:latin typeface="Cambria Math" panose="02040503050406030204" pitchFamily="18" charset="0"/>
                      </a:rPr>
                      <m:t>−</m:t>
                    </m:r>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2</m:t>
                        </m:r>
                      </m:sub>
                    </m:sSub>
                    <m:r>
                      <m:rPr>
                        <m:nor/>
                      </m:rPr>
                      <a:rPr lang="fr-CA" dirty="0"/>
                      <m:t> )</m:t>
                    </m:r>
                  </m:oMath>
                </a14:m>
                <a:r>
                  <a:rPr lang="fr-CA" dirty="0"/>
                  <a:t>  est  égal à </a:t>
                </a:r>
                <a14:m>
                  <m:oMath xmlns:m="http://schemas.openxmlformats.org/officeDocument/2006/math">
                    <m:d>
                      <m:dPr>
                        <m:begChr m:val="["/>
                        <m:endChr m:val="]"/>
                        <m:ctrlPr>
                          <a:rPr lang="fr-CA" i="1" smtClean="0">
                            <a:latin typeface="Cambria Math" panose="02040503050406030204" pitchFamily="18" charset="0"/>
                          </a:rPr>
                        </m:ctrlPr>
                      </m:dPr>
                      <m:e>
                        <m:d>
                          <m:dPr>
                            <m:ctrlPr>
                              <a:rPr lang="fr-CA" b="0" i="1" smtClean="0">
                                <a:latin typeface="Cambria Math" panose="02040503050406030204" pitchFamily="18" charset="0"/>
                              </a:rPr>
                            </m:ctrlPr>
                          </m:dPr>
                          <m:e>
                            <m:acc>
                              <m:accPr>
                                <m:chr m:val="̂"/>
                                <m:ctrlPr>
                                  <a:rPr lang="fr-CA" b="0" i="1" smtClean="0">
                                    <a:latin typeface="Cambria Math" panose="02040503050406030204" pitchFamily="18" charset="0"/>
                                  </a:rPr>
                                </m:ctrlPr>
                              </m:acc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e>
                            </m:acc>
                            <m:r>
                              <a:rPr lang="fr-CA" b="0" i="1" smtClean="0">
                                <a:latin typeface="Cambria Math" panose="02040503050406030204" pitchFamily="18" charset="0"/>
                              </a:rPr>
                              <m:t>−</m:t>
                            </m:r>
                            <m:acc>
                              <m:accPr>
                                <m:chr m:val="̂"/>
                                <m:ctrlPr>
                                  <a:rPr lang="fr-CA" b="0" i="1" smtClean="0">
                                    <a:latin typeface="Cambria Math" panose="02040503050406030204" pitchFamily="18" charset="0"/>
                                  </a:rPr>
                                </m:ctrlPr>
                              </m:acc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2</m:t>
                                    </m:r>
                                  </m:sub>
                                </m:sSub>
                              </m:e>
                            </m:acc>
                          </m:e>
                        </m:d>
                        <m:r>
                          <a:rPr lang="fr-CA" b="0" i="1" smtClean="0">
                            <a:latin typeface="Cambria Math" panose="02040503050406030204" pitchFamily="18" charset="0"/>
                          </a:rPr>
                          <m:t>−</m:t>
                        </m:r>
                        <m:r>
                          <a:rPr lang="fr-CA" b="0" i="1" smtClean="0">
                            <a:latin typeface="Cambria Math" panose="02040503050406030204" pitchFamily="18" charset="0"/>
                          </a:rPr>
                          <m:t>𝐸</m:t>
                        </m:r>
                        <m:r>
                          <a:rPr lang="fr-CA" b="0" i="1" smtClean="0">
                            <a:latin typeface="Cambria Math" panose="02040503050406030204" pitchFamily="18" charset="0"/>
                          </a:rPr>
                          <m:t>;</m:t>
                        </m:r>
                        <m:d>
                          <m:dPr>
                            <m:ctrlPr>
                              <a:rPr lang="fr-CA" i="1">
                                <a:latin typeface="Cambria Math" panose="02040503050406030204" pitchFamily="18" charset="0"/>
                              </a:rPr>
                            </m:ctrlPr>
                          </m:dPr>
                          <m:e>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1</m:t>
                                    </m:r>
                                  </m:sub>
                                </m:sSub>
                              </m:e>
                            </m:acc>
                            <m:r>
                              <a:rPr lang="fr-CA" i="1">
                                <a:latin typeface="Cambria Math" panose="02040503050406030204" pitchFamily="18" charset="0"/>
                              </a:rPr>
                              <m:t>−</m:t>
                            </m:r>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2</m:t>
                                    </m:r>
                                  </m:sub>
                                </m:sSub>
                              </m:e>
                            </m:acc>
                          </m:e>
                        </m:d>
                        <m:r>
                          <a:rPr lang="fr-CA" b="0" i="1" smtClean="0">
                            <a:latin typeface="Cambria Math" panose="02040503050406030204" pitchFamily="18" charset="0"/>
                          </a:rPr>
                          <m:t>+</m:t>
                        </m:r>
                        <m:r>
                          <a:rPr lang="fr-CA" i="1">
                            <a:latin typeface="Cambria Math" panose="02040503050406030204" pitchFamily="18" charset="0"/>
                          </a:rPr>
                          <m:t>𝐸</m:t>
                        </m:r>
                      </m:e>
                    </m:d>
                    <m:r>
                      <a:rPr lang="fr-CA" b="0" i="0" smtClean="0">
                        <a:latin typeface="Cambria Math" panose="02040503050406030204" pitchFamily="18" charset="0"/>
                      </a:rPr>
                      <m:t>=</m:t>
                    </m:r>
                    <m:d>
                      <m:dPr>
                        <m:begChr m:val="["/>
                        <m:endChr m:val="]"/>
                        <m:ctrlPr>
                          <a:rPr lang="fr-CA" b="0" i="1" smtClean="0">
                            <a:latin typeface="Cambria Math" panose="02040503050406030204" pitchFamily="18" charset="0"/>
                          </a:rPr>
                        </m:ctrlPr>
                      </m:dPr>
                      <m:e>
                        <m:r>
                          <a:rPr lang="fr-CA" b="0" i="1" smtClean="0">
                            <a:latin typeface="Cambria Math" panose="02040503050406030204" pitchFamily="18" charset="0"/>
                          </a:rPr>
                          <m:t>0,0895−0,0875;0,0895+0,0875</m:t>
                        </m:r>
                      </m:e>
                    </m:d>
                    <m:r>
                      <a:rPr lang="fr-CA" b="0" i="1" smtClean="0">
                        <a:latin typeface="Cambria Math" panose="02040503050406030204" pitchFamily="18" charset="0"/>
                      </a:rPr>
                      <m:t>=</m:t>
                    </m:r>
                    <m:d>
                      <m:dPr>
                        <m:begChr m:val="["/>
                        <m:endChr m:val="]"/>
                        <m:ctrlPr>
                          <a:rPr lang="fr-CA" b="0" i="1" smtClean="0">
                            <a:latin typeface="Cambria Math" panose="02040503050406030204" pitchFamily="18" charset="0"/>
                          </a:rPr>
                        </m:ctrlPr>
                      </m:dPr>
                      <m:e>
                        <m:r>
                          <a:rPr lang="fr-CA" b="0" i="1" smtClean="0">
                            <a:latin typeface="Cambria Math" panose="02040503050406030204" pitchFamily="18" charset="0"/>
                          </a:rPr>
                          <m:t>0,002;   0,177</m:t>
                        </m:r>
                      </m:e>
                    </m:d>
                  </m:oMath>
                </a14:m>
                <a:endParaRPr lang="fr-CA" dirty="0"/>
              </a:p>
              <a:p>
                <a:endParaRPr lang="fr-CA" dirty="0"/>
              </a:p>
              <a:p>
                <a:r>
                  <a:rPr lang="fr-CA" dirty="0"/>
                  <a:t>(b) </a:t>
                </a:r>
                <a:r>
                  <a:rPr lang="fr-CA" sz="1800" dirty="0">
                    <a:solidFill>
                      <a:srgbClr val="000000"/>
                    </a:solidFill>
                    <a:effectLst/>
                    <a:latin typeface="Times New Roman" panose="02020603050405020304" pitchFamily="18" charset="0"/>
                    <a:ea typeface="Times New Roman" panose="02020603050405020304" pitchFamily="18" charset="0"/>
                  </a:rPr>
                  <a:t>À partir de ces données, on est assuré à 99 % que la solution A est significativement meilleure que la solution B, car le pourcentage des lentilles sans défauts avec l’emploi de la solution A est plus grand qu’avec l’emploi de la solution B.</a:t>
                </a:r>
              </a:p>
              <a:p>
                <a:endParaRPr lang="fr-CA" dirty="0"/>
              </a:p>
            </p:txBody>
          </p:sp>
        </mc:Choice>
        <mc:Fallback xmlns="">
          <p:sp>
            <p:nvSpPr>
              <p:cNvPr id="5" name="ZoneTexte 4">
                <a:extLst>
                  <a:ext uri="{FF2B5EF4-FFF2-40B4-BE49-F238E27FC236}">
                    <a16:creationId xmlns:a16="http://schemas.microsoft.com/office/drawing/2014/main" id="{9E5FE45E-726B-48C8-8826-A67765701EC8}"/>
                  </a:ext>
                </a:extLst>
              </p:cNvPr>
              <p:cNvSpPr txBox="1">
                <a:spLocks noRot="1" noChangeAspect="1" noMove="1" noResize="1" noEditPoints="1" noAdjustHandles="1" noChangeArrowheads="1" noChangeShapeType="1" noTextEdit="1"/>
              </p:cNvSpPr>
              <p:nvPr/>
            </p:nvSpPr>
            <p:spPr>
              <a:xfrm>
                <a:off x="1113865" y="1398494"/>
                <a:ext cx="9964270" cy="4732386"/>
              </a:xfrm>
              <a:prstGeom prst="rect">
                <a:avLst/>
              </a:prstGeom>
              <a:blipFill>
                <a:blip r:embed="rId2"/>
                <a:stretch>
                  <a:fillRect l="-551"/>
                </a:stretch>
              </a:blipFill>
            </p:spPr>
            <p:txBody>
              <a:bodyPr/>
              <a:lstStyle/>
              <a:p>
                <a:r>
                  <a:rPr lang="fr-CA">
                    <a:noFill/>
                  </a:rPr>
                  <a:t> </a:t>
                </a:r>
              </a:p>
            </p:txBody>
          </p:sp>
        </mc:Fallback>
      </mc:AlternateContent>
    </p:spTree>
    <p:extLst>
      <p:ext uri="{BB962C8B-B14F-4D97-AF65-F5344CB8AC3E}">
        <p14:creationId xmlns:p14="http://schemas.microsoft.com/office/powerpoint/2010/main" val="2635865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4D0395-4007-423B-82C2-7D5A00615850}"/>
              </a:ext>
            </a:extLst>
          </p:cNvPr>
          <p:cNvSpPr>
            <a:spLocks noGrp="1"/>
          </p:cNvSpPr>
          <p:nvPr>
            <p:ph type="title"/>
          </p:nvPr>
        </p:nvSpPr>
        <p:spPr/>
        <p:txBody>
          <a:bodyPr/>
          <a:lstStyle/>
          <a:p>
            <a:r>
              <a:rPr lang="fr-CA" dirty="0"/>
              <a:t>Méthode 2: L’utilisation du logiciel R.</a:t>
            </a:r>
          </a:p>
        </p:txBody>
      </p:sp>
      <p:sp>
        <p:nvSpPr>
          <p:cNvPr id="3" name="Espace réservé du pied de page 2">
            <a:extLst>
              <a:ext uri="{FF2B5EF4-FFF2-40B4-BE49-F238E27FC236}">
                <a16:creationId xmlns:a16="http://schemas.microsoft.com/office/drawing/2014/main" id="{C897C4A4-3F08-4113-9DC6-D92B63DC35CD}"/>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EE624774-6C3E-4D6F-970B-416356D859CD}"/>
              </a:ext>
            </a:extLst>
          </p:cNvPr>
          <p:cNvSpPr>
            <a:spLocks noGrp="1"/>
          </p:cNvSpPr>
          <p:nvPr>
            <p:ph type="sldNum" sz="quarter" idx="12"/>
          </p:nvPr>
        </p:nvSpPr>
        <p:spPr/>
        <p:txBody>
          <a:bodyPr/>
          <a:lstStyle/>
          <a:p>
            <a:fld id="{26377AD9-CE17-438C-A638-C64D2D42D7CF}" type="slidenum">
              <a:rPr lang="fr-CA" smtClean="0"/>
              <a:t>8</a:t>
            </a:fld>
            <a:endParaRPr lang="fr-CA"/>
          </a:p>
        </p:txBody>
      </p:sp>
      <p:sp>
        <p:nvSpPr>
          <p:cNvPr id="5" name="ZoneTexte 4">
            <a:extLst>
              <a:ext uri="{FF2B5EF4-FFF2-40B4-BE49-F238E27FC236}">
                <a16:creationId xmlns:a16="http://schemas.microsoft.com/office/drawing/2014/main" id="{C7D967F4-2565-4A0B-9044-E8E9D7C9AB34}"/>
              </a:ext>
            </a:extLst>
          </p:cNvPr>
          <p:cNvSpPr txBox="1"/>
          <p:nvPr/>
        </p:nvSpPr>
        <p:spPr>
          <a:xfrm>
            <a:off x="833718" y="2272553"/>
            <a:ext cx="9856694" cy="4154984"/>
          </a:xfrm>
          <a:prstGeom prst="rect">
            <a:avLst/>
          </a:prstGeom>
          <a:noFill/>
        </p:spPr>
        <p:txBody>
          <a:bodyPr wrap="square" rtlCol="0">
            <a:spAutoFit/>
          </a:bodyPr>
          <a:lstStyle/>
          <a:p>
            <a:r>
              <a:rPr lang="fr-CA" sz="2400" dirty="0"/>
              <a:t>On doit taper:</a:t>
            </a:r>
          </a:p>
          <a:p>
            <a:endParaRPr lang="fr-CA" sz="2400" dirty="0"/>
          </a:p>
          <a:p>
            <a:r>
              <a:rPr lang="pt-BR" sz="2400" dirty="0"/>
              <a:t>modele=prop.test(x=c(253,196),n=c(300,260),conf.level=0.99,correct=F)</a:t>
            </a:r>
          </a:p>
          <a:p>
            <a:r>
              <a:rPr lang="fr-CA" sz="2400" dirty="0"/>
              <a:t>modele$conf.int</a:t>
            </a:r>
          </a:p>
          <a:p>
            <a:endParaRPr lang="fr-CA" sz="2400" dirty="0"/>
          </a:p>
          <a:p>
            <a:r>
              <a:rPr lang="fr-CA" sz="2400" dirty="0"/>
              <a:t>On obtient: 0.001980685 0.176993674</a:t>
            </a:r>
          </a:p>
          <a:p>
            <a:r>
              <a:rPr lang="fr-CA" sz="2400" dirty="0" err="1"/>
              <a:t>attr</a:t>
            </a:r>
            <a:r>
              <a:rPr lang="fr-CA" sz="2400" dirty="0"/>
              <a:t>(,"</a:t>
            </a:r>
            <a:r>
              <a:rPr lang="fr-CA" sz="2400" dirty="0" err="1"/>
              <a:t>conf.level</a:t>
            </a:r>
            <a:r>
              <a:rPr lang="fr-CA" sz="2400" dirty="0"/>
              <a:t>")</a:t>
            </a:r>
          </a:p>
          <a:p>
            <a:r>
              <a:rPr lang="fr-CA" sz="2400" dirty="0"/>
              <a:t>[1] 0.99</a:t>
            </a:r>
          </a:p>
          <a:p>
            <a:endParaRPr lang="fr-CA" dirty="0"/>
          </a:p>
          <a:p>
            <a:endParaRPr lang="fr-CA" dirty="0"/>
          </a:p>
          <a:p>
            <a:endParaRPr lang="fr-CA" dirty="0"/>
          </a:p>
          <a:p>
            <a:r>
              <a:rPr lang="fr-CA" dirty="0"/>
              <a:t>Donc des résultats similaires, la différence provient des arrondis.</a:t>
            </a:r>
          </a:p>
        </p:txBody>
      </p:sp>
    </p:spTree>
    <p:extLst>
      <p:ext uri="{BB962C8B-B14F-4D97-AF65-F5344CB8AC3E}">
        <p14:creationId xmlns:p14="http://schemas.microsoft.com/office/powerpoint/2010/main" val="1569179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6ED659-B748-4B10-8A57-D74C62C848C7}"/>
              </a:ext>
            </a:extLst>
          </p:cNvPr>
          <p:cNvSpPr>
            <a:spLocks noGrp="1"/>
          </p:cNvSpPr>
          <p:nvPr>
            <p:ph type="title"/>
          </p:nvPr>
        </p:nvSpPr>
        <p:spPr/>
        <p:txBody>
          <a:bodyPr/>
          <a:lstStyle/>
          <a:p>
            <a:r>
              <a:rPr lang="fr-CA" dirty="0"/>
              <a:t>PARTIE 2:  Tests d’hypothèses.</a:t>
            </a:r>
          </a:p>
        </p:txBody>
      </p:sp>
      <p:sp>
        <p:nvSpPr>
          <p:cNvPr id="3" name="Espace réservé du pied de page 2">
            <a:extLst>
              <a:ext uri="{FF2B5EF4-FFF2-40B4-BE49-F238E27FC236}">
                <a16:creationId xmlns:a16="http://schemas.microsoft.com/office/drawing/2014/main" id="{5351C48B-D2FE-43A5-AC06-AF0AEDDE5D92}"/>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7900C00F-76D1-48D6-9BC1-82154A31D956}"/>
              </a:ext>
            </a:extLst>
          </p:cNvPr>
          <p:cNvSpPr>
            <a:spLocks noGrp="1"/>
          </p:cNvSpPr>
          <p:nvPr>
            <p:ph type="sldNum" sz="quarter" idx="12"/>
          </p:nvPr>
        </p:nvSpPr>
        <p:spPr/>
        <p:txBody>
          <a:bodyPr/>
          <a:lstStyle/>
          <a:p>
            <a:fld id="{26377AD9-CE17-438C-A638-C64D2D42D7CF}" type="slidenum">
              <a:rPr lang="fr-CA" smtClean="0"/>
              <a:t>9</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12A5B119-6AD9-432C-9A3F-33F2F694E862}"/>
                  </a:ext>
                </a:extLst>
              </p:cNvPr>
              <p:cNvSpPr txBox="1"/>
              <p:nvPr/>
            </p:nvSpPr>
            <p:spPr>
              <a:xfrm>
                <a:off x="188259" y="1280431"/>
                <a:ext cx="11766175" cy="5392054"/>
              </a:xfrm>
              <a:prstGeom prst="rect">
                <a:avLst/>
              </a:prstGeom>
              <a:noFill/>
            </p:spPr>
            <p:txBody>
              <a:bodyPr wrap="square" rtlCol="0">
                <a:spAutoFit/>
              </a:bodyPr>
              <a:lstStyle/>
              <a:p>
                <a:r>
                  <a:rPr lang="fr-CA" dirty="0"/>
                  <a:t>On peut être intéressé à tester une des 3 hypothèses suivantes:</a:t>
                </a:r>
              </a:p>
              <a:p>
                <a:endParaRPr lang="fr-CA" dirty="0"/>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1.</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0</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2</m:t>
                          </m:r>
                        </m:sub>
                      </m:sSub>
                      <m:r>
                        <a:rPr lang="fr-CA" b="0" i="1" smtClean="0">
                          <a:latin typeface="Cambria Math" panose="02040503050406030204" pitchFamily="18" charset="0"/>
                        </a:rPr>
                        <m:t>     </m:t>
                      </m:r>
                      <m:r>
                        <a:rPr lang="fr-CA" b="0" i="1" smtClean="0">
                          <a:latin typeface="Cambria Math" panose="02040503050406030204" pitchFamily="18" charset="0"/>
                        </a:rPr>
                        <m:t>𝑐𝑜𝑛𝑡𝑟𝑒</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𝑝</m:t>
                          </m:r>
                        </m:e>
                        <m:sub>
                          <m:r>
                            <a:rPr lang="fr-CA" b="0" i="1" smtClean="0">
                              <a:latin typeface="Cambria Math" panose="02040503050406030204" pitchFamily="18" charset="0"/>
                              <a:ea typeface="Cambria Math" panose="02040503050406030204" pitchFamily="18" charset="0"/>
                            </a:rPr>
                            <m:t>2</m:t>
                          </m:r>
                        </m:sub>
                      </m:sSub>
                    </m:oMath>
                  </m:oMathPara>
                </a14:m>
                <a:endParaRPr lang="fr-CA" dirty="0"/>
              </a:p>
              <a:p>
                <a:pPr/>
                <a14:m>
                  <m:oMathPara xmlns:m="http://schemas.openxmlformats.org/officeDocument/2006/math">
                    <m:oMathParaPr>
                      <m:jc m:val="centerGroup"/>
                    </m:oMathParaPr>
                    <m:oMath xmlns:m="http://schemas.openxmlformats.org/officeDocument/2006/math">
                      <m:r>
                        <a:rPr lang="fr-CA" i="1">
                          <a:latin typeface="Cambria Math" panose="02040503050406030204" pitchFamily="18" charset="0"/>
                        </a:rPr>
                        <m:t>2</m:t>
                      </m:r>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0</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2</m:t>
                          </m:r>
                        </m:sub>
                      </m:sSub>
                      <m:r>
                        <a:rPr lang="fr-CA" b="0" i="1" smtClean="0">
                          <a:latin typeface="Cambria Math" panose="02040503050406030204" pitchFamily="18" charset="0"/>
                        </a:rPr>
                        <m:t>     </m:t>
                      </m:r>
                      <m:r>
                        <a:rPr lang="fr-CA" b="0" i="1" smtClean="0">
                          <a:latin typeface="Cambria Math" panose="02040503050406030204" pitchFamily="18" charset="0"/>
                        </a:rPr>
                        <m:t>𝑐𝑜𝑛𝑡𝑟𝑒</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r>
                        <a:rPr lang="fr-CA" i="1">
                          <a:latin typeface="Cambria Math" panose="02040503050406030204" pitchFamily="18" charset="0"/>
                          <a:ea typeface="Cambria Math" panose="02040503050406030204" pitchFamily="18" charset="0"/>
                        </a:rPr>
                        <m:t>&gt;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𝑝</m:t>
                          </m:r>
                        </m:e>
                        <m:sub>
                          <m:r>
                            <a:rPr lang="fr-CA" b="0" i="1" smtClean="0">
                              <a:latin typeface="Cambria Math" panose="02040503050406030204" pitchFamily="18" charset="0"/>
                              <a:ea typeface="Cambria Math" panose="02040503050406030204" pitchFamily="18" charset="0"/>
                            </a:rPr>
                            <m:t>2</m:t>
                          </m:r>
                        </m:sub>
                      </m:sSub>
                    </m:oMath>
                  </m:oMathPara>
                </a14:m>
                <a:endParaRPr lang="fr-CA" dirty="0"/>
              </a:p>
              <a:p>
                <a:pPr/>
                <a14:m>
                  <m:oMathPara xmlns:m="http://schemas.openxmlformats.org/officeDocument/2006/math">
                    <m:oMathParaPr>
                      <m:jc m:val="centerGroup"/>
                    </m:oMathParaPr>
                    <m:oMath xmlns:m="http://schemas.openxmlformats.org/officeDocument/2006/math">
                      <m:r>
                        <a:rPr lang="fr-CA" i="1">
                          <a:latin typeface="Cambria Math" panose="02040503050406030204" pitchFamily="18" charset="0"/>
                        </a:rPr>
                        <m:t>3</m:t>
                      </m:r>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0</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2</m:t>
                          </m:r>
                        </m:sub>
                      </m:sSub>
                      <m:r>
                        <a:rPr lang="fr-CA" b="0" i="1" smtClean="0">
                          <a:latin typeface="Cambria Math" panose="02040503050406030204" pitchFamily="18" charset="0"/>
                        </a:rPr>
                        <m:t>     </m:t>
                      </m:r>
                      <m:r>
                        <a:rPr lang="fr-CA" b="0" i="1" smtClean="0">
                          <a:latin typeface="Cambria Math" panose="02040503050406030204" pitchFamily="18" charset="0"/>
                        </a:rPr>
                        <m:t>𝑐𝑜𝑛𝑡𝑟𝑒</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r>
                        <a:rPr lang="fr-CA" i="1">
                          <a:latin typeface="Cambria Math" panose="02040503050406030204" pitchFamily="18" charset="0"/>
                          <a:ea typeface="Cambria Math" panose="02040503050406030204" pitchFamily="18" charset="0"/>
                        </a:rPr>
                        <m:t>&lt;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𝑝</m:t>
                          </m:r>
                        </m:e>
                        <m:sub>
                          <m:r>
                            <a:rPr lang="fr-CA" b="0" i="1" smtClean="0">
                              <a:latin typeface="Cambria Math" panose="02040503050406030204" pitchFamily="18" charset="0"/>
                              <a:ea typeface="Cambria Math" panose="02040503050406030204" pitchFamily="18" charset="0"/>
                            </a:rPr>
                            <m:t>2</m:t>
                          </m:r>
                        </m:sub>
                      </m:sSub>
                    </m:oMath>
                  </m:oMathPara>
                </a14:m>
                <a:endParaRPr lang="fr-CA" dirty="0"/>
              </a:p>
              <a:p>
                <a:endParaRPr lang="fr-CA" dirty="0"/>
              </a:p>
              <a:p>
                <a:r>
                  <a:rPr lang="fr-CA" dirty="0"/>
                  <a:t>On a vu que si les conditions d’application sont satisfaites, alors:</a:t>
                </a:r>
              </a:p>
              <a:p>
                <a:endParaRPr lang="fr-CA" dirty="0"/>
              </a:p>
              <a:p>
                <a:r>
                  <a:rPr lang="fr-CA" dirty="0"/>
                  <a:t>Donc  </a:t>
                </a:r>
                <a14:m>
                  <m:oMath xmlns:m="http://schemas.openxmlformats.org/officeDocument/2006/math">
                    <m:acc>
                      <m:accPr>
                        <m:chr m:val="̂"/>
                        <m:ctrlPr>
                          <a:rPr lang="fr-CA" i="1" smtClean="0">
                            <a:latin typeface="Cambria Math" panose="02040503050406030204" pitchFamily="18" charset="0"/>
                          </a:rPr>
                        </m:ctrlPr>
                      </m:accPr>
                      <m:e>
                        <m:sSub>
                          <m:sSubPr>
                            <m:ctrlPr>
                              <a:rPr lang="fr-CA"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e>
                    </m:acc>
                    <m:r>
                      <a:rPr lang="fr-CA" b="0" i="1" smtClean="0">
                        <a:latin typeface="Cambria Math" panose="02040503050406030204" pitchFamily="18" charset="0"/>
                      </a:rPr>
                      <m:t>−</m:t>
                    </m:r>
                    <m:acc>
                      <m:accPr>
                        <m:chr m:val="̂"/>
                        <m:ctrlPr>
                          <a:rPr lang="fr-CA" b="0" i="1" smtClean="0">
                            <a:latin typeface="Cambria Math" panose="02040503050406030204" pitchFamily="18" charset="0"/>
                          </a:rPr>
                        </m:ctrlPr>
                      </m:acc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2</m:t>
                            </m:r>
                          </m:sub>
                        </m:sSub>
                        <m:r>
                          <a:rPr lang="fr-CA" b="0" i="1" smtClean="0">
                            <a:latin typeface="Cambria Math" panose="02040503050406030204" pitchFamily="18" charset="0"/>
                          </a:rPr>
                          <m:t>    </m:t>
                        </m:r>
                      </m:e>
                    </m:acc>
                    <m:r>
                      <a:rPr lang="fr-CA" b="0" i="1" smtClean="0">
                        <a:latin typeface="Cambria Math" panose="02040503050406030204" pitchFamily="18" charset="0"/>
                      </a:rPr>
                      <m:t>      </m:t>
                    </m:r>
                    <m:r>
                      <a:rPr lang="fr-CA" b="0" i="1" smtClean="0">
                        <a:latin typeface="Cambria Math" panose="02040503050406030204" pitchFamily="18" charset="0"/>
                      </a:rPr>
                      <m:t>𝑠𝑒𝑟𝑎</m:t>
                    </m:r>
                    <m:r>
                      <a:rPr lang="fr-CA" b="0" i="1" smtClean="0">
                        <a:latin typeface="Cambria Math" panose="02040503050406030204" pitchFamily="18" charset="0"/>
                      </a:rPr>
                      <m:t> </m:t>
                    </m:r>
                    <m:r>
                      <a:rPr lang="fr-CA" b="0" i="1" smtClean="0">
                        <a:latin typeface="Cambria Math" panose="02040503050406030204" pitchFamily="18" charset="0"/>
                      </a:rPr>
                      <m:t>𝑛𝑜𝑟𝑚𝑎𝑙𝑒𝑚𝑒𝑛𝑡</m:t>
                    </m:r>
                    <m:r>
                      <a:rPr lang="fr-CA" b="0" i="1" smtClean="0">
                        <a:latin typeface="Cambria Math" panose="02040503050406030204" pitchFamily="18" charset="0"/>
                      </a:rPr>
                      <m:t> </m:t>
                    </m:r>
                    <m:r>
                      <a:rPr lang="fr-CA" b="0" i="1" smtClean="0">
                        <a:latin typeface="Cambria Math" panose="02040503050406030204" pitchFamily="18" charset="0"/>
                      </a:rPr>
                      <m:t>𝑑𝑖𝑠𝑡𝑟𝑖𝑏𝑢</m:t>
                    </m:r>
                    <m:r>
                      <a:rPr lang="fr-CA" b="0" i="1" smtClean="0">
                        <a:latin typeface="Cambria Math" panose="02040503050406030204" pitchFamily="18" charset="0"/>
                      </a:rPr>
                      <m:t>é</m:t>
                    </m:r>
                    <m:r>
                      <a:rPr lang="fr-CA" b="0" i="1" smtClean="0">
                        <a:latin typeface="Cambria Math" panose="02040503050406030204" pitchFamily="18" charset="0"/>
                      </a:rPr>
                      <m:t>𝑒</m:t>
                    </m:r>
                    <m:r>
                      <a:rPr lang="fr-CA" b="0" i="1" smtClean="0">
                        <a:latin typeface="Cambria Math" panose="02040503050406030204" pitchFamily="18" charset="0"/>
                      </a:rPr>
                      <m:t> </m:t>
                    </m:r>
                    <m:r>
                      <a:rPr lang="fr-CA" b="0" i="1" smtClean="0">
                        <a:latin typeface="Cambria Math" panose="02040503050406030204" pitchFamily="18" charset="0"/>
                      </a:rPr>
                      <m:t>𝑎𝑣𝑒𝑐</m:t>
                    </m:r>
                    <m:r>
                      <a:rPr lang="fr-CA" b="0" i="1" smtClean="0">
                        <a:latin typeface="Cambria Math" panose="02040503050406030204" pitchFamily="18" charset="0"/>
                      </a:rPr>
                      <m:t> </m:t>
                    </m:r>
                    <m:r>
                      <a:rPr lang="fr-CA" b="0" i="1" smtClean="0">
                        <a:latin typeface="Cambria Math" panose="02040503050406030204" pitchFamily="18" charset="0"/>
                      </a:rPr>
                      <m:t>𝑢𝑛𝑒</m:t>
                    </m:r>
                    <m:r>
                      <a:rPr lang="fr-CA" b="0" i="1" smtClean="0">
                        <a:latin typeface="Cambria Math" panose="02040503050406030204" pitchFamily="18" charset="0"/>
                      </a:rPr>
                      <m:t> </m:t>
                    </m:r>
                    <m:r>
                      <a:rPr lang="fr-CA" b="0" i="1" smtClean="0">
                        <a:latin typeface="Cambria Math" panose="02040503050406030204" pitchFamily="18" charset="0"/>
                      </a:rPr>
                      <m:t>𝑚𝑜𝑦𝑒𝑛𝑛𝑒</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2</m:t>
                        </m:r>
                      </m:sub>
                    </m:sSub>
                  </m:oMath>
                </a14:m>
                <a:r>
                  <a:rPr lang="fr-CA" dirty="0"/>
                  <a:t>  et une variance:</a:t>
                </a:r>
              </a:p>
              <a:p>
                <a14:m>
                  <m:oMath xmlns:m="http://schemas.openxmlformats.org/officeDocument/2006/math">
                    <m:f>
                      <m:fPr>
                        <m:ctrlPr>
                          <a:rPr lang="fr-CA" i="1" smtClean="0">
                            <a:latin typeface="Cambria Math" panose="02040503050406030204" pitchFamily="18" charset="0"/>
                          </a:rPr>
                        </m:ctrlPr>
                      </m:fPr>
                      <m:num>
                        <m:sSub>
                          <m:sSubPr>
                            <m:ctrlPr>
                              <a:rPr lang="fr-CA"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r>
                          <a:rPr lang="fr-CA" b="0" i="1" smtClean="0">
                            <a:latin typeface="Cambria Math" panose="02040503050406030204" pitchFamily="18" charset="0"/>
                          </a:rPr>
                          <m:t>(1−</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r>
                          <a:rPr lang="fr-CA" b="0" i="1" smtClean="0">
                            <a:latin typeface="Cambria Math" panose="02040503050406030204" pitchFamily="18" charset="0"/>
                          </a:rPr>
                          <m:t>)</m:t>
                        </m:r>
                      </m:num>
                      <m:den>
                        <m:sSub>
                          <m:sSubPr>
                            <m:ctrlPr>
                              <a:rPr lang="fr-CA"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1</m:t>
                            </m:r>
                          </m:sub>
                        </m:sSub>
                      </m:den>
                    </m:f>
                    <m:r>
                      <a:rPr lang="fr-CA" b="0" i="1" smtClean="0">
                        <a:latin typeface="Cambria Math" panose="02040503050406030204" pitchFamily="18" charset="0"/>
                      </a:rPr>
                      <m:t>+</m:t>
                    </m:r>
                  </m:oMath>
                </a14:m>
                <a:r>
                  <a:rPr lang="fr-CA" dirty="0"/>
                  <a:t> </a:t>
                </a:r>
                <a14:m>
                  <m:oMath xmlns:m="http://schemas.openxmlformats.org/officeDocument/2006/math">
                    <m:f>
                      <m:fPr>
                        <m:ctrlPr>
                          <a:rPr lang="fr-CA" i="1">
                            <a:latin typeface="Cambria Math" panose="02040503050406030204" pitchFamily="18" charset="0"/>
                          </a:rPr>
                        </m:ctrlPr>
                      </m:fPr>
                      <m:num>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b="0" i="1" smtClean="0">
                                <a:latin typeface="Cambria Math" panose="02040503050406030204" pitchFamily="18" charset="0"/>
                              </a:rPr>
                              <m:t>2</m:t>
                            </m:r>
                          </m:sub>
                        </m:sSub>
                        <m:r>
                          <a:rPr lang="fr-CA" i="1">
                            <a:latin typeface="Cambria Math" panose="02040503050406030204" pitchFamily="18" charset="0"/>
                          </a:rPr>
                          <m:t>(1−</m:t>
                        </m:r>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b="0" i="1" smtClean="0">
                                <a:latin typeface="Cambria Math" panose="02040503050406030204" pitchFamily="18" charset="0"/>
                              </a:rPr>
                              <m:t>2</m:t>
                            </m:r>
                          </m:sub>
                        </m:sSub>
                        <m:r>
                          <a:rPr lang="fr-CA" i="1">
                            <a:latin typeface="Cambria Math" panose="02040503050406030204" pitchFamily="18" charset="0"/>
                          </a:rPr>
                          <m:t>)</m:t>
                        </m:r>
                      </m:num>
                      <m:den>
                        <m:sSub>
                          <m:sSubPr>
                            <m:ctrlPr>
                              <a:rPr lang="fr-CA"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2</m:t>
                            </m:r>
                          </m:sub>
                        </m:sSub>
                      </m:den>
                    </m:f>
                  </m:oMath>
                </a14:m>
                <a:r>
                  <a:rPr lang="fr-CA" dirty="0"/>
                  <a:t>   Si l’hypothèse nulle est vraie alors on doit estimer les proportions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r>
                      <a:rPr lang="fr-CA" b="0" i="1" smtClean="0">
                        <a:latin typeface="Cambria Math" panose="02040503050406030204" pitchFamily="18" charset="0"/>
                      </a:rPr>
                      <m:t> </m:t>
                    </m:r>
                    <m:r>
                      <a:rPr lang="fr-CA" b="0" i="1" smtClean="0">
                        <a:latin typeface="Cambria Math" panose="02040503050406030204" pitchFamily="18" charset="0"/>
                      </a:rPr>
                      <m:t>𝑒𝑡</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2</m:t>
                        </m:r>
                      </m:sub>
                    </m:sSub>
                  </m:oMath>
                </a14:m>
                <a:r>
                  <a:rPr lang="fr-CA" dirty="0"/>
                  <a:t>   par la même quantité qui est : </a:t>
                </a:r>
                <a14:m>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𝑝</m:t>
                        </m:r>
                      </m:e>
                    </m:acc>
                    <m:r>
                      <a:rPr lang="fr-CA" b="0" i="1" smtClean="0">
                        <a:latin typeface="Cambria Math" panose="02040503050406030204" pitchFamily="18" charset="0"/>
                      </a:rPr>
                      <m:t>=</m:t>
                    </m:r>
                    <m:f>
                      <m:fPr>
                        <m:ctrlPr>
                          <a:rPr lang="fr-CA" b="0" i="1" smtClean="0">
                            <a:latin typeface="Cambria Math" panose="02040503050406030204" pitchFamily="18" charset="0"/>
                          </a:rPr>
                        </m:ctrlPr>
                      </m:fPr>
                      <m:num>
                        <m:sSub>
                          <m:sSubPr>
                            <m:ctrlPr>
                              <a:rPr lang="fr-CA" b="0"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1</m:t>
                            </m:r>
                          </m:sub>
                        </m:sSub>
                        <m:r>
                          <a:rPr lang="fr-CA" b="0" i="1" smtClean="0">
                            <a:latin typeface="Cambria Math" panose="02040503050406030204" pitchFamily="18" charset="0"/>
                          </a:rPr>
                          <m:t>∗</m:t>
                        </m:r>
                        <m:acc>
                          <m:accPr>
                            <m:chr m:val="̂"/>
                            <m:ctrlPr>
                              <a:rPr lang="fr-CA" b="0" i="1" smtClean="0">
                                <a:latin typeface="Cambria Math" panose="02040503050406030204" pitchFamily="18" charset="0"/>
                              </a:rPr>
                            </m:ctrlPr>
                          </m:acc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e>
                        </m:acc>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2</m:t>
                            </m:r>
                          </m:sub>
                        </m:sSub>
                        <m:r>
                          <a:rPr lang="fr-CA" b="0" i="1" smtClean="0">
                            <a:latin typeface="Cambria Math" panose="02040503050406030204" pitchFamily="18" charset="0"/>
                          </a:rPr>
                          <m:t>∗</m:t>
                        </m:r>
                        <m:acc>
                          <m:accPr>
                            <m:chr m:val="̂"/>
                            <m:ctrlPr>
                              <a:rPr lang="fr-CA" b="0" i="1" smtClean="0">
                                <a:latin typeface="Cambria Math" panose="02040503050406030204" pitchFamily="18" charset="0"/>
                              </a:rPr>
                            </m:ctrlPr>
                          </m:acc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2</m:t>
                                </m:r>
                              </m:sub>
                            </m:sSub>
                          </m:e>
                        </m:acc>
                      </m:num>
                      <m:den>
                        <m:sSub>
                          <m:sSubPr>
                            <m:ctrlPr>
                              <a:rPr lang="fr-CA" b="0"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2</m:t>
                            </m:r>
                          </m:sub>
                        </m:sSub>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sSub>
                          <m:sSubPr>
                            <m:ctrlPr>
                              <a:rPr lang="fr-CA" b="0" i="1" smtClean="0">
                                <a:latin typeface="Cambria Math" panose="02040503050406030204" pitchFamily="18" charset="0"/>
                              </a:rPr>
                            </m:ctrlPr>
                          </m:sSubPr>
                          <m:e>
                            <m:r>
                              <a:rPr lang="fr-CA" b="0" i="1" smtClean="0">
                                <a:latin typeface="Cambria Math" panose="02040503050406030204" pitchFamily="18" charset="0"/>
                              </a:rPr>
                              <m:t>𝑥</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𝑥</m:t>
                            </m:r>
                          </m:e>
                          <m:sub>
                            <m:r>
                              <a:rPr lang="fr-CA" b="0" i="1" smtClean="0">
                                <a:latin typeface="Cambria Math" panose="02040503050406030204" pitchFamily="18" charset="0"/>
                              </a:rPr>
                              <m:t>2</m:t>
                            </m:r>
                          </m:sub>
                        </m:sSub>
                      </m:num>
                      <m:den>
                        <m:sSub>
                          <m:sSubPr>
                            <m:ctrlPr>
                              <a:rPr lang="fr-CA" b="0"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2</m:t>
                            </m:r>
                          </m:sub>
                        </m:sSub>
                      </m:den>
                    </m:f>
                  </m:oMath>
                </a14:m>
                <a:r>
                  <a:rPr lang="fr-CA" dirty="0"/>
                  <a:t>  et  par conséquent</a:t>
                </a:r>
              </a:p>
              <a:p>
                <a:r>
                  <a:rPr lang="fr-CA" dirty="0"/>
                  <a:t> </a:t>
                </a:r>
                <a14:m>
                  <m:oMath xmlns:m="http://schemas.openxmlformats.org/officeDocument/2006/math">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1</m:t>
                            </m:r>
                          </m:sub>
                        </m:sSub>
                      </m:e>
                    </m:acc>
                    <m:r>
                      <a:rPr lang="fr-CA" i="1">
                        <a:latin typeface="Cambria Math" panose="02040503050406030204" pitchFamily="18" charset="0"/>
                      </a:rPr>
                      <m:t>−</m:t>
                    </m:r>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2</m:t>
                            </m:r>
                          </m:sub>
                        </m:sSub>
                        <m:r>
                          <a:rPr lang="fr-CA" i="1">
                            <a:latin typeface="Cambria Math" panose="02040503050406030204" pitchFamily="18" charset="0"/>
                          </a:rPr>
                          <m:t>    </m:t>
                        </m:r>
                      </m:e>
                    </m:acc>
                    <m:r>
                      <a:rPr lang="fr-CA" i="1">
                        <a:latin typeface="Cambria Math" panose="02040503050406030204" pitchFamily="18" charset="0"/>
                      </a:rPr>
                      <m:t>      </m:t>
                    </m:r>
                    <m:r>
                      <a:rPr lang="fr-CA" i="1">
                        <a:latin typeface="Cambria Math" panose="02040503050406030204" pitchFamily="18" charset="0"/>
                      </a:rPr>
                      <m:t>𝑠𝑒𝑟𝑎</m:t>
                    </m:r>
                    <m:r>
                      <a:rPr lang="fr-CA" i="1">
                        <a:latin typeface="Cambria Math" panose="02040503050406030204" pitchFamily="18" charset="0"/>
                      </a:rPr>
                      <m:t> </m:t>
                    </m:r>
                    <m:r>
                      <a:rPr lang="fr-CA" i="1">
                        <a:latin typeface="Cambria Math" panose="02040503050406030204" pitchFamily="18" charset="0"/>
                      </a:rPr>
                      <m:t>𝑛𝑜𝑟𝑚𝑎𝑙𝑒𝑚𝑒𝑛𝑡</m:t>
                    </m:r>
                    <m:r>
                      <a:rPr lang="fr-CA" i="1">
                        <a:latin typeface="Cambria Math" panose="02040503050406030204" pitchFamily="18" charset="0"/>
                      </a:rPr>
                      <m:t> </m:t>
                    </m:r>
                    <m:r>
                      <a:rPr lang="fr-CA" i="1">
                        <a:latin typeface="Cambria Math" panose="02040503050406030204" pitchFamily="18" charset="0"/>
                      </a:rPr>
                      <m:t>𝑑𝑖𝑠𝑡𝑟𝑖𝑏𝑢</m:t>
                    </m:r>
                    <m:r>
                      <a:rPr lang="fr-CA" i="1">
                        <a:latin typeface="Cambria Math" panose="02040503050406030204" pitchFamily="18" charset="0"/>
                      </a:rPr>
                      <m:t>é</m:t>
                    </m:r>
                    <m:r>
                      <a:rPr lang="fr-CA" i="1">
                        <a:latin typeface="Cambria Math" panose="02040503050406030204" pitchFamily="18" charset="0"/>
                      </a:rPr>
                      <m:t>𝑒</m:t>
                    </m:r>
                    <m:r>
                      <a:rPr lang="fr-CA" i="1">
                        <a:latin typeface="Cambria Math" panose="02040503050406030204" pitchFamily="18" charset="0"/>
                      </a:rPr>
                      <m:t> </m:t>
                    </m:r>
                    <m:r>
                      <a:rPr lang="fr-CA" i="1">
                        <a:latin typeface="Cambria Math" panose="02040503050406030204" pitchFamily="18" charset="0"/>
                      </a:rPr>
                      <m:t>𝑎𝑣𝑒𝑐</m:t>
                    </m:r>
                    <m:r>
                      <a:rPr lang="fr-CA" i="1">
                        <a:latin typeface="Cambria Math" panose="02040503050406030204" pitchFamily="18" charset="0"/>
                      </a:rPr>
                      <m:t> </m:t>
                    </m:r>
                    <m:r>
                      <a:rPr lang="fr-CA" i="1">
                        <a:latin typeface="Cambria Math" panose="02040503050406030204" pitchFamily="18" charset="0"/>
                      </a:rPr>
                      <m:t>𝑢𝑛𝑒</m:t>
                    </m:r>
                    <m:r>
                      <a:rPr lang="fr-CA" i="1">
                        <a:latin typeface="Cambria Math" panose="02040503050406030204" pitchFamily="18" charset="0"/>
                      </a:rPr>
                      <m:t> </m:t>
                    </m:r>
                    <m:r>
                      <a:rPr lang="fr-CA" i="1">
                        <a:latin typeface="Cambria Math" panose="02040503050406030204" pitchFamily="18" charset="0"/>
                      </a:rPr>
                      <m:t>𝑚𝑜𝑦𝑒𝑛𝑛𝑒</m:t>
                    </m:r>
                    <m:r>
                      <a:rPr lang="fr-CA" i="1">
                        <a:latin typeface="Cambria Math" panose="02040503050406030204" pitchFamily="18" charset="0"/>
                      </a:rPr>
                      <m:t>  </m:t>
                    </m:r>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1</m:t>
                        </m:r>
                      </m:sub>
                    </m:sSub>
                    <m:r>
                      <a:rPr lang="fr-CA" i="1">
                        <a:latin typeface="Cambria Math" panose="02040503050406030204" pitchFamily="18" charset="0"/>
                      </a:rPr>
                      <m:t>−</m:t>
                    </m:r>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2</m:t>
                        </m:r>
                      </m:sub>
                    </m:sSub>
                  </m:oMath>
                </a14:m>
                <a:r>
                  <a:rPr lang="fr-CA" dirty="0"/>
                  <a:t>  </a:t>
                </a:r>
              </a:p>
              <a:p>
                <a:r>
                  <a:rPr lang="fr-CA" dirty="0"/>
                  <a:t>et une variance estimée par :   </a:t>
                </a:r>
                <a14:m>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𝑝</m:t>
                        </m:r>
                      </m:e>
                    </m:acc>
                    <m:r>
                      <a:rPr lang="fr-CA" b="0" i="1" smtClean="0">
                        <a:latin typeface="Cambria Math" panose="02040503050406030204" pitchFamily="18" charset="0"/>
                      </a:rPr>
                      <m:t>∗</m:t>
                    </m:r>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𝑞</m:t>
                        </m:r>
                      </m:e>
                    </m:acc>
                    <m:d>
                      <m:dPr>
                        <m:ctrlPr>
                          <a:rPr lang="fr-CA" b="0" i="1" smtClean="0">
                            <a:latin typeface="Cambria Math" panose="02040503050406030204" pitchFamily="18" charset="0"/>
                          </a:rPr>
                        </m:ctrlPr>
                      </m:dPr>
                      <m:e>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sSub>
                              <m:sSubPr>
                                <m:ctrlPr>
                                  <a:rPr lang="fr-CA" b="0"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1</m:t>
                                </m:r>
                              </m:sub>
                            </m:sSub>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sSub>
                              <m:sSubPr>
                                <m:ctrlPr>
                                  <a:rPr lang="fr-CA" b="0"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2</m:t>
                                </m:r>
                              </m:sub>
                            </m:sSub>
                          </m:den>
                        </m:f>
                      </m:e>
                    </m:d>
                    <m:r>
                      <a:rPr lang="fr-CA" b="0" i="1" smtClean="0">
                        <a:latin typeface="Cambria Math" panose="02040503050406030204" pitchFamily="18" charset="0"/>
                      </a:rPr>
                      <m:t>  </m:t>
                    </m:r>
                    <m:r>
                      <a:rPr lang="fr-CA" b="0" i="1" smtClean="0">
                        <a:latin typeface="Cambria Math" panose="02040503050406030204" pitchFamily="18" charset="0"/>
                      </a:rPr>
                      <m:t>𝑒𝑡</m:t>
                    </m:r>
                    <m:r>
                      <a:rPr lang="fr-CA" b="0" i="1" smtClean="0">
                        <a:latin typeface="Cambria Math" panose="02040503050406030204" pitchFamily="18" charset="0"/>
                      </a:rPr>
                      <m:t> </m:t>
                    </m:r>
                    <m:r>
                      <a:rPr lang="fr-CA" b="0" i="1" smtClean="0">
                        <a:latin typeface="Cambria Math" panose="02040503050406030204" pitchFamily="18" charset="0"/>
                      </a:rPr>
                      <m:t>𝑒𝑛</m:t>
                    </m:r>
                    <m:r>
                      <a:rPr lang="fr-CA" b="0" i="1" smtClean="0">
                        <a:latin typeface="Cambria Math" panose="02040503050406030204" pitchFamily="18" charset="0"/>
                      </a:rPr>
                      <m:t> </m:t>
                    </m:r>
                    <m:r>
                      <a:rPr lang="fr-CA" b="0" i="1" smtClean="0">
                        <a:latin typeface="Cambria Math" panose="02040503050406030204" pitchFamily="18" charset="0"/>
                      </a:rPr>
                      <m:t>𝑠𝑡𝑎𝑛𝑑𝑎𝑟𝑑𝑖𝑠𝑎𝑛𝑡</m:t>
                    </m:r>
                    <m:r>
                      <a:rPr lang="fr-CA" b="0" i="1" smtClean="0">
                        <a:latin typeface="Cambria Math" panose="02040503050406030204" pitchFamily="18" charset="0"/>
                      </a:rPr>
                      <m:t>, </m:t>
                    </m:r>
                    <m:r>
                      <a:rPr lang="fr-CA" b="0" i="1" smtClean="0">
                        <a:latin typeface="Cambria Math" panose="02040503050406030204" pitchFamily="18" charset="0"/>
                      </a:rPr>
                      <m:t>𝑜𝑛</m:t>
                    </m:r>
                    <m:r>
                      <a:rPr lang="fr-CA" b="0" i="1" smtClean="0">
                        <a:latin typeface="Cambria Math" panose="02040503050406030204" pitchFamily="18" charset="0"/>
                      </a:rPr>
                      <m:t> </m:t>
                    </m:r>
                    <m:r>
                      <a:rPr lang="fr-CA" b="0" i="1" smtClean="0">
                        <a:latin typeface="Cambria Math" panose="02040503050406030204" pitchFamily="18" charset="0"/>
                      </a:rPr>
                      <m:t>𝑜𝑏𝑡𝑖𝑒𝑛𝑡</m:t>
                    </m:r>
                    <m:r>
                      <a:rPr lang="fr-CA" b="0" i="1" smtClean="0">
                        <a:latin typeface="Cambria Math" panose="02040503050406030204" pitchFamily="18" charset="0"/>
                      </a:rPr>
                      <m:t>:</m:t>
                    </m:r>
                  </m:oMath>
                </a14:m>
                <a:endParaRPr lang="fr-CA" b="0" dirty="0"/>
              </a:p>
              <a:p>
                <a:endParaRPr lang="fr-CA" dirty="0"/>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𝑍</m:t>
                      </m:r>
                      <m:r>
                        <a:rPr lang="fr-CA" b="0" i="1" smtClean="0">
                          <a:latin typeface="Cambria Math" panose="02040503050406030204" pitchFamily="18" charset="0"/>
                        </a:rPr>
                        <m:t>=</m:t>
                      </m:r>
                      <m:f>
                        <m:fPr>
                          <m:ctrlPr>
                            <a:rPr lang="fr-CA" b="0" i="1" smtClean="0">
                              <a:latin typeface="Cambria Math" panose="02040503050406030204" pitchFamily="18" charset="0"/>
                            </a:rPr>
                          </m:ctrlPr>
                        </m:fPr>
                        <m:num>
                          <m:d>
                            <m:dPr>
                              <m:ctrlPr>
                                <a:rPr lang="fr-CA" b="0" i="1" smtClean="0">
                                  <a:latin typeface="Cambria Math" panose="02040503050406030204" pitchFamily="18" charset="0"/>
                                </a:rPr>
                              </m:ctrlPr>
                            </m:dPr>
                            <m:e>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1</m:t>
                                      </m:r>
                                    </m:sub>
                                  </m:sSub>
                                </m:e>
                              </m:acc>
                              <m:r>
                                <a:rPr lang="fr-CA" i="1">
                                  <a:latin typeface="Cambria Math" panose="02040503050406030204" pitchFamily="18" charset="0"/>
                                </a:rPr>
                                <m:t>−</m:t>
                              </m:r>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2</m:t>
                                      </m:r>
                                    </m:sub>
                                  </m:sSub>
                                  <m:r>
                                    <a:rPr lang="fr-CA" i="1">
                                      <a:latin typeface="Cambria Math" panose="02040503050406030204" pitchFamily="18" charset="0"/>
                                    </a:rPr>
                                    <m:t>    </m:t>
                                  </m:r>
                                </m:e>
                              </m:acc>
                            </m:e>
                          </m:d>
                          <m:r>
                            <a:rPr lang="fr-CA" b="0" i="1" smtClean="0">
                              <a:latin typeface="Cambria Math" panose="02040503050406030204" pitchFamily="18" charset="0"/>
                            </a:rPr>
                            <m:t>−(</m:t>
                          </m:r>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1</m:t>
                              </m:r>
                            </m:sub>
                          </m:sSub>
                          <m:r>
                            <a:rPr lang="fr-CA" i="1">
                              <a:latin typeface="Cambria Math" panose="02040503050406030204" pitchFamily="18" charset="0"/>
                            </a:rPr>
                            <m:t>−</m:t>
                          </m:r>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2</m:t>
                              </m:r>
                            </m:sub>
                          </m:sSub>
                          <m:r>
                            <a:rPr lang="fr-CA" b="0" i="1" smtClean="0">
                              <a:latin typeface="Cambria Math" panose="02040503050406030204" pitchFamily="18" charset="0"/>
                            </a:rPr>
                            <m:t>)</m:t>
                          </m:r>
                        </m:num>
                        <m:den>
                          <m:rad>
                            <m:radPr>
                              <m:degHide m:val="on"/>
                              <m:ctrlPr>
                                <a:rPr lang="fr-CA" b="0" i="1" smtClean="0">
                                  <a:latin typeface="Cambria Math" panose="02040503050406030204" pitchFamily="18" charset="0"/>
                                </a:rPr>
                              </m:ctrlPr>
                            </m:radPr>
                            <m:deg/>
                            <m:e>
                              <m:acc>
                                <m:accPr>
                                  <m:chr m:val="̂"/>
                                  <m:ctrlPr>
                                    <a:rPr lang="fr-CA" i="1">
                                      <a:latin typeface="Cambria Math" panose="02040503050406030204" pitchFamily="18" charset="0"/>
                                    </a:rPr>
                                  </m:ctrlPr>
                                </m:accPr>
                                <m:e>
                                  <m:r>
                                    <a:rPr lang="fr-CA" i="1">
                                      <a:latin typeface="Cambria Math" panose="02040503050406030204" pitchFamily="18" charset="0"/>
                                    </a:rPr>
                                    <m:t>𝑝</m:t>
                                  </m:r>
                                </m:e>
                              </m:acc>
                              <m:r>
                                <a:rPr lang="fr-CA" i="1">
                                  <a:latin typeface="Cambria Math" panose="02040503050406030204" pitchFamily="18" charset="0"/>
                                </a:rPr>
                                <m:t>∗</m:t>
                              </m:r>
                              <m:acc>
                                <m:accPr>
                                  <m:chr m:val="̂"/>
                                  <m:ctrlPr>
                                    <a:rPr lang="fr-CA" i="1">
                                      <a:latin typeface="Cambria Math" panose="02040503050406030204" pitchFamily="18" charset="0"/>
                                    </a:rPr>
                                  </m:ctrlPr>
                                </m:accPr>
                                <m:e>
                                  <m:r>
                                    <a:rPr lang="fr-CA" i="1">
                                      <a:latin typeface="Cambria Math" panose="02040503050406030204" pitchFamily="18" charset="0"/>
                                    </a:rPr>
                                    <m:t>𝑞</m:t>
                                  </m:r>
                                </m:e>
                              </m:acc>
                              <m:d>
                                <m:dPr>
                                  <m:ctrlPr>
                                    <a:rPr lang="fr-CA" i="1">
                                      <a:latin typeface="Cambria Math" panose="02040503050406030204" pitchFamily="18" charset="0"/>
                                    </a:rPr>
                                  </m:ctrlPr>
                                </m:dPr>
                                <m:e>
                                  <m:f>
                                    <m:fPr>
                                      <m:ctrlPr>
                                        <a:rPr lang="fr-CA" i="1">
                                          <a:latin typeface="Cambria Math" panose="02040503050406030204" pitchFamily="18" charset="0"/>
                                        </a:rPr>
                                      </m:ctrlPr>
                                    </m:fPr>
                                    <m:num>
                                      <m:r>
                                        <a:rPr lang="fr-CA" i="1">
                                          <a:latin typeface="Cambria Math" panose="02040503050406030204" pitchFamily="18" charset="0"/>
                                        </a:rPr>
                                        <m:t>1</m:t>
                                      </m:r>
                                    </m:num>
                                    <m:den>
                                      <m:sSub>
                                        <m:sSubPr>
                                          <m:ctrlPr>
                                            <a:rPr lang="fr-CA"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1</m:t>
                                          </m:r>
                                        </m:sub>
                                      </m:sSub>
                                    </m:den>
                                  </m:f>
                                  <m:r>
                                    <a:rPr lang="fr-CA" i="1">
                                      <a:latin typeface="Cambria Math" panose="02040503050406030204" pitchFamily="18" charset="0"/>
                                    </a:rPr>
                                    <m:t>+</m:t>
                                  </m:r>
                                  <m:f>
                                    <m:fPr>
                                      <m:ctrlPr>
                                        <a:rPr lang="fr-CA" i="1">
                                          <a:latin typeface="Cambria Math" panose="02040503050406030204" pitchFamily="18" charset="0"/>
                                        </a:rPr>
                                      </m:ctrlPr>
                                    </m:fPr>
                                    <m:num>
                                      <m:r>
                                        <a:rPr lang="fr-CA" i="1">
                                          <a:latin typeface="Cambria Math" panose="02040503050406030204" pitchFamily="18" charset="0"/>
                                        </a:rPr>
                                        <m:t>1</m:t>
                                      </m:r>
                                    </m:num>
                                    <m:den>
                                      <m:sSub>
                                        <m:sSubPr>
                                          <m:ctrlPr>
                                            <a:rPr lang="fr-CA"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2</m:t>
                                          </m:r>
                                        </m:sub>
                                      </m:sSub>
                                    </m:den>
                                  </m:f>
                                </m:e>
                              </m:d>
                            </m:e>
                          </m:rad>
                        </m:den>
                      </m:f>
                    </m:oMath>
                  </m:oMathPara>
                </a14:m>
                <a:endParaRPr lang="fr-CA" dirty="0"/>
              </a:p>
            </p:txBody>
          </p:sp>
        </mc:Choice>
        <mc:Fallback xmlns="">
          <p:sp>
            <p:nvSpPr>
              <p:cNvPr id="5" name="ZoneTexte 4">
                <a:extLst>
                  <a:ext uri="{FF2B5EF4-FFF2-40B4-BE49-F238E27FC236}">
                    <a16:creationId xmlns:a16="http://schemas.microsoft.com/office/drawing/2014/main" id="{12A5B119-6AD9-432C-9A3F-33F2F694E862}"/>
                  </a:ext>
                </a:extLst>
              </p:cNvPr>
              <p:cNvSpPr txBox="1">
                <a:spLocks noRot="1" noChangeAspect="1" noMove="1" noResize="1" noEditPoints="1" noAdjustHandles="1" noChangeArrowheads="1" noChangeShapeType="1" noTextEdit="1"/>
              </p:cNvSpPr>
              <p:nvPr/>
            </p:nvSpPr>
            <p:spPr>
              <a:xfrm>
                <a:off x="188259" y="1280431"/>
                <a:ext cx="11766175" cy="5392054"/>
              </a:xfrm>
              <a:prstGeom prst="rect">
                <a:avLst/>
              </a:prstGeom>
              <a:blipFill>
                <a:blip r:embed="rId2"/>
                <a:stretch>
                  <a:fillRect l="-466" t="-565"/>
                </a:stretch>
              </a:blipFill>
            </p:spPr>
            <p:txBody>
              <a:bodyPr/>
              <a:lstStyle/>
              <a:p>
                <a:r>
                  <a:rPr lang="fr-CA">
                    <a:noFill/>
                  </a:rPr>
                  <a:t> </a:t>
                </a:r>
              </a:p>
            </p:txBody>
          </p:sp>
        </mc:Fallback>
      </mc:AlternateContent>
    </p:spTree>
    <p:extLst>
      <p:ext uri="{BB962C8B-B14F-4D97-AF65-F5344CB8AC3E}">
        <p14:creationId xmlns:p14="http://schemas.microsoft.com/office/powerpoint/2010/main" val="1604850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ACC56990-F4F6-4BE2-986A-0B2BF745E5AE}"/>
                  </a:ext>
                </a:extLst>
              </p:cNvPr>
              <p:cNvSpPr>
                <a:spLocks noGrp="1"/>
              </p:cNvSpPr>
              <p:nvPr>
                <p:ph type="title"/>
              </p:nvPr>
            </p:nvSpPr>
            <p:spPr>
              <a:xfrm>
                <a:off x="838200" y="365125"/>
                <a:ext cx="10645588" cy="1813299"/>
              </a:xfrm>
            </p:spPr>
            <p:txBody>
              <a:bodyPr>
                <a:normAutofit fontScale="90000"/>
              </a:bodyPr>
              <a:lstStyle/>
              <a:p>
                <a:r>
                  <a:rPr lang="fr-CA" dirty="0"/>
                  <a:t>Si l’hypothèse nulle est vraie, cette variable va prendre une valeur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𝑧</m:t>
                        </m:r>
                      </m:e>
                      <m:sub>
                        <m:r>
                          <a:rPr lang="fr-CA" b="0" i="1" smtClean="0">
                            <a:latin typeface="Cambria Math" panose="02040503050406030204" pitchFamily="18" charset="0"/>
                          </a:rPr>
                          <m:t>0</m:t>
                        </m:r>
                      </m:sub>
                    </m:sSub>
                    <m:r>
                      <a:rPr lang="fr-CA" b="0" i="1" smtClean="0">
                        <a:latin typeface="Cambria Math" panose="02040503050406030204" pitchFamily="18" charset="0"/>
                      </a:rPr>
                      <m:t>=</m:t>
                    </m:r>
                    <m:f>
                      <m:fPr>
                        <m:ctrlPr>
                          <a:rPr lang="fr-CA" b="0" i="1" smtClean="0">
                            <a:latin typeface="Cambria Math" panose="02040503050406030204" pitchFamily="18" charset="0"/>
                          </a:rPr>
                        </m:ctrlPr>
                      </m:fPr>
                      <m:num>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1</m:t>
                                </m:r>
                              </m:sub>
                            </m:sSub>
                          </m:e>
                        </m:acc>
                        <m:r>
                          <a:rPr lang="fr-CA" i="1">
                            <a:latin typeface="Cambria Math" panose="02040503050406030204" pitchFamily="18" charset="0"/>
                          </a:rPr>
                          <m:t>−</m:t>
                        </m:r>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2</m:t>
                                </m:r>
                              </m:sub>
                            </m:sSub>
                            <m:r>
                              <a:rPr lang="fr-CA" i="1">
                                <a:latin typeface="Cambria Math" panose="02040503050406030204" pitchFamily="18" charset="0"/>
                              </a:rPr>
                              <m:t>    </m:t>
                            </m:r>
                          </m:e>
                        </m:acc>
                      </m:num>
                      <m:den>
                        <m:rad>
                          <m:radPr>
                            <m:degHide m:val="on"/>
                            <m:ctrlPr>
                              <a:rPr lang="fr-CA" i="1">
                                <a:latin typeface="Cambria Math" panose="02040503050406030204" pitchFamily="18" charset="0"/>
                              </a:rPr>
                            </m:ctrlPr>
                          </m:radPr>
                          <m:deg/>
                          <m:e>
                            <m:acc>
                              <m:accPr>
                                <m:chr m:val="̂"/>
                                <m:ctrlPr>
                                  <a:rPr lang="fr-CA" i="1">
                                    <a:latin typeface="Cambria Math" panose="02040503050406030204" pitchFamily="18" charset="0"/>
                                  </a:rPr>
                                </m:ctrlPr>
                              </m:accPr>
                              <m:e>
                                <m:r>
                                  <a:rPr lang="fr-CA" i="1">
                                    <a:latin typeface="Cambria Math" panose="02040503050406030204" pitchFamily="18" charset="0"/>
                                  </a:rPr>
                                  <m:t>𝑝</m:t>
                                </m:r>
                              </m:e>
                            </m:acc>
                            <m:r>
                              <a:rPr lang="fr-CA" i="1">
                                <a:latin typeface="Cambria Math" panose="02040503050406030204" pitchFamily="18" charset="0"/>
                              </a:rPr>
                              <m:t>∗</m:t>
                            </m:r>
                            <m:acc>
                              <m:accPr>
                                <m:chr m:val="̂"/>
                                <m:ctrlPr>
                                  <a:rPr lang="fr-CA" i="1">
                                    <a:latin typeface="Cambria Math" panose="02040503050406030204" pitchFamily="18" charset="0"/>
                                  </a:rPr>
                                </m:ctrlPr>
                              </m:accPr>
                              <m:e>
                                <m:r>
                                  <a:rPr lang="fr-CA" i="1">
                                    <a:latin typeface="Cambria Math" panose="02040503050406030204" pitchFamily="18" charset="0"/>
                                  </a:rPr>
                                  <m:t>𝑞</m:t>
                                </m:r>
                              </m:e>
                            </m:acc>
                            <m:d>
                              <m:dPr>
                                <m:ctrlPr>
                                  <a:rPr lang="fr-CA" i="1">
                                    <a:latin typeface="Cambria Math" panose="02040503050406030204" pitchFamily="18" charset="0"/>
                                  </a:rPr>
                                </m:ctrlPr>
                              </m:dPr>
                              <m:e>
                                <m:f>
                                  <m:fPr>
                                    <m:ctrlPr>
                                      <a:rPr lang="fr-CA" i="1">
                                        <a:latin typeface="Cambria Math" panose="02040503050406030204" pitchFamily="18" charset="0"/>
                                      </a:rPr>
                                    </m:ctrlPr>
                                  </m:fPr>
                                  <m:num>
                                    <m:r>
                                      <a:rPr lang="fr-CA" i="1">
                                        <a:latin typeface="Cambria Math" panose="02040503050406030204" pitchFamily="18" charset="0"/>
                                      </a:rPr>
                                      <m:t>1</m:t>
                                    </m:r>
                                  </m:num>
                                  <m:den>
                                    <m:sSub>
                                      <m:sSubPr>
                                        <m:ctrlPr>
                                          <a:rPr lang="fr-CA"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1</m:t>
                                        </m:r>
                                      </m:sub>
                                    </m:sSub>
                                  </m:den>
                                </m:f>
                                <m:r>
                                  <a:rPr lang="fr-CA" i="1">
                                    <a:latin typeface="Cambria Math" panose="02040503050406030204" pitchFamily="18" charset="0"/>
                                  </a:rPr>
                                  <m:t>+</m:t>
                                </m:r>
                                <m:f>
                                  <m:fPr>
                                    <m:ctrlPr>
                                      <a:rPr lang="fr-CA" i="1">
                                        <a:latin typeface="Cambria Math" panose="02040503050406030204" pitchFamily="18" charset="0"/>
                                      </a:rPr>
                                    </m:ctrlPr>
                                  </m:fPr>
                                  <m:num>
                                    <m:r>
                                      <a:rPr lang="fr-CA" i="1">
                                        <a:latin typeface="Cambria Math" panose="02040503050406030204" pitchFamily="18" charset="0"/>
                                      </a:rPr>
                                      <m:t>1</m:t>
                                    </m:r>
                                  </m:num>
                                  <m:den>
                                    <m:sSub>
                                      <m:sSubPr>
                                        <m:ctrlPr>
                                          <a:rPr lang="fr-CA"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2</m:t>
                                        </m:r>
                                      </m:sub>
                                    </m:sSub>
                                  </m:den>
                                </m:f>
                              </m:e>
                            </m:d>
                          </m:e>
                        </m:rad>
                      </m:den>
                    </m:f>
                  </m:oMath>
                </a14:m>
                <a:endParaRPr lang="fr-CA" dirty="0"/>
              </a:p>
            </p:txBody>
          </p:sp>
        </mc:Choice>
        <mc:Fallback xmlns="">
          <p:sp>
            <p:nvSpPr>
              <p:cNvPr id="2" name="Titre 1">
                <a:extLst>
                  <a:ext uri="{FF2B5EF4-FFF2-40B4-BE49-F238E27FC236}">
                    <a16:creationId xmlns:a16="http://schemas.microsoft.com/office/drawing/2014/main" id="{ACC56990-F4F6-4BE2-986A-0B2BF745E5AE}"/>
                  </a:ext>
                </a:extLst>
              </p:cNvPr>
              <p:cNvSpPr>
                <a:spLocks noGrp="1" noRot="1" noChangeAspect="1" noMove="1" noResize="1" noEditPoints="1" noAdjustHandles="1" noChangeArrowheads="1" noChangeShapeType="1" noTextEdit="1"/>
              </p:cNvSpPr>
              <p:nvPr>
                <p:ph type="title"/>
              </p:nvPr>
            </p:nvSpPr>
            <p:spPr>
              <a:xfrm>
                <a:off x="838200" y="365125"/>
                <a:ext cx="10645588" cy="1813299"/>
              </a:xfrm>
              <a:blipFill>
                <a:blip r:embed="rId2"/>
                <a:stretch>
                  <a:fillRect l="-2062" t="-12795" b="-673"/>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D57DAEA2-E416-414D-BD30-A36427179483}"/>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0DD70AD0-A47F-4895-B053-B62E602156F0}"/>
              </a:ext>
            </a:extLst>
          </p:cNvPr>
          <p:cNvSpPr>
            <a:spLocks noGrp="1"/>
          </p:cNvSpPr>
          <p:nvPr>
            <p:ph type="sldNum" sz="quarter" idx="12"/>
          </p:nvPr>
        </p:nvSpPr>
        <p:spPr/>
        <p:txBody>
          <a:bodyPr/>
          <a:lstStyle/>
          <a:p>
            <a:fld id="{26377AD9-CE17-438C-A638-C64D2D42D7CF}" type="slidenum">
              <a:rPr lang="fr-CA" smtClean="0"/>
              <a:t>10</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77891A6D-C193-4B07-BA80-35977248B480}"/>
                  </a:ext>
                </a:extLst>
              </p:cNvPr>
              <p:cNvSpPr txBox="1"/>
              <p:nvPr/>
            </p:nvSpPr>
            <p:spPr>
              <a:xfrm>
                <a:off x="874059" y="2178424"/>
                <a:ext cx="10784541" cy="3995196"/>
              </a:xfrm>
              <a:prstGeom prst="rect">
                <a:avLst/>
              </a:prstGeom>
              <a:noFill/>
            </p:spPr>
            <p:txBody>
              <a:bodyPr wrap="square" rtlCol="0">
                <a:spAutoFit/>
              </a:bodyPr>
              <a:lstStyle/>
              <a:p>
                <a:r>
                  <a:rPr lang="fr-CA" b="1" dirty="0"/>
                  <a:t>Méthode 1: </a:t>
                </a:r>
                <a:r>
                  <a:rPr lang="fr-CA" dirty="0"/>
                  <a:t>Les régions de rejet.</a:t>
                </a:r>
              </a:p>
              <a:p>
                <a:endParaRPr lang="fr-CA" dirty="0"/>
              </a:p>
              <a:p>
                <a:r>
                  <a:rPr lang="fr-CA" dirty="0"/>
                  <a:t>On rejette l’hypothèse nulle,  dans le cas:</a:t>
                </a:r>
              </a:p>
              <a:p>
                <a:endParaRPr lang="fr-CA" dirty="0"/>
              </a:p>
              <a:p>
                <a:pPr marL="342900" indent="-342900">
                  <a:buFont typeface="+mj-lt"/>
                  <a:buAutoNum type="arabicPeriod"/>
                </a:pPr>
                <a:r>
                  <a:rPr lang="fr-CA" dirty="0"/>
                  <a:t>D’un test bilatéral, lorsque </a:t>
                </a:r>
                <a14:m>
                  <m:oMath xmlns:m="http://schemas.openxmlformats.org/officeDocument/2006/math">
                    <m:d>
                      <m:dPr>
                        <m:begChr m:val="|"/>
                        <m:endChr m:val="|"/>
                        <m:ctrlPr>
                          <a:rPr lang="fr-CA" i="1" smtClean="0">
                            <a:latin typeface="Cambria Math" panose="02040503050406030204" pitchFamily="18" charset="0"/>
                          </a:rPr>
                        </m:ctrlPr>
                      </m:dPr>
                      <m:e>
                        <m:sSub>
                          <m:sSubPr>
                            <m:ctrlPr>
                              <a:rPr lang="fr-CA" i="1">
                                <a:latin typeface="Cambria Math" panose="02040503050406030204" pitchFamily="18" charset="0"/>
                              </a:rPr>
                            </m:ctrlPr>
                          </m:sSubPr>
                          <m:e>
                            <m:r>
                              <a:rPr lang="fr-CA" i="1">
                                <a:latin typeface="Cambria Math" panose="02040503050406030204" pitchFamily="18" charset="0"/>
                              </a:rPr>
                              <m:t>𝑧</m:t>
                            </m:r>
                          </m:e>
                          <m:sub>
                            <m:r>
                              <a:rPr lang="fr-CA" i="1">
                                <a:latin typeface="Cambria Math" panose="02040503050406030204" pitchFamily="18" charset="0"/>
                              </a:rPr>
                              <m:t>0</m:t>
                            </m:r>
                          </m:sub>
                        </m:sSub>
                      </m:e>
                    </m:d>
                    <m:r>
                      <a:rPr lang="fr-CA" i="1" smtClean="0">
                        <a:latin typeface="Cambria Math" panose="02040503050406030204" pitchFamily="18" charset="0"/>
                        <a:ea typeface="Cambria Math" panose="02040503050406030204" pitchFamily="18" charset="0"/>
                      </a:rPr>
                      <m:t>&gt;</m:t>
                    </m:r>
                    <m:sSub>
                      <m:sSubPr>
                        <m:ctrlPr>
                          <a:rPr lang="fr-CA"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𝑧</m:t>
                        </m:r>
                      </m:e>
                      <m:sub>
                        <m:r>
                          <a:rPr lang="fr-CA" i="1" smtClean="0">
                            <a:latin typeface="Cambria Math" panose="02040503050406030204" pitchFamily="18" charset="0"/>
                            <a:ea typeface="Cambria Math" panose="02040503050406030204" pitchFamily="18" charset="0"/>
                          </a:rPr>
                          <m:t>𝛼</m:t>
                        </m:r>
                        <m:r>
                          <a:rPr lang="fr-CA" b="0" i="1" smtClean="0">
                            <a:latin typeface="Cambria Math" panose="02040503050406030204" pitchFamily="18" charset="0"/>
                            <a:ea typeface="Cambria Math" panose="02040503050406030204" pitchFamily="18" charset="0"/>
                          </a:rPr>
                          <m:t>/2</m:t>
                        </m:r>
                      </m:sub>
                    </m:sSub>
                  </m:oMath>
                </a14:m>
                <a:endParaRPr lang="fr-CA" dirty="0"/>
              </a:p>
              <a:p>
                <a:pPr marL="342900" indent="-342900">
                  <a:buFont typeface="+mj-lt"/>
                  <a:buAutoNum type="arabicPeriod"/>
                </a:pPr>
                <a:r>
                  <a:rPr lang="fr-CA" dirty="0"/>
                  <a:t>D’un test unilatéral à droite, lorsque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𝑧</m:t>
                        </m:r>
                      </m:e>
                      <m:sub>
                        <m:r>
                          <a:rPr lang="fr-CA" b="0" i="1" smtClean="0">
                            <a:latin typeface="Cambria Math" panose="02040503050406030204" pitchFamily="18" charset="0"/>
                          </a:rPr>
                          <m:t>0</m:t>
                        </m:r>
                      </m:sub>
                    </m:sSub>
                    <m:r>
                      <a:rPr lang="fr-CA" i="1" smtClean="0">
                        <a:latin typeface="Cambria Math" panose="02040503050406030204" pitchFamily="18" charset="0"/>
                        <a:ea typeface="Cambria Math" panose="02040503050406030204" pitchFamily="18" charset="0"/>
                      </a:rPr>
                      <m:t>&gt;</m:t>
                    </m:r>
                    <m:sSub>
                      <m:sSubPr>
                        <m:ctrlPr>
                          <a:rPr lang="fr-CA"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𝑧</m:t>
                        </m:r>
                      </m:e>
                      <m:sub>
                        <m:r>
                          <a:rPr lang="fr-CA" i="1" smtClean="0">
                            <a:latin typeface="Cambria Math" panose="02040503050406030204" pitchFamily="18" charset="0"/>
                            <a:ea typeface="Cambria Math" panose="02040503050406030204" pitchFamily="18" charset="0"/>
                          </a:rPr>
                          <m:t>𝛼</m:t>
                        </m:r>
                      </m:sub>
                    </m:sSub>
                  </m:oMath>
                </a14:m>
                <a:endParaRPr lang="fr-CA" dirty="0"/>
              </a:p>
              <a:p>
                <a:pPr marL="342900" indent="-342900">
                  <a:buFont typeface="+mj-lt"/>
                  <a:buAutoNum type="arabicPeriod"/>
                </a:pPr>
                <a:r>
                  <a:rPr lang="fr-CA" dirty="0"/>
                  <a:t>D’un test unilatéral à gauche, lorsque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𝑧</m:t>
                        </m:r>
                      </m:e>
                      <m:sub>
                        <m:r>
                          <a:rPr lang="fr-CA" b="0" i="1" smtClean="0">
                            <a:latin typeface="Cambria Math" panose="02040503050406030204" pitchFamily="18" charset="0"/>
                          </a:rPr>
                          <m:t>0</m:t>
                        </m:r>
                      </m:sub>
                    </m:sSub>
                    <m:r>
                      <a:rPr lang="fr-CA" b="0" i="1" smtClean="0">
                        <a:latin typeface="Cambria Math" panose="02040503050406030204" pitchFamily="18" charset="0"/>
                        <a:ea typeface="Cambria Math" panose="02040503050406030204" pitchFamily="18" charset="0"/>
                      </a:rPr>
                      <m:t>&lt;−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𝑧</m:t>
                        </m:r>
                      </m:e>
                      <m:sub>
                        <m:r>
                          <a:rPr lang="fr-CA" b="0" i="1" smtClean="0">
                            <a:latin typeface="Cambria Math" panose="02040503050406030204" pitchFamily="18" charset="0"/>
                            <a:ea typeface="Cambria Math" panose="02040503050406030204" pitchFamily="18" charset="0"/>
                          </a:rPr>
                          <m:t>𝛼</m:t>
                        </m:r>
                      </m:sub>
                    </m:sSub>
                  </m:oMath>
                </a14:m>
                <a:endParaRPr lang="fr-CA" dirty="0"/>
              </a:p>
              <a:p>
                <a:endParaRPr lang="fr-CA" dirty="0"/>
              </a:p>
              <a:p>
                <a:r>
                  <a:rPr lang="fr-CA" b="1" dirty="0"/>
                  <a:t>Méthode 2</a:t>
                </a:r>
                <a:r>
                  <a:rPr lang="fr-CA" dirty="0"/>
                  <a:t>: La valeur-P</a:t>
                </a:r>
              </a:p>
              <a:p>
                <a:r>
                  <a:rPr lang="fr-CA" dirty="0"/>
                  <a:t>Qui se calcule selon le cas:</a:t>
                </a:r>
              </a:p>
              <a:p>
                <a:pPr marL="342900" indent="-342900">
                  <a:buFont typeface="+mj-lt"/>
                  <a:buAutoNum type="arabicPeriod"/>
                </a:pPr>
                <a:r>
                  <a:rPr lang="fr-CA" dirty="0"/>
                  <a:t>Un test bilatéral, valeur-P=</a:t>
                </a:r>
                <a14:m>
                  <m:oMath xmlns:m="http://schemas.openxmlformats.org/officeDocument/2006/math">
                    <m:r>
                      <a:rPr lang="fr-CA" b="0" i="1" smtClean="0">
                        <a:latin typeface="Cambria Math" panose="02040503050406030204" pitchFamily="18" charset="0"/>
                      </a:rPr>
                      <m:t>2</m:t>
                    </m:r>
                    <m:r>
                      <a:rPr lang="fr-CA" b="0" i="1" smtClean="0">
                        <a:latin typeface="Cambria Math" panose="02040503050406030204" pitchFamily="18" charset="0"/>
                      </a:rPr>
                      <m:t>𝑃</m:t>
                    </m:r>
                    <m:r>
                      <a:rPr lang="fr-CA" b="0" i="1" smtClean="0">
                        <a:latin typeface="Cambria Math" panose="02040503050406030204" pitchFamily="18" charset="0"/>
                      </a:rPr>
                      <m:t>(</m:t>
                    </m:r>
                    <m:r>
                      <a:rPr lang="fr-CA" b="0" i="1" smtClean="0">
                        <a:latin typeface="Cambria Math" panose="02040503050406030204" pitchFamily="18" charset="0"/>
                      </a:rPr>
                      <m:t>𝑍</m:t>
                    </m:r>
                    <m:r>
                      <a:rPr lang="fr-CA" b="0" i="1" smtClean="0">
                        <a:latin typeface="Cambria Math" panose="02040503050406030204" pitchFamily="18" charset="0"/>
                        <a:ea typeface="Cambria Math" panose="02040503050406030204" pitchFamily="18" charset="0"/>
                      </a:rPr>
                      <m:t>&gt;</m:t>
                    </m:r>
                  </m:oMath>
                </a14:m>
                <a:r>
                  <a:rPr lang="fr-CA" dirty="0"/>
                  <a:t> </a:t>
                </a:r>
                <a14:m>
                  <m:oMath xmlns:m="http://schemas.openxmlformats.org/officeDocument/2006/math">
                    <m:d>
                      <m:dPr>
                        <m:begChr m:val="|"/>
                        <m:endChr m:val="|"/>
                        <m:ctrlPr>
                          <a:rPr lang="fr-CA" i="1">
                            <a:latin typeface="Cambria Math" panose="02040503050406030204" pitchFamily="18" charset="0"/>
                          </a:rPr>
                        </m:ctrlPr>
                      </m:dPr>
                      <m:e>
                        <m:sSub>
                          <m:sSubPr>
                            <m:ctrlPr>
                              <a:rPr lang="fr-CA" i="1">
                                <a:latin typeface="Cambria Math" panose="02040503050406030204" pitchFamily="18" charset="0"/>
                              </a:rPr>
                            </m:ctrlPr>
                          </m:sSubPr>
                          <m:e>
                            <m:r>
                              <a:rPr lang="fr-CA" i="1">
                                <a:latin typeface="Cambria Math" panose="02040503050406030204" pitchFamily="18" charset="0"/>
                              </a:rPr>
                              <m:t>𝑧</m:t>
                            </m:r>
                          </m:e>
                          <m:sub>
                            <m:r>
                              <a:rPr lang="fr-CA" i="1">
                                <a:latin typeface="Cambria Math" panose="02040503050406030204" pitchFamily="18" charset="0"/>
                              </a:rPr>
                              <m:t>0</m:t>
                            </m:r>
                          </m:sub>
                        </m:sSub>
                      </m:e>
                    </m:d>
                  </m:oMath>
                </a14:m>
                <a:r>
                  <a:rPr lang="fr-CA" dirty="0"/>
                  <a:t>).</a:t>
                </a:r>
              </a:p>
              <a:p>
                <a:pPr marL="342900" indent="-342900">
                  <a:buFont typeface="+mj-lt"/>
                  <a:buAutoNum type="arabicPeriod"/>
                </a:pPr>
                <a:r>
                  <a:rPr lang="fr-CA" dirty="0"/>
                  <a:t>Un test unilatéral à droite, valeur-P=</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𝑍</m:t>
                        </m:r>
                        <m:r>
                          <a:rPr lang="fr-CA" b="0" i="1" smtClean="0">
                            <a:latin typeface="Cambria Math" panose="02040503050406030204" pitchFamily="18" charset="0"/>
                            <a:ea typeface="Cambria Math" panose="02040503050406030204" pitchFamily="18" charset="0"/>
                          </a:rPr>
                          <m:t>&gt;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𝑧</m:t>
                            </m:r>
                          </m:e>
                          <m:sub>
                            <m:r>
                              <a:rPr lang="fr-CA" b="0" i="1" smtClean="0">
                                <a:latin typeface="Cambria Math" panose="02040503050406030204" pitchFamily="18" charset="0"/>
                                <a:ea typeface="Cambria Math" panose="02040503050406030204" pitchFamily="18" charset="0"/>
                              </a:rPr>
                              <m:t>0</m:t>
                            </m:r>
                          </m:sub>
                        </m:sSub>
                      </m:e>
                    </m:d>
                  </m:oMath>
                </a14:m>
                <a:endParaRPr lang="fr-CA" b="0" dirty="0">
                  <a:ea typeface="Cambria Math" panose="02040503050406030204" pitchFamily="18" charset="0"/>
                </a:endParaRPr>
              </a:p>
              <a:p>
                <a:pPr marL="342900" indent="-342900">
                  <a:buFont typeface="+mj-lt"/>
                  <a:buAutoNum type="arabicPeriod"/>
                </a:pPr>
                <a:r>
                  <a:rPr lang="fr-CA" dirty="0"/>
                  <a:t>Un test unilatéral à gauche, la valeur-P=</a:t>
                </a:r>
                <a14:m>
                  <m:oMath xmlns:m="http://schemas.openxmlformats.org/officeDocument/2006/math">
                    <m:r>
                      <a:rPr lang="fr-CA" b="0" i="1" smtClean="0">
                        <a:latin typeface="Cambria Math" panose="02040503050406030204" pitchFamily="18" charset="0"/>
                      </a:rPr>
                      <m:t>𝑃</m:t>
                    </m:r>
                    <m:r>
                      <a:rPr lang="fr-CA" b="0" i="1" smtClean="0">
                        <a:latin typeface="Cambria Math" panose="02040503050406030204" pitchFamily="18" charset="0"/>
                      </a:rPr>
                      <m:t>(</m:t>
                    </m:r>
                    <m:r>
                      <a:rPr lang="fr-CA" b="0" i="1" smtClean="0">
                        <a:latin typeface="Cambria Math" panose="02040503050406030204" pitchFamily="18" charset="0"/>
                      </a:rPr>
                      <m:t>𝑍</m:t>
                    </m:r>
                    <m:r>
                      <a:rPr lang="fr-CA" b="0" i="1" smtClean="0">
                        <a:latin typeface="Cambria Math" panose="02040503050406030204" pitchFamily="18" charset="0"/>
                        <a:ea typeface="Cambria Math" panose="02040503050406030204" pitchFamily="18" charset="0"/>
                      </a:rPr>
                      <m:t>&lt;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𝑧</m:t>
                        </m:r>
                      </m:e>
                      <m:sub>
                        <m:r>
                          <a:rPr lang="fr-CA" b="0" i="1" smtClean="0">
                            <a:latin typeface="Cambria Math" panose="02040503050406030204" pitchFamily="18" charset="0"/>
                            <a:ea typeface="Cambria Math" panose="02040503050406030204" pitchFamily="18" charset="0"/>
                          </a:rPr>
                          <m:t>0</m:t>
                        </m:r>
                      </m:sub>
                    </m:sSub>
                    <m:r>
                      <a:rPr lang="fr-CA" b="0" i="1" smtClean="0">
                        <a:latin typeface="Cambria Math" panose="02040503050406030204" pitchFamily="18" charset="0"/>
                        <a:ea typeface="Cambria Math" panose="02040503050406030204" pitchFamily="18" charset="0"/>
                      </a:rPr>
                      <m:t>)</m:t>
                    </m:r>
                  </m:oMath>
                </a14:m>
                <a:endParaRPr lang="fr-CA" dirty="0"/>
              </a:p>
              <a:p>
                <a:r>
                  <a:rPr lang="fr-CA" dirty="0"/>
                  <a:t>Une fois la valeur-P calculée, on rejette l’hypothèse nulle lorsque cette valeur-P est inférieure à alpha.</a:t>
                </a:r>
              </a:p>
            </p:txBody>
          </p:sp>
        </mc:Choice>
        <mc:Fallback xmlns="">
          <p:sp>
            <p:nvSpPr>
              <p:cNvPr id="5" name="ZoneTexte 4">
                <a:extLst>
                  <a:ext uri="{FF2B5EF4-FFF2-40B4-BE49-F238E27FC236}">
                    <a16:creationId xmlns:a16="http://schemas.microsoft.com/office/drawing/2014/main" id="{77891A6D-C193-4B07-BA80-35977248B480}"/>
                  </a:ext>
                </a:extLst>
              </p:cNvPr>
              <p:cNvSpPr txBox="1">
                <a:spLocks noRot="1" noChangeAspect="1" noMove="1" noResize="1" noEditPoints="1" noAdjustHandles="1" noChangeArrowheads="1" noChangeShapeType="1" noTextEdit="1"/>
              </p:cNvSpPr>
              <p:nvPr/>
            </p:nvSpPr>
            <p:spPr>
              <a:xfrm>
                <a:off x="874059" y="2178424"/>
                <a:ext cx="10784541" cy="3995196"/>
              </a:xfrm>
              <a:prstGeom prst="rect">
                <a:avLst/>
              </a:prstGeom>
              <a:blipFill>
                <a:blip r:embed="rId3"/>
                <a:stretch>
                  <a:fillRect l="-452" t="-762" b="-1372"/>
                </a:stretch>
              </a:blipFill>
            </p:spPr>
            <p:txBody>
              <a:bodyPr/>
              <a:lstStyle/>
              <a:p>
                <a:r>
                  <a:rPr lang="fr-CA">
                    <a:noFill/>
                  </a:rPr>
                  <a:t> </a:t>
                </a:r>
              </a:p>
            </p:txBody>
          </p:sp>
        </mc:Fallback>
      </mc:AlternateContent>
    </p:spTree>
    <p:extLst>
      <p:ext uri="{BB962C8B-B14F-4D97-AF65-F5344CB8AC3E}">
        <p14:creationId xmlns:p14="http://schemas.microsoft.com/office/powerpoint/2010/main" val="1866673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843B3D-E0AF-483D-8728-484AFCD7DC03}"/>
              </a:ext>
            </a:extLst>
          </p:cNvPr>
          <p:cNvSpPr>
            <a:spLocks noGrp="1"/>
          </p:cNvSpPr>
          <p:nvPr>
            <p:ph type="title"/>
          </p:nvPr>
        </p:nvSpPr>
        <p:spPr/>
        <p:txBody>
          <a:bodyPr/>
          <a:lstStyle/>
          <a:p>
            <a:r>
              <a:rPr lang="fr-CA" b="1" dirty="0"/>
              <a:t>Méthode 3</a:t>
            </a:r>
            <a:r>
              <a:rPr lang="fr-CA" dirty="0"/>
              <a:t>: L’utilisation du logiciel R.</a:t>
            </a:r>
          </a:p>
        </p:txBody>
      </p:sp>
      <p:sp>
        <p:nvSpPr>
          <p:cNvPr id="3" name="Espace réservé du pied de page 2">
            <a:extLst>
              <a:ext uri="{FF2B5EF4-FFF2-40B4-BE49-F238E27FC236}">
                <a16:creationId xmlns:a16="http://schemas.microsoft.com/office/drawing/2014/main" id="{914065EE-5E22-4E26-B807-D2CD3ABF714A}"/>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3AC03349-E6B6-4090-A46C-4559FA88760B}"/>
              </a:ext>
            </a:extLst>
          </p:cNvPr>
          <p:cNvSpPr>
            <a:spLocks noGrp="1"/>
          </p:cNvSpPr>
          <p:nvPr>
            <p:ph type="sldNum" sz="quarter" idx="12"/>
          </p:nvPr>
        </p:nvSpPr>
        <p:spPr/>
        <p:txBody>
          <a:bodyPr/>
          <a:lstStyle/>
          <a:p>
            <a:fld id="{26377AD9-CE17-438C-A638-C64D2D42D7CF}" type="slidenum">
              <a:rPr lang="fr-CA" smtClean="0"/>
              <a:t>11</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6163BDA3-C03F-44E1-AE35-C00E805E56C1}"/>
                  </a:ext>
                </a:extLst>
              </p:cNvPr>
              <p:cNvSpPr txBox="1"/>
              <p:nvPr/>
            </p:nvSpPr>
            <p:spPr>
              <a:xfrm>
                <a:off x="995082" y="1828800"/>
                <a:ext cx="10358718" cy="923330"/>
              </a:xfrm>
              <a:prstGeom prst="rect">
                <a:avLst/>
              </a:prstGeom>
              <a:noFill/>
            </p:spPr>
            <p:txBody>
              <a:bodyPr wrap="square" rtlCol="0">
                <a:spAutoFit/>
              </a:bodyPr>
              <a:lstStyle/>
              <a:p>
                <a:r>
                  <a:rPr lang="fr-CA" dirty="0"/>
                  <a:t>On tape:</a:t>
                </a:r>
              </a:p>
              <a:p>
                <a:endParaRPr lang="fr-CA" dirty="0"/>
              </a:p>
              <a:p>
                <a:r>
                  <a:rPr lang="fr-CA" dirty="0" err="1"/>
                  <a:t>prop.test</a:t>
                </a:r>
                <a:r>
                  <a:rPr lang="fr-CA" dirty="0"/>
                  <a:t>(x=c(</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𝑥</m:t>
                        </m:r>
                      </m:e>
                      <m:sub>
                        <m:r>
                          <a:rPr lang="fr-CA" b="0" i="1" smtClean="0">
                            <a:latin typeface="Cambria Math" panose="02040503050406030204" pitchFamily="18" charset="0"/>
                          </a:rPr>
                          <m:t>1</m:t>
                        </m:r>
                      </m:sub>
                    </m:sSub>
                  </m:oMath>
                </a14:m>
                <a:r>
                  <a:rPr lang="fr-CA" dirty="0"/>
                  <a:t>,</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𝑥</m:t>
                        </m:r>
                      </m:e>
                      <m:sub>
                        <m:r>
                          <a:rPr lang="fr-CA" b="0" i="1" smtClean="0">
                            <a:latin typeface="Cambria Math" panose="02040503050406030204" pitchFamily="18" charset="0"/>
                          </a:rPr>
                          <m:t>2</m:t>
                        </m:r>
                      </m:sub>
                    </m:sSub>
                  </m:oMath>
                </a14:m>
                <a:r>
                  <a:rPr lang="fr-CA" dirty="0"/>
                  <a:t>),n=c(</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1</m:t>
                        </m:r>
                      </m:sub>
                    </m:sSub>
                  </m:oMath>
                </a14:m>
                <a:r>
                  <a:rPr lang="fr-CA" dirty="0"/>
                  <a:t>,</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2</m:t>
                        </m:r>
                      </m:sub>
                    </m:sSub>
                  </m:oMath>
                </a14:m>
                <a:r>
                  <a:rPr lang="fr-CA" dirty="0"/>
                  <a:t>),</a:t>
                </a:r>
                <a:r>
                  <a:rPr lang="fr-CA" dirty="0" err="1"/>
                  <a:t>conf.level</a:t>
                </a:r>
                <a:r>
                  <a:rPr lang="fr-CA" dirty="0"/>
                  <a:t>=……,alternative=……,correct=F)</a:t>
                </a:r>
              </a:p>
            </p:txBody>
          </p:sp>
        </mc:Choice>
        <mc:Fallback xmlns="">
          <p:sp>
            <p:nvSpPr>
              <p:cNvPr id="5" name="ZoneTexte 4">
                <a:extLst>
                  <a:ext uri="{FF2B5EF4-FFF2-40B4-BE49-F238E27FC236}">
                    <a16:creationId xmlns:a16="http://schemas.microsoft.com/office/drawing/2014/main" id="{6163BDA3-C03F-44E1-AE35-C00E805E56C1}"/>
                  </a:ext>
                </a:extLst>
              </p:cNvPr>
              <p:cNvSpPr txBox="1">
                <a:spLocks noRot="1" noChangeAspect="1" noMove="1" noResize="1" noEditPoints="1" noAdjustHandles="1" noChangeArrowheads="1" noChangeShapeType="1" noTextEdit="1"/>
              </p:cNvSpPr>
              <p:nvPr/>
            </p:nvSpPr>
            <p:spPr>
              <a:xfrm>
                <a:off x="995082" y="1828800"/>
                <a:ext cx="10358718" cy="923330"/>
              </a:xfrm>
              <a:prstGeom prst="rect">
                <a:avLst/>
              </a:prstGeom>
              <a:blipFill>
                <a:blip r:embed="rId2"/>
                <a:stretch>
                  <a:fillRect l="-471" t="-3311" b="-9934"/>
                </a:stretch>
              </a:blipFill>
            </p:spPr>
            <p:txBody>
              <a:bodyPr/>
              <a:lstStyle/>
              <a:p>
                <a:r>
                  <a:rPr lang="fr-CA">
                    <a:noFill/>
                  </a:rPr>
                  <a:t> </a:t>
                </a:r>
              </a:p>
            </p:txBody>
          </p:sp>
        </mc:Fallback>
      </mc:AlternateContent>
    </p:spTree>
    <p:extLst>
      <p:ext uri="{BB962C8B-B14F-4D97-AF65-F5344CB8AC3E}">
        <p14:creationId xmlns:p14="http://schemas.microsoft.com/office/powerpoint/2010/main" val="3329343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EEBD25-F54A-4BCD-81A5-1C2965B99523}"/>
              </a:ext>
            </a:extLst>
          </p:cNvPr>
          <p:cNvSpPr>
            <a:spLocks noGrp="1"/>
          </p:cNvSpPr>
          <p:nvPr>
            <p:ph type="title"/>
          </p:nvPr>
        </p:nvSpPr>
        <p:spPr>
          <a:xfrm>
            <a:off x="838200" y="365125"/>
            <a:ext cx="10515600" cy="3534522"/>
          </a:xfrm>
        </p:spPr>
        <p:txBody>
          <a:bodyPr>
            <a:normAutofit/>
          </a:bodyPr>
          <a:lstStyle/>
          <a:p>
            <a:r>
              <a:rPr lang="fr-CA" b="1" dirty="0"/>
              <a:t>Exemple</a:t>
            </a:r>
            <a:r>
              <a:rPr lang="fr-CA" dirty="0"/>
              <a:t>: </a:t>
            </a:r>
            <a:r>
              <a:rPr lang="fr-CA" sz="2400" dirty="0">
                <a:solidFill>
                  <a:srgbClr val="000000"/>
                </a:solidFill>
                <a:effectLst/>
                <a:latin typeface="Times New Roman" panose="02020603050405020304" pitchFamily="18" charset="0"/>
                <a:ea typeface="Times New Roman" panose="02020603050405020304" pitchFamily="18" charset="0"/>
              </a:rPr>
              <a:t>Un nouveau médicament a été mis au point pour soigner la dépression majeure. Dans un groupe de 100 patients qui ont été traités avec ce nouveau médicament, 27 d’entre eux ont montré des signes d’amélioration après huit semaines. Dans un autre groupe de 100 patients traités avec un placebo, seuls 19 d’entre eux ont montré des signes d’amélioration après huit semaines. Peut-on dire que le nouveau médicament est meilleur que le placebo ? Formulez les hypothèses</a:t>
            </a:r>
            <a:r>
              <a:rPr lang="fr-CA" sz="2400" b="1" dirty="0">
                <a:solidFill>
                  <a:srgbClr val="0000FF"/>
                </a:solidFill>
                <a:effectLst/>
                <a:latin typeface="Times New Roman" panose="02020603050405020304" pitchFamily="18" charset="0"/>
                <a:ea typeface="Times New Roman" panose="02020603050405020304" pitchFamily="18" charset="0"/>
              </a:rPr>
              <a:t> </a:t>
            </a:r>
            <a:r>
              <a:rPr lang="fr-CA" sz="2400" dirty="0">
                <a:solidFill>
                  <a:srgbClr val="000000"/>
                </a:solidFill>
                <a:effectLst/>
                <a:latin typeface="Times New Roman" panose="02020603050405020304" pitchFamily="18" charset="0"/>
                <a:ea typeface="Times New Roman" panose="02020603050405020304" pitchFamily="18" charset="0"/>
              </a:rPr>
              <a:t>appropriées à tester, déterminez la valeur </a:t>
            </a:r>
            <a:r>
              <a:rPr lang="fr-CA" sz="2400" i="1" dirty="0">
                <a:solidFill>
                  <a:srgbClr val="000000"/>
                </a:solidFill>
                <a:effectLst/>
                <a:latin typeface="Times New Roman" panose="02020603050405020304" pitchFamily="18" charset="0"/>
                <a:ea typeface="Times New Roman" panose="02020603050405020304" pitchFamily="18" charset="0"/>
              </a:rPr>
              <a:t>P</a:t>
            </a:r>
            <a:r>
              <a:rPr lang="fr-CA" sz="2400" dirty="0">
                <a:solidFill>
                  <a:srgbClr val="000000"/>
                </a:solidFill>
                <a:effectLst/>
                <a:latin typeface="Times New Roman" panose="02020603050405020304" pitchFamily="18" charset="0"/>
                <a:ea typeface="Times New Roman" panose="02020603050405020304" pitchFamily="18" charset="0"/>
              </a:rPr>
              <a:t> associée à ce test et présentez votre conclusion avec un seuil de signification de 5 %.</a:t>
            </a:r>
            <a:br>
              <a:rPr lang="fr-CA" sz="2400" dirty="0">
                <a:solidFill>
                  <a:srgbClr val="000000"/>
                </a:solidFill>
                <a:effectLst/>
                <a:latin typeface="Times New Roman" panose="02020603050405020304" pitchFamily="18" charset="0"/>
                <a:ea typeface="Times New Roman" panose="02020603050405020304" pitchFamily="18" charset="0"/>
              </a:rPr>
            </a:br>
            <a:endParaRPr lang="fr-CA" sz="2400" dirty="0"/>
          </a:p>
        </p:txBody>
      </p:sp>
      <p:sp>
        <p:nvSpPr>
          <p:cNvPr id="3" name="Espace réservé du pied de page 2">
            <a:extLst>
              <a:ext uri="{FF2B5EF4-FFF2-40B4-BE49-F238E27FC236}">
                <a16:creationId xmlns:a16="http://schemas.microsoft.com/office/drawing/2014/main" id="{0416994B-CE2B-4FC8-B559-04DBF7F95B93}"/>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2FE02913-6F0B-43FA-A0EA-88F1504C1051}"/>
              </a:ext>
            </a:extLst>
          </p:cNvPr>
          <p:cNvSpPr>
            <a:spLocks noGrp="1"/>
          </p:cNvSpPr>
          <p:nvPr>
            <p:ph type="sldNum" sz="quarter" idx="12"/>
          </p:nvPr>
        </p:nvSpPr>
        <p:spPr/>
        <p:txBody>
          <a:bodyPr/>
          <a:lstStyle/>
          <a:p>
            <a:fld id="{26377AD9-CE17-438C-A638-C64D2D42D7CF}" type="slidenum">
              <a:rPr lang="fr-CA" smtClean="0"/>
              <a:t>12</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ECA71D69-14E2-4C5A-BD66-F11D9DDE33BF}"/>
                  </a:ext>
                </a:extLst>
              </p:cNvPr>
              <p:cNvSpPr txBox="1"/>
              <p:nvPr/>
            </p:nvSpPr>
            <p:spPr>
              <a:xfrm>
                <a:off x="838200" y="3899647"/>
                <a:ext cx="9986682" cy="2107244"/>
              </a:xfrm>
              <a:prstGeom prst="rect">
                <a:avLst/>
              </a:prstGeom>
              <a:noFill/>
            </p:spPr>
            <p:txBody>
              <a:bodyPr wrap="square" rtlCol="0">
                <a:spAutoFit/>
              </a:bodyPr>
              <a:lstStyle/>
              <a:p>
                <a:r>
                  <a:rPr lang="fr-CA" dirty="0"/>
                  <a:t>On  veut tester les hypothèses : </a:t>
                </a:r>
                <a14:m>
                  <m:oMath xmlns:m="http://schemas.openxmlformats.org/officeDocument/2006/math">
                    <m:sSub>
                      <m:sSubPr>
                        <m:ctrlPr>
                          <a:rPr lang="fr-CA" b="0"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0</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2</m:t>
                        </m:r>
                      </m:sub>
                    </m:sSub>
                    <m:r>
                      <a:rPr lang="fr-CA" b="0" i="1" smtClean="0">
                        <a:latin typeface="Cambria Math" panose="02040503050406030204" pitchFamily="18" charset="0"/>
                      </a:rPr>
                      <m:t>     </m:t>
                    </m:r>
                    <m:r>
                      <a:rPr lang="fr-CA" b="0" i="1" smtClean="0">
                        <a:latin typeface="Cambria Math" panose="02040503050406030204" pitchFamily="18" charset="0"/>
                      </a:rPr>
                      <m:t>𝑐𝑜𝑛𝑡𝑟𝑒</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r>
                      <a:rPr lang="fr-CA" i="1">
                        <a:latin typeface="Cambria Math" panose="02040503050406030204" pitchFamily="18" charset="0"/>
                        <a:ea typeface="Cambria Math" panose="02040503050406030204" pitchFamily="18" charset="0"/>
                      </a:rPr>
                      <m:t>&gt;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𝑝</m:t>
                        </m:r>
                      </m:e>
                      <m:sub>
                        <m:r>
                          <a:rPr lang="fr-CA" b="0" i="1" smtClean="0">
                            <a:latin typeface="Cambria Math" panose="02040503050406030204" pitchFamily="18" charset="0"/>
                            <a:ea typeface="Cambria Math" panose="02040503050406030204" pitchFamily="18" charset="0"/>
                          </a:rPr>
                          <m:t>2</m:t>
                        </m:r>
                      </m:sub>
                    </m:sSub>
                  </m:oMath>
                </a14:m>
                <a:endParaRPr lang="fr-CA" dirty="0"/>
              </a:p>
              <a:p>
                <a:endParaRPr lang="fr-CA" dirty="0"/>
              </a:p>
              <a:p>
                <a:r>
                  <a:rPr lang="fr-CA" dirty="0"/>
                  <a:t>On a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1</m:t>
                        </m:r>
                      </m:sub>
                    </m:sSub>
                    <m:r>
                      <a:rPr lang="fr-CA" b="0" i="1" smtClean="0">
                        <a:latin typeface="Cambria Math" panose="02040503050406030204" pitchFamily="18" charset="0"/>
                      </a:rPr>
                      <m:t>=100;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𝑥</m:t>
                        </m:r>
                      </m:e>
                      <m:sub>
                        <m:r>
                          <a:rPr lang="fr-CA" b="0" i="1" smtClean="0">
                            <a:latin typeface="Cambria Math" panose="02040503050406030204" pitchFamily="18" charset="0"/>
                          </a:rPr>
                          <m:t>1</m:t>
                        </m:r>
                      </m:sub>
                    </m:sSub>
                    <m:r>
                      <a:rPr lang="fr-CA" b="0" i="1" smtClean="0">
                        <a:latin typeface="Cambria Math" panose="02040503050406030204" pitchFamily="18" charset="0"/>
                      </a:rPr>
                      <m:t>=27      </m:t>
                    </m:r>
                    <m:r>
                      <a:rPr lang="fr-CA" b="0" i="1" smtClean="0">
                        <a:latin typeface="Cambria Math" panose="02040503050406030204" pitchFamily="18" charset="0"/>
                      </a:rPr>
                      <m:t>𝑒𝑡</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2</m:t>
                        </m:r>
                      </m:sub>
                    </m:sSub>
                    <m:r>
                      <a:rPr lang="fr-CA" b="0" i="1" smtClean="0">
                        <a:latin typeface="Cambria Math" panose="02040503050406030204" pitchFamily="18" charset="0"/>
                      </a:rPr>
                      <m:t>=100;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𝑥</m:t>
                        </m:r>
                      </m:e>
                      <m:sub>
                        <m:r>
                          <a:rPr lang="fr-CA" b="0" i="1" smtClean="0">
                            <a:latin typeface="Cambria Math" panose="02040503050406030204" pitchFamily="18" charset="0"/>
                          </a:rPr>
                          <m:t>2</m:t>
                        </m:r>
                      </m:sub>
                    </m:sSub>
                    <m:r>
                      <a:rPr lang="fr-CA" b="0" i="1" smtClean="0">
                        <a:latin typeface="Cambria Math" panose="02040503050406030204" pitchFamily="18" charset="0"/>
                      </a:rPr>
                      <m:t>=19</m:t>
                    </m:r>
                  </m:oMath>
                </a14:m>
                <a:r>
                  <a:rPr lang="fr-CA" dirty="0"/>
                  <a:t>  ce qui donne:</a:t>
                </a:r>
              </a:p>
              <a:p>
                <a:pPr/>
                <a14:m>
                  <m:oMathPara xmlns:m="http://schemas.openxmlformats.org/officeDocument/2006/math">
                    <m:oMathParaPr>
                      <m:jc m:val="centerGroup"/>
                    </m:oMathParaPr>
                    <m:oMath xmlns:m="http://schemas.openxmlformats.org/officeDocument/2006/math">
                      <m:acc>
                        <m:accPr>
                          <m:chr m:val="̂"/>
                          <m:ctrlPr>
                            <a:rPr lang="fr-CA" i="1" smtClean="0">
                              <a:latin typeface="Cambria Math" panose="02040503050406030204" pitchFamily="18" charset="0"/>
                            </a:rPr>
                          </m:ctrlPr>
                        </m:accPr>
                        <m:e>
                          <m:sSub>
                            <m:sSubPr>
                              <m:ctrlPr>
                                <a:rPr lang="fr-CA"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1</m:t>
                              </m:r>
                            </m:sub>
                          </m:sSub>
                        </m:e>
                      </m:acc>
                      <m:r>
                        <a:rPr lang="fr-CA" b="0" i="1" smtClean="0">
                          <a:latin typeface="Cambria Math" panose="02040503050406030204" pitchFamily="18" charset="0"/>
                        </a:rPr>
                        <m:t>=</m:t>
                      </m:r>
                      <m:f>
                        <m:fPr>
                          <m:ctrlPr>
                            <a:rPr lang="fr-CA" b="0" i="1" smtClean="0">
                              <a:latin typeface="Cambria Math" panose="02040503050406030204" pitchFamily="18" charset="0"/>
                            </a:rPr>
                          </m:ctrlPr>
                        </m:fPr>
                        <m:num>
                          <m:sSub>
                            <m:sSubPr>
                              <m:ctrlPr>
                                <a:rPr lang="fr-CA" b="0" i="1" smtClean="0">
                                  <a:latin typeface="Cambria Math" panose="02040503050406030204" pitchFamily="18" charset="0"/>
                                </a:rPr>
                              </m:ctrlPr>
                            </m:sSubPr>
                            <m:e>
                              <m:r>
                                <a:rPr lang="fr-CA" b="0" i="1" smtClean="0">
                                  <a:latin typeface="Cambria Math" panose="02040503050406030204" pitchFamily="18" charset="0"/>
                                </a:rPr>
                                <m:t>𝑥</m:t>
                              </m:r>
                            </m:e>
                            <m:sub>
                              <m:r>
                                <a:rPr lang="fr-CA" b="0" i="1" smtClean="0">
                                  <a:latin typeface="Cambria Math" panose="02040503050406030204" pitchFamily="18" charset="0"/>
                                </a:rPr>
                                <m:t>1</m:t>
                              </m:r>
                            </m:sub>
                          </m:sSub>
                        </m:num>
                        <m:den>
                          <m:sSub>
                            <m:sSubPr>
                              <m:ctrlPr>
                                <a:rPr lang="fr-CA" b="0"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1</m:t>
                              </m:r>
                            </m:sub>
                          </m:sSub>
                        </m:den>
                      </m:f>
                      <m:r>
                        <a:rPr lang="fr-CA" b="0" i="1" smtClean="0">
                          <a:latin typeface="Cambria Math" panose="02040503050406030204" pitchFamily="18" charset="0"/>
                        </a:rPr>
                        <m:t>=0,27         </m:t>
                      </m:r>
                      <m:acc>
                        <m:accPr>
                          <m:chr m:val="̂"/>
                          <m:ctrlPr>
                            <a:rPr lang="fr-CA" b="0" i="1" smtClean="0">
                              <a:latin typeface="Cambria Math" panose="02040503050406030204" pitchFamily="18" charset="0"/>
                            </a:rPr>
                          </m:ctrlPr>
                        </m:acc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𝑝</m:t>
                              </m:r>
                            </m:e>
                            <m:sub>
                              <m:r>
                                <a:rPr lang="fr-CA" b="0" i="1" smtClean="0">
                                  <a:latin typeface="Cambria Math" panose="02040503050406030204" pitchFamily="18" charset="0"/>
                                </a:rPr>
                                <m:t>2</m:t>
                              </m:r>
                            </m:sub>
                          </m:sSub>
                        </m:e>
                      </m:acc>
                      <m:r>
                        <a:rPr lang="fr-CA" b="0" i="1" smtClean="0">
                          <a:latin typeface="Cambria Math" panose="02040503050406030204" pitchFamily="18" charset="0"/>
                        </a:rPr>
                        <m:t>=</m:t>
                      </m:r>
                      <m:f>
                        <m:fPr>
                          <m:ctrlPr>
                            <a:rPr lang="fr-CA" b="0" i="1" smtClean="0">
                              <a:latin typeface="Cambria Math" panose="02040503050406030204" pitchFamily="18" charset="0"/>
                            </a:rPr>
                          </m:ctrlPr>
                        </m:fPr>
                        <m:num>
                          <m:sSub>
                            <m:sSubPr>
                              <m:ctrlPr>
                                <a:rPr lang="fr-CA" b="0" i="1" smtClean="0">
                                  <a:latin typeface="Cambria Math" panose="02040503050406030204" pitchFamily="18" charset="0"/>
                                </a:rPr>
                              </m:ctrlPr>
                            </m:sSubPr>
                            <m:e>
                              <m:r>
                                <a:rPr lang="fr-CA" b="0" i="1" smtClean="0">
                                  <a:latin typeface="Cambria Math" panose="02040503050406030204" pitchFamily="18" charset="0"/>
                                </a:rPr>
                                <m:t>𝑥</m:t>
                              </m:r>
                            </m:e>
                            <m:sub>
                              <m:r>
                                <a:rPr lang="fr-CA" b="0" i="1" smtClean="0">
                                  <a:latin typeface="Cambria Math" panose="02040503050406030204" pitchFamily="18" charset="0"/>
                                </a:rPr>
                                <m:t>2</m:t>
                              </m:r>
                            </m:sub>
                          </m:sSub>
                        </m:num>
                        <m:den>
                          <m:sSub>
                            <m:sSubPr>
                              <m:ctrlPr>
                                <a:rPr lang="fr-CA" b="0"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2</m:t>
                              </m:r>
                            </m:sub>
                          </m:sSub>
                        </m:den>
                      </m:f>
                      <m:r>
                        <a:rPr lang="fr-CA" b="0" i="1" smtClean="0">
                          <a:latin typeface="Cambria Math" panose="02040503050406030204" pitchFamily="18" charset="0"/>
                        </a:rPr>
                        <m:t>=0,19        </m:t>
                      </m:r>
                      <m:r>
                        <a:rPr lang="fr-CA" b="0" i="1" smtClean="0">
                          <a:latin typeface="Cambria Math" panose="02040503050406030204" pitchFamily="18" charset="0"/>
                        </a:rPr>
                        <m:t>𝑒𝑡</m:t>
                      </m:r>
                      <m:r>
                        <a:rPr lang="fr-CA" b="0" i="1" smtClean="0">
                          <a:latin typeface="Cambria Math" panose="02040503050406030204" pitchFamily="18" charset="0"/>
                        </a:rPr>
                        <m:t>      </m:t>
                      </m:r>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𝑝</m:t>
                          </m:r>
                        </m:e>
                      </m:acc>
                      <m:r>
                        <a:rPr lang="fr-CA" b="0" i="1" smtClean="0">
                          <a:latin typeface="Cambria Math" panose="02040503050406030204" pitchFamily="18" charset="0"/>
                        </a:rPr>
                        <m:t>=</m:t>
                      </m:r>
                      <m:f>
                        <m:fPr>
                          <m:ctrlPr>
                            <a:rPr lang="fr-CA" b="0" i="1" smtClean="0">
                              <a:latin typeface="Cambria Math" panose="02040503050406030204" pitchFamily="18" charset="0"/>
                            </a:rPr>
                          </m:ctrlPr>
                        </m:fPr>
                        <m:num>
                          <m:sSub>
                            <m:sSubPr>
                              <m:ctrlPr>
                                <a:rPr lang="fr-CA" b="0" i="1" smtClean="0">
                                  <a:latin typeface="Cambria Math" panose="02040503050406030204" pitchFamily="18" charset="0"/>
                                </a:rPr>
                              </m:ctrlPr>
                            </m:sSubPr>
                            <m:e>
                              <m:r>
                                <a:rPr lang="fr-CA" b="0" i="1" smtClean="0">
                                  <a:latin typeface="Cambria Math" panose="02040503050406030204" pitchFamily="18" charset="0"/>
                                </a:rPr>
                                <m:t>𝑥</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𝑥</m:t>
                              </m:r>
                            </m:e>
                            <m:sub>
                              <m:r>
                                <a:rPr lang="fr-CA" b="0" i="1" smtClean="0">
                                  <a:latin typeface="Cambria Math" panose="02040503050406030204" pitchFamily="18" charset="0"/>
                                </a:rPr>
                                <m:t>2</m:t>
                              </m:r>
                            </m:sub>
                          </m:sSub>
                        </m:num>
                        <m:den>
                          <m:sSub>
                            <m:sSubPr>
                              <m:ctrlPr>
                                <a:rPr lang="fr-CA" b="0"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2</m:t>
                              </m:r>
                            </m:sub>
                          </m:sSub>
                        </m:den>
                      </m:f>
                      <m:r>
                        <a:rPr lang="fr-CA" b="0" i="1" smtClean="0">
                          <a:latin typeface="Cambria Math" panose="02040503050406030204" pitchFamily="18" charset="0"/>
                        </a:rPr>
                        <m:t>=0,23</m:t>
                      </m:r>
                    </m:oMath>
                  </m:oMathPara>
                </a14:m>
                <a:endParaRPr lang="fr-CA" dirty="0"/>
              </a:p>
              <a:p>
                <a:r>
                  <a:rPr lang="fr-CA" dirty="0"/>
                  <a:t>Donc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𝑧</m:t>
                        </m:r>
                      </m:e>
                      <m:sub>
                        <m:r>
                          <a:rPr lang="fr-CA" b="0" i="1" smtClean="0">
                            <a:latin typeface="Cambria Math" panose="02040503050406030204" pitchFamily="18" charset="0"/>
                          </a:rPr>
                          <m:t>0</m:t>
                        </m:r>
                      </m:sub>
                    </m:sSub>
                    <m:r>
                      <a:rPr lang="fr-CA" b="0" i="1" smtClean="0">
                        <a:latin typeface="Cambria Math" panose="02040503050406030204" pitchFamily="18" charset="0"/>
                      </a:rPr>
                      <m:t>=</m:t>
                    </m:r>
                    <m:f>
                      <m:fPr>
                        <m:ctrlPr>
                          <a:rPr lang="fr-CA" b="0" i="1" smtClean="0">
                            <a:latin typeface="Cambria Math" panose="02040503050406030204" pitchFamily="18" charset="0"/>
                          </a:rPr>
                        </m:ctrlPr>
                      </m:fPr>
                      <m:num>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1</m:t>
                                </m:r>
                              </m:sub>
                            </m:sSub>
                          </m:e>
                        </m:acc>
                        <m:r>
                          <a:rPr lang="fr-CA" i="1">
                            <a:latin typeface="Cambria Math" panose="02040503050406030204" pitchFamily="18" charset="0"/>
                          </a:rPr>
                          <m:t>−</m:t>
                        </m:r>
                        <m:acc>
                          <m:accPr>
                            <m:chr m:val="̂"/>
                            <m:ctrlPr>
                              <a:rPr lang="fr-CA" i="1">
                                <a:latin typeface="Cambria Math" panose="02040503050406030204" pitchFamily="18" charset="0"/>
                              </a:rPr>
                            </m:ctrlPr>
                          </m:accPr>
                          <m:e>
                            <m:sSub>
                              <m:sSubPr>
                                <m:ctrlPr>
                                  <a:rPr lang="fr-CA" i="1">
                                    <a:latin typeface="Cambria Math" panose="02040503050406030204" pitchFamily="18" charset="0"/>
                                  </a:rPr>
                                </m:ctrlPr>
                              </m:sSubPr>
                              <m:e>
                                <m:r>
                                  <a:rPr lang="fr-CA" i="1">
                                    <a:latin typeface="Cambria Math" panose="02040503050406030204" pitchFamily="18" charset="0"/>
                                  </a:rPr>
                                  <m:t>𝑝</m:t>
                                </m:r>
                              </m:e>
                              <m:sub>
                                <m:r>
                                  <a:rPr lang="fr-CA" i="1">
                                    <a:latin typeface="Cambria Math" panose="02040503050406030204" pitchFamily="18" charset="0"/>
                                  </a:rPr>
                                  <m:t>2</m:t>
                                </m:r>
                              </m:sub>
                            </m:sSub>
                            <m:r>
                              <a:rPr lang="fr-CA" i="1">
                                <a:latin typeface="Cambria Math" panose="02040503050406030204" pitchFamily="18" charset="0"/>
                              </a:rPr>
                              <m:t>    </m:t>
                            </m:r>
                          </m:e>
                        </m:acc>
                      </m:num>
                      <m:den>
                        <m:rad>
                          <m:radPr>
                            <m:degHide m:val="on"/>
                            <m:ctrlPr>
                              <a:rPr lang="fr-CA" i="1">
                                <a:latin typeface="Cambria Math" panose="02040503050406030204" pitchFamily="18" charset="0"/>
                              </a:rPr>
                            </m:ctrlPr>
                          </m:radPr>
                          <m:deg/>
                          <m:e>
                            <m:acc>
                              <m:accPr>
                                <m:chr m:val="̂"/>
                                <m:ctrlPr>
                                  <a:rPr lang="fr-CA" i="1">
                                    <a:latin typeface="Cambria Math" panose="02040503050406030204" pitchFamily="18" charset="0"/>
                                  </a:rPr>
                                </m:ctrlPr>
                              </m:accPr>
                              <m:e>
                                <m:r>
                                  <a:rPr lang="fr-CA" i="1">
                                    <a:latin typeface="Cambria Math" panose="02040503050406030204" pitchFamily="18" charset="0"/>
                                  </a:rPr>
                                  <m:t>𝑝</m:t>
                                </m:r>
                              </m:e>
                            </m:acc>
                            <m:r>
                              <a:rPr lang="fr-CA" i="1">
                                <a:latin typeface="Cambria Math" panose="02040503050406030204" pitchFamily="18" charset="0"/>
                              </a:rPr>
                              <m:t>∗</m:t>
                            </m:r>
                            <m:acc>
                              <m:accPr>
                                <m:chr m:val="̂"/>
                                <m:ctrlPr>
                                  <a:rPr lang="fr-CA" i="1">
                                    <a:latin typeface="Cambria Math" panose="02040503050406030204" pitchFamily="18" charset="0"/>
                                  </a:rPr>
                                </m:ctrlPr>
                              </m:accPr>
                              <m:e>
                                <m:r>
                                  <a:rPr lang="fr-CA" i="1">
                                    <a:latin typeface="Cambria Math" panose="02040503050406030204" pitchFamily="18" charset="0"/>
                                  </a:rPr>
                                  <m:t>𝑞</m:t>
                                </m:r>
                              </m:e>
                            </m:acc>
                            <m:d>
                              <m:dPr>
                                <m:ctrlPr>
                                  <a:rPr lang="fr-CA" i="1">
                                    <a:latin typeface="Cambria Math" panose="02040503050406030204" pitchFamily="18" charset="0"/>
                                  </a:rPr>
                                </m:ctrlPr>
                              </m:dPr>
                              <m:e>
                                <m:f>
                                  <m:fPr>
                                    <m:ctrlPr>
                                      <a:rPr lang="fr-CA" i="1">
                                        <a:latin typeface="Cambria Math" panose="02040503050406030204" pitchFamily="18" charset="0"/>
                                      </a:rPr>
                                    </m:ctrlPr>
                                  </m:fPr>
                                  <m:num>
                                    <m:r>
                                      <a:rPr lang="fr-CA" i="1">
                                        <a:latin typeface="Cambria Math" panose="02040503050406030204" pitchFamily="18" charset="0"/>
                                      </a:rPr>
                                      <m:t>1</m:t>
                                    </m:r>
                                  </m:num>
                                  <m:den>
                                    <m:sSub>
                                      <m:sSubPr>
                                        <m:ctrlPr>
                                          <a:rPr lang="fr-CA"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1</m:t>
                                        </m:r>
                                      </m:sub>
                                    </m:sSub>
                                  </m:den>
                                </m:f>
                                <m:r>
                                  <a:rPr lang="fr-CA" i="1">
                                    <a:latin typeface="Cambria Math" panose="02040503050406030204" pitchFamily="18" charset="0"/>
                                  </a:rPr>
                                  <m:t>+</m:t>
                                </m:r>
                                <m:f>
                                  <m:fPr>
                                    <m:ctrlPr>
                                      <a:rPr lang="fr-CA" i="1">
                                        <a:latin typeface="Cambria Math" panose="02040503050406030204" pitchFamily="18" charset="0"/>
                                      </a:rPr>
                                    </m:ctrlPr>
                                  </m:fPr>
                                  <m:num>
                                    <m:r>
                                      <a:rPr lang="fr-CA" i="1">
                                        <a:latin typeface="Cambria Math" panose="02040503050406030204" pitchFamily="18" charset="0"/>
                                      </a:rPr>
                                      <m:t>1</m:t>
                                    </m:r>
                                  </m:num>
                                  <m:den>
                                    <m:sSub>
                                      <m:sSubPr>
                                        <m:ctrlPr>
                                          <a:rPr lang="fr-CA" i="1" smtClean="0">
                                            <a:latin typeface="Cambria Math" panose="02040503050406030204" pitchFamily="18" charset="0"/>
                                          </a:rPr>
                                        </m:ctrlPr>
                                      </m:sSubPr>
                                      <m:e>
                                        <m:r>
                                          <a:rPr lang="fr-CA" b="0" i="1" smtClean="0">
                                            <a:latin typeface="Cambria Math" panose="02040503050406030204" pitchFamily="18" charset="0"/>
                                          </a:rPr>
                                          <m:t>𝑛</m:t>
                                        </m:r>
                                      </m:e>
                                      <m:sub>
                                        <m:r>
                                          <a:rPr lang="fr-CA" b="0" i="1" smtClean="0">
                                            <a:latin typeface="Cambria Math" panose="02040503050406030204" pitchFamily="18" charset="0"/>
                                          </a:rPr>
                                          <m:t>2</m:t>
                                        </m:r>
                                      </m:sub>
                                    </m:sSub>
                                  </m:den>
                                </m:f>
                              </m:e>
                            </m:d>
                          </m:e>
                        </m:rad>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0,27−0,19</m:t>
                        </m:r>
                      </m:num>
                      <m:den>
                        <m:rad>
                          <m:radPr>
                            <m:degHide m:val="on"/>
                            <m:ctrlPr>
                              <a:rPr lang="fr-CA" b="0" i="1" smtClean="0">
                                <a:latin typeface="Cambria Math" panose="02040503050406030204" pitchFamily="18" charset="0"/>
                              </a:rPr>
                            </m:ctrlPr>
                          </m:radPr>
                          <m:deg/>
                          <m:e>
                            <m:r>
                              <a:rPr lang="fr-CA" b="0" i="1" smtClean="0">
                                <a:latin typeface="Cambria Math" panose="02040503050406030204" pitchFamily="18" charset="0"/>
                              </a:rPr>
                              <m:t>0,23∗0,77∗(</m:t>
                            </m:r>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100</m:t>
                                </m:r>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100</m:t>
                                </m:r>
                              </m:den>
                            </m:f>
                            <m:r>
                              <a:rPr lang="fr-CA" b="0" i="1" smtClean="0">
                                <a:latin typeface="Cambria Math" panose="02040503050406030204" pitchFamily="18" charset="0"/>
                              </a:rPr>
                              <m:t>)</m:t>
                            </m:r>
                          </m:e>
                        </m:rad>
                      </m:den>
                    </m:f>
                    <m:r>
                      <a:rPr lang="fr-CA" b="0" i="1" smtClean="0">
                        <a:latin typeface="Cambria Math" panose="02040503050406030204" pitchFamily="18" charset="0"/>
                      </a:rPr>
                      <m:t>=1,344</m:t>
                    </m:r>
                  </m:oMath>
                </a14:m>
                <a:endParaRPr lang="fr-CA" dirty="0"/>
              </a:p>
            </p:txBody>
          </p:sp>
        </mc:Choice>
        <mc:Fallback xmlns="">
          <p:sp>
            <p:nvSpPr>
              <p:cNvPr id="5" name="ZoneTexte 4">
                <a:extLst>
                  <a:ext uri="{FF2B5EF4-FFF2-40B4-BE49-F238E27FC236}">
                    <a16:creationId xmlns:a16="http://schemas.microsoft.com/office/drawing/2014/main" id="{ECA71D69-14E2-4C5A-BD66-F11D9DDE33BF}"/>
                  </a:ext>
                </a:extLst>
              </p:cNvPr>
              <p:cNvSpPr txBox="1">
                <a:spLocks noRot="1" noChangeAspect="1" noMove="1" noResize="1" noEditPoints="1" noAdjustHandles="1" noChangeArrowheads="1" noChangeShapeType="1" noTextEdit="1"/>
              </p:cNvSpPr>
              <p:nvPr/>
            </p:nvSpPr>
            <p:spPr>
              <a:xfrm>
                <a:off x="838200" y="3899647"/>
                <a:ext cx="9986682" cy="2107244"/>
              </a:xfrm>
              <a:prstGeom prst="rect">
                <a:avLst/>
              </a:prstGeom>
              <a:blipFill>
                <a:blip r:embed="rId2"/>
                <a:stretch>
                  <a:fillRect l="-549" t="-1739"/>
                </a:stretch>
              </a:blipFill>
            </p:spPr>
            <p:txBody>
              <a:bodyPr/>
              <a:lstStyle/>
              <a:p>
                <a:r>
                  <a:rPr lang="fr-CA">
                    <a:noFill/>
                  </a:rPr>
                  <a:t> </a:t>
                </a:r>
              </a:p>
            </p:txBody>
          </p:sp>
        </mc:Fallback>
      </mc:AlternateContent>
    </p:spTree>
    <p:extLst>
      <p:ext uri="{BB962C8B-B14F-4D97-AF65-F5344CB8AC3E}">
        <p14:creationId xmlns:p14="http://schemas.microsoft.com/office/powerpoint/2010/main" val="356649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502ABA-BB69-424C-9B77-CE91FC976418}"/>
              </a:ext>
            </a:extLst>
          </p:cNvPr>
          <p:cNvSpPr>
            <a:spLocks noGrp="1"/>
          </p:cNvSpPr>
          <p:nvPr>
            <p:ph type="title"/>
          </p:nvPr>
        </p:nvSpPr>
        <p:spPr/>
        <p:txBody>
          <a:bodyPr/>
          <a:lstStyle/>
          <a:p>
            <a:r>
              <a:rPr lang="fr-CA" b="1" dirty="0"/>
              <a:t>Méthode 1</a:t>
            </a:r>
            <a:r>
              <a:rPr lang="fr-CA" dirty="0"/>
              <a:t>: Puisqu’il s’git d’un test unilatéral à droite:</a:t>
            </a:r>
          </a:p>
        </p:txBody>
      </p:sp>
      <p:sp>
        <p:nvSpPr>
          <p:cNvPr id="3" name="Espace réservé du pied de page 2">
            <a:extLst>
              <a:ext uri="{FF2B5EF4-FFF2-40B4-BE49-F238E27FC236}">
                <a16:creationId xmlns:a16="http://schemas.microsoft.com/office/drawing/2014/main" id="{C6926AC0-8B2F-425D-B0C8-6688603E6B26}"/>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7A3A490D-7E59-480C-9F7F-0CB02A3A2F33}"/>
              </a:ext>
            </a:extLst>
          </p:cNvPr>
          <p:cNvSpPr>
            <a:spLocks noGrp="1"/>
          </p:cNvSpPr>
          <p:nvPr>
            <p:ph type="sldNum" sz="quarter" idx="12"/>
          </p:nvPr>
        </p:nvSpPr>
        <p:spPr/>
        <p:txBody>
          <a:bodyPr/>
          <a:lstStyle/>
          <a:p>
            <a:fld id="{26377AD9-CE17-438C-A638-C64D2D42D7CF}" type="slidenum">
              <a:rPr lang="fr-CA" smtClean="0"/>
              <a:t>13</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58C02395-E2EF-495F-9EA9-42B4825D2CB8}"/>
                  </a:ext>
                </a:extLst>
              </p:cNvPr>
              <p:cNvSpPr txBox="1"/>
              <p:nvPr/>
            </p:nvSpPr>
            <p:spPr>
              <a:xfrm>
                <a:off x="1035424" y="2205318"/>
                <a:ext cx="9991164" cy="2043508"/>
              </a:xfrm>
              <a:prstGeom prst="rect">
                <a:avLst/>
              </a:prstGeom>
              <a:noFill/>
            </p:spPr>
            <p:txBody>
              <a:bodyPr wrap="square" rtlCol="0">
                <a:spAutoFit/>
              </a:bodyPr>
              <a:lstStyle/>
              <a:p>
                <a:r>
                  <a:rPr lang="fr-CA" dirty="0"/>
                  <a:t>On doit rejeter l’hypothèse nulle lorsque la valeur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𝑧</m:t>
                        </m:r>
                      </m:e>
                      <m:sub>
                        <m:r>
                          <a:rPr lang="fr-CA" b="0" i="1" smtClean="0">
                            <a:latin typeface="Cambria Math" panose="02040503050406030204" pitchFamily="18" charset="0"/>
                          </a:rPr>
                          <m:t>0   </m:t>
                        </m:r>
                      </m:sub>
                    </m:sSub>
                    <m:r>
                      <a:rPr lang="fr-CA" b="0" i="1" smtClean="0">
                        <a:latin typeface="Cambria Math" panose="02040503050406030204" pitchFamily="18" charset="0"/>
                      </a:rPr>
                      <m:t> </m:t>
                    </m:r>
                    <m:r>
                      <a:rPr lang="fr-CA" b="0" i="1" smtClean="0">
                        <a:latin typeface="Cambria Math" panose="02040503050406030204" pitchFamily="18" charset="0"/>
                      </a:rPr>
                      <m:t>𝑑</m:t>
                    </m:r>
                    <m:r>
                      <a:rPr lang="fr-CA" b="0" i="1" smtClean="0">
                        <a:latin typeface="Cambria Math" panose="02040503050406030204" pitchFamily="18" charset="0"/>
                      </a:rPr>
                      <m:t>é</m:t>
                    </m:r>
                    <m:r>
                      <a:rPr lang="fr-CA" b="0" i="1" smtClean="0">
                        <a:latin typeface="Cambria Math" panose="02040503050406030204" pitchFamily="18" charset="0"/>
                      </a:rPr>
                      <m:t>𝑝𝑎𝑠𝑠𝑒</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𝑧</m:t>
                        </m:r>
                      </m:e>
                      <m:sub>
                        <m:r>
                          <a:rPr lang="fr-CA" b="0" i="1" smtClean="0">
                            <a:latin typeface="Cambria Math" panose="02040503050406030204" pitchFamily="18" charset="0"/>
                          </a:rPr>
                          <m:t>0,05</m:t>
                        </m:r>
                      </m:sub>
                    </m:sSub>
                    <m:r>
                      <a:rPr lang="fr-CA" b="0" i="1" smtClean="0">
                        <a:latin typeface="Cambria Math" panose="02040503050406030204" pitchFamily="18" charset="0"/>
                      </a:rPr>
                      <m:t>=1,645 </m:t>
                    </m:r>
                  </m:oMath>
                </a14:m>
                <a:endParaRPr lang="fr-CA" b="0" dirty="0"/>
              </a:p>
              <a:p>
                <a:endParaRPr lang="fr-CA" dirty="0"/>
              </a:p>
              <a:p>
                <a:endParaRPr lang="fr-CA" dirty="0"/>
              </a:p>
              <a:p>
                <a:r>
                  <a:rPr lang="fr-CA" dirty="0"/>
                  <a:t>Ce qui n’est pas le cas ici, donc on ne rejette pas l’hypothèse nulle.</a:t>
                </a:r>
              </a:p>
              <a:p>
                <a:endParaRPr lang="fr-CA" dirty="0"/>
              </a:p>
              <a:p>
                <a:r>
                  <a:rPr lang="fr-CA" b="1" dirty="0"/>
                  <a:t>CONCLUSION</a:t>
                </a:r>
                <a:r>
                  <a:rPr lang="fr-CA" dirty="0"/>
                  <a:t>: Les données n’ont pas prouvé que le nouveau médicament est significativement meilleur que le placébo.</a:t>
                </a:r>
              </a:p>
            </p:txBody>
          </p:sp>
        </mc:Choice>
        <mc:Fallback xmlns="">
          <p:sp>
            <p:nvSpPr>
              <p:cNvPr id="5" name="ZoneTexte 4">
                <a:extLst>
                  <a:ext uri="{FF2B5EF4-FFF2-40B4-BE49-F238E27FC236}">
                    <a16:creationId xmlns:a16="http://schemas.microsoft.com/office/drawing/2014/main" id="{58C02395-E2EF-495F-9EA9-42B4825D2CB8}"/>
                  </a:ext>
                </a:extLst>
              </p:cNvPr>
              <p:cNvSpPr txBox="1">
                <a:spLocks noRot="1" noChangeAspect="1" noMove="1" noResize="1" noEditPoints="1" noAdjustHandles="1" noChangeArrowheads="1" noChangeShapeType="1" noTextEdit="1"/>
              </p:cNvSpPr>
              <p:nvPr/>
            </p:nvSpPr>
            <p:spPr>
              <a:xfrm>
                <a:off x="1035424" y="2205318"/>
                <a:ext cx="9991164" cy="2043508"/>
              </a:xfrm>
              <a:prstGeom prst="rect">
                <a:avLst/>
              </a:prstGeom>
              <a:blipFill>
                <a:blip r:embed="rId2"/>
                <a:stretch>
                  <a:fillRect l="-549" t="-1493" b="-3881"/>
                </a:stretch>
              </a:blipFill>
            </p:spPr>
            <p:txBody>
              <a:bodyPr/>
              <a:lstStyle/>
              <a:p>
                <a:r>
                  <a:rPr lang="fr-CA">
                    <a:noFill/>
                  </a:rPr>
                  <a:t> </a:t>
                </a:r>
              </a:p>
            </p:txBody>
          </p:sp>
        </mc:Fallback>
      </mc:AlternateContent>
    </p:spTree>
    <p:extLst>
      <p:ext uri="{BB962C8B-B14F-4D97-AF65-F5344CB8AC3E}">
        <p14:creationId xmlns:p14="http://schemas.microsoft.com/office/powerpoint/2010/main" val="2562774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3C2574B-C0D5-49DC-B0D0-60B32D2EF9AF}"/>
              </a:ext>
            </a:extLst>
          </p:cNvPr>
          <p:cNvSpPr>
            <a:spLocks noGrp="1"/>
          </p:cNvSpPr>
          <p:nvPr>
            <p:ph type="title"/>
          </p:nvPr>
        </p:nvSpPr>
        <p:spPr/>
        <p:txBody>
          <a:bodyPr/>
          <a:lstStyle/>
          <a:p>
            <a:r>
              <a:rPr lang="fr-CA" dirty="0"/>
              <a:t>Méthode 2: L’usage de la valeur-P </a:t>
            </a:r>
          </a:p>
        </p:txBody>
      </p:sp>
      <p:sp>
        <p:nvSpPr>
          <p:cNvPr id="3" name="Espace réservé du pied de page 2">
            <a:extLst>
              <a:ext uri="{FF2B5EF4-FFF2-40B4-BE49-F238E27FC236}">
                <a16:creationId xmlns:a16="http://schemas.microsoft.com/office/drawing/2014/main" id="{DF7E1526-EECD-420C-938C-F3F967BCBCCD}"/>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E76BC54D-056C-4D1E-ADE9-BA7FE4864C6D}"/>
              </a:ext>
            </a:extLst>
          </p:cNvPr>
          <p:cNvSpPr>
            <a:spLocks noGrp="1"/>
          </p:cNvSpPr>
          <p:nvPr>
            <p:ph type="sldNum" sz="quarter" idx="12"/>
          </p:nvPr>
        </p:nvSpPr>
        <p:spPr/>
        <p:txBody>
          <a:bodyPr/>
          <a:lstStyle/>
          <a:p>
            <a:fld id="{26377AD9-CE17-438C-A638-C64D2D42D7CF}" type="slidenum">
              <a:rPr lang="fr-CA" smtClean="0"/>
              <a:t>14</a:t>
            </a:fld>
            <a:endParaRPr lang="fr-CA"/>
          </a:p>
        </p:txBody>
      </p:sp>
      <p:sp>
        <p:nvSpPr>
          <p:cNvPr id="5" name="ZoneTexte 4">
            <a:extLst>
              <a:ext uri="{FF2B5EF4-FFF2-40B4-BE49-F238E27FC236}">
                <a16:creationId xmlns:a16="http://schemas.microsoft.com/office/drawing/2014/main" id="{835BDA9B-6272-4249-930B-94E3753F0503}"/>
              </a:ext>
            </a:extLst>
          </p:cNvPr>
          <p:cNvSpPr txBox="1"/>
          <p:nvPr/>
        </p:nvSpPr>
        <p:spPr>
          <a:xfrm>
            <a:off x="954741" y="1896035"/>
            <a:ext cx="9708777" cy="3139321"/>
          </a:xfrm>
          <a:prstGeom prst="rect">
            <a:avLst/>
          </a:prstGeom>
          <a:noFill/>
        </p:spPr>
        <p:txBody>
          <a:bodyPr wrap="square" rtlCol="0">
            <a:spAutoFit/>
          </a:bodyPr>
          <a:lstStyle/>
          <a:p>
            <a:r>
              <a:rPr lang="fr-CA" dirty="0"/>
              <a:t>Qu’on peut calculer exactement avec R, en tapant:</a:t>
            </a:r>
          </a:p>
          <a:p>
            <a:endParaRPr lang="fr-CA" dirty="0"/>
          </a:p>
          <a:p>
            <a:r>
              <a:rPr lang="fr-CA" dirty="0"/>
              <a:t>1-pnorm(1.344,0,1)  ce qui donne: 0.08947419</a:t>
            </a:r>
          </a:p>
          <a:p>
            <a:endParaRPr lang="fr-CA" dirty="0"/>
          </a:p>
          <a:p>
            <a:endParaRPr lang="fr-CA" dirty="0"/>
          </a:p>
          <a:p>
            <a:r>
              <a:rPr lang="fr-CA" dirty="0"/>
              <a:t>Cette valeur-P dépasse alpha de 5%, donc on ne rejette pas l’hypothèse et on conclut pareillement.</a:t>
            </a:r>
          </a:p>
          <a:p>
            <a:endParaRPr lang="fr-CA" dirty="0"/>
          </a:p>
          <a:p>
            <a:endParaRPr lang="fr-CA" dirty="0"/>
          </a:p>
          <a:p>
            <a:r>
              <a:rPr lang="fr-CA" b="1" dirty="0"/>
              <a:t>CONCLUSION</a:t>
            </a:r>
            <a:r>
              <a:rPr lang="fr-CA" dirty="0"/>
              <a:t>: Les données n’ont pas prouvé que le nouveau médicament est significativement meilleur que le placébo.</a:t>
            </a:r>
          </a:p>
          <a:p>
            <a:endParaRPr lang="fr-CA" dirty="0"/>
          </a:p>
        </p:txBody>
      </p:sp>
    </p:spTree>
    <p:extLst>
      <p:ext uri="{BB962C8B-B14F-4D97-AF65-F5344CB8AC3E}">
        <p14:creationId xmlns:p14="http://schemas.microsoft.com/office/powerpoint/2010/main" val="23506417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C53742-BEC2-4374-9496-83A1C0A979BC}"/>
              </a:ext>
            </a:extLst>
          </p:cNvPr>
          <p:cNvSpPr>
            <a:spLocks noGrp="1"/>
          </p:cNvSpPr>
          <p:nvPr>
            <p:ph type="title"/>
          </p:nvPr>
        </p:nvSpPr>
        <p:spPr/>
        <p:txBody>
          <a:bodyPr/>
          <a:lstStyle/>
          <a:p>
            <a:r>
              <a:rPr lang="fr-CA" b="1" dirty="0"/>
              <a:t>Méthode 3: </a:t>
            </a:r>
            <a:r>
              <a:rPr lang="fr-CA" dirty="0"/>
              <a:t>L’utilisation du logiciel R.</a:t>
            </a:r>
          </a:p>
        </p:txBody>
      </p:sp>
      <p:sp>
        <p:nvSpPr>
          <p:cNvPr id="3" name="Espace réservé du pied de page 2">
            <a:extLst>
              <a:ext uri="{FF2B5EF4-FFF2-40B4-BE49-F238E27FC236}">
                <a16:creationId xmlns:a16="http://schemas.microsoft.com/office/drawing/2014/main" id="{3BDA6F06-5E8A-451D-9D56-B7EFF93C7799}"/>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ECC43283-5389-446A-99D3-F1A77CA24A72}"/>
              </a:ext>
            </a:extLst>
          </p:cNvPr>
          <p:cNvSpPr>
            <a:spLocks noGrp="1"/>
          </p:cNvSpPr>
          <p:nvPr>
            <p:ph type="sldNum" sz="quarter" idx="12"/>
          </p:nvPr>
        </p:nvSpPr>
        <p:spPr/>
        <p:txBody>
          <a:bodyPr/>
          <a:lstStyle/>
          <a:p>
            <a:fld id="{26377AD9-CE17-438C-A638-C64D2D42D7CF}" type="slidenum">
              <a:rPr lang="fr-CA" smtClean="0"/>
              <a:t>15</a:t>
            </a:fld>
            <a:endParaRPr lang="fr-CA"/>
          </a:p>
        </p:txBody>
      </p:sp>
      <p:sp>
        <p:nvSpPr>
          <p:cNvPr id="5" name="ZoneTexte 4">
            <a:extLst>
              <a:ext uri="{FF2B5EF4-FFF2-40B4-BE49-F238E27FC236}">
                <a16:creationId xmlns:a16="http://schemas.microsoft.com/office/drawing/2014/main" id="{5D9B23B5-9490-44DA-A340-5AA5BFEEFC6F}"/>
              </a:ext>
            </a:extLst>
          </p:cNvPr>
          <p:cNvSpPr txBox="1"/>
          <p:nvPr/>
        </p:nvSpPr>
        <p:spPr>
          <a:xfrm>
            <a:off x="968188" y="1855694"/>
            <a:ext cx="9964271" cy="4524315"/>
          </a:xfrm>
          <a:prstGeom prst="rect">
            <a:avLst/>
          </a:prstGeom>
          <a:noFill/>
        </p:spPr>
        <p:txBody>
          <a:bodyPr wrap="square" rtlCol="0">
            <a:spAutoFit/>
          </a:bodyPr>
          <a:lstStyle/>
          <a:p>
            <a:r>
              <a:rPr lang="fr-CA" dirty="0"/>
              <a:t>On doit taper:</a:t>
            </a:r>
          </a:p>
          <a:p>
            <a:r>
              <a:rPr lang="en-US" dirty="0"/>
              <a:t> </a:t>
            </a:r>
            <a:r>
              <a:rPr lang="en-US" dirty="0" err="1"/>
              <a:t>prop.test</a:t>
            </a:r>
            <a:r>
              <a:rPr lang="en-US" dirty="0"/>
              <a:t>(x=c(27,19),n=c(100,100),alternative="</a:t>
            </a:r>
            <a:r>
              <a:rPr lang="en-US" dirty="0" err="1"/>
              <a:t>greater",correct</a:t>
            </a:r>
            <a:r>
              <a:rPr lang="en-US" dirty="0"/>
              <a:t>=F)</a:t>
            </a:r>
            <a:endParaRPr lang="fr-CA" dirty="0"/>
          </a:p>
          <a:p>
            <a:endParaRPr lang="fr-CA" dirty="0"/>
          </a:p>
          <a:p>
            <a:r>
              <a:rPr lang="fr-CA" dirty="0"/>
              <a:t>On obtient:</a:t>
            </a:r>
          </a:p>
          <a:p>
            <a:endParaRPr lang="fr-CA" dirty="0"/>
          </a:p>
          <a:p>
            <a:r>
              <a:rPr lang="en-US" dirty="0"/>
              <a:t>X-squared = 1.8069, df = 1, p-value = 0.08944</a:t>
            </a:r>
          </a:p>
          <a:p>
            <a:r>
              <a:rPr lang="en-US" dirty="0"/>
              <a:t>alternative hypothesis: greater</a:t>
            </a:r>
          </a:p>
          <a:p>
            <a:r>
              <a:rPr lang="en-US" dirty="0"/>
              <a:t>95 percent confidence interval:</a:t>
            </a:r>
          </a:p>
          <a:p>
            <a:r>
              <a:rPr lang="en-US" dirty="0"/>
              <a:t> -0.01744977  1.00000000</a:t>
            </a:r>
          </a:p>
          <a:p>
            <a:r>
              <a:rPr lang="en-US" dirty="0"/>
              <a:t>sample estimates:</a:t>
            </a:r>
          </a:p>
          <a:p>
            <a:r>
              <a:rPr lang="en-US" dirty="0"/>
              <a:t>prop 1 prop 2 </a:t>
            </a:r>
          </a:p>
          <a:p>
            <a:r>
              <a:rPr lang="en-US" dirty="0"/>
              <a:t>  0.27   0.19 </a:t>
            </a:r>
            <a:endParaRPr lang="fr-CA" dirty="0"/>
          </a:p>
          <a:p>
            <a:endParaRPr lang="fr-CA" dirty="0"/>
          </a:p>
          <a:p>
            <a:r>
              <a:rPr lang="fr-CA" dirty="0"/>
              <a:t>Le logiciel R donne aussi un intervalle de confiance, cet intervalle de confiance contient zéro, c’est une autre façon de ne pas rejeter l’hypothèse nulle.</a:t>
            </a:r>
          </a:p>
          <a:p>
            <a:r>
              <a:rPr lang="fr-CA" b="1" dirty="0"/>
              <a:t>IMPORTANT: CONCLURE PAR UNE PHRASE .</a:t>
            </a:r>
          </a:p>
        </p:txBody>
      </p:sp>
    </p:spTree>
    <p:extLst>
      <p:ext uri="{BB962C8B-B14F-4D97-AF65-F5344CB8AC3E}">
        <p14:creationId xmlns:p14="http://schemas.microsoft.com/office/powerpoint/2010/main" val="4228510816"/>
      </p:ext>
    </p:extLst>
  </p:cSld>
  <p:clrMapOvr>
    <a:masterClrMapping/>
  </p:clrMapOvr>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1482</TotalTime>
  <Words>1772</Words>
  <Application>Microsoft Office PowerPoint</Application>
  <PresentationFormat>Grand écran</PresentationFormat>
  <Paragraphs>169</Paragraphs>
  <Slides>15</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15</vt:i4>
      </vt:variant>
    </vt:vector>
  </HeadingPairs>
  <TitlesOfParts>
    <vt:vector size="21" baseType="lpstr">
      <vt:lpstr>Arial</vt:lpstr>
      <vt:lpstr>Calibri</vt:lpstr>
      <vt:lpstr>Calibri Light</vt:lpstr>
      <vt:lpstr>Cambria Math</vt:lpstr>
      <vt:lpstr>Times New Roman</vt:lpstr>
      <vt:lpstr>Office Theme</vt:lpstr>
      <vt:lpstr>Estimation d’une proportion par intervalle de confiance</vt:lpstr>
      <vt:lpstr>Exemple 1: Quelques jours avant les élections fédérales de mai 2011, un sondage a été mené auprès de 1 120 électeurs québécois ; parmi eux, 404 ont déclaré qu’ils allaient voter pour le Nouveau Parti démocratique (NPD). On doit déterminer un intervalle de confiance de niveau 95 % de la proportion des Québécois qui ont l’intention de voter pour ce parti (si la tendance se maintient). </vt:lpstr>
      <vt:lpstr>Utilisation du logiciel R</vt:lpstr>
      <vt:lpstr>Deux proportions indépendantes</vt:lpstr>
      <vt:lpstr>Présentation PowerPoint</vt:lpstr>
      <vt:lpstr>Exemple: Deux solutions ont été testées pour un usage possible dans le polissage des lentilles. Sur les 300 lentilles polies avec la solution A, 253 n’ont pas de défauts ; sur les 260 lentilles polies avec la solution B, 196 n’ont pas de défauts. Soit p1 et p2 : les proportions des lentilles sans défauts avec l’emploi respectif de la solution A ou de la solution B. a) Trouvez un intervalle de confiance de niveau 99 % pour la différence p1 − p2. b) Sur la base de cet intervalle, y a-t-il des raisons de croire qu’une solution est meilleure que l’autre ? </vt:lpstr>
      <vt:lpstr>Méthode 1: Calcul à la main.</vt:lpstr>
      <vt:lpstr>Méthode 2: L’utilisation du logiciel R.</vt:lpstr>
      <vt:lpstr>PARTIE 2:  Tests d’hypothèses.</vt:lpstr>
      <vt:lpstr>Si l’hypothèse nulle est vraie, cette variable va prendre une valeur z_0=((p_1 ) ̂-(p_2     ) ̂)/√(p ̂∗q ̂(1/n_1 +1/n_2 ) )</vt:lpstr>
      <vt:lpstr>Méthode 3: L’utilisation du logiciel R.</vt:lpstr>
      <vt:lpstr>Exemple: Un nouveau médicament a été mis au point pour soigner la dépression majeure. Dans un groupe de 100 patients qui ont été traités avec ce nouveau médicament, 27 d’entre eux ont montré des signes d’amélioration après huit semaines. Dans un autre groupe de 100 patients traités avec un placebo, seuls 19 d’entre eux ont montré des signes d’amélioration après huit semaines. Peut-on dire que le nouveau médicament est meilleur que le placebo ? Formulez les hypothèses appropriées à tester, déterminez la valeur P associée à ce test et présentez votre conclusion avec un seuil de signification de 5 %. </vt:lpstr>
      <vt:lpstr>Méthode 1: Puisqu’il s’git d’un test unilatéral à droite:</vt:lpstr>
      <vt:lpstr>Méthode 2: L’usage de la valeur-P </vt:lpstr>
      <vt:lpstr>Méthode 3: L’utilisation du logiciel 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Tests d’hypothèses sur deux moyennes indépendantes Cas 2: Les variances sont différentes.</dc:title>
  <dc:creator>Mhammed Mountassir</dc:creator>
  <cp:lastModifiedBy>Mhammed Mountassir</cp:lastModifiedBy>
  <cp:revision>21</cp:revision>
  <dcterms:created xsi:type="dcterms:W3CDTF">2020-11-16T13:10:54Z</dcterms:created>
  <dcterms:modified xsi:type="dcterms:W3CDTF">2021-11-18T11:56:04Z</dcterms:modified>
</cp:coreProperties>
</file>